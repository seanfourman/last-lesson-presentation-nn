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14" r:id="rId2"/>
    <p:sldId id="294" r:id="rId3"/>
    <p:sldId id="312" r:id="rId4"/>
    <p:sldId id="354" r:id="rId5"/>
    <p:sldId id="318" r:id="rId6"/>
    <p:sldId id="358" r:id="rId7"/>
    <p:sldId id="315" r:id="rId8"/>
    <p:sldId id="316" r:id="rId9"/>
    <p:sldId id="317" r:id="rId10"/>
    <p:sldId id="265" r:id="rId11"/>
    <p:sldId id="319" r:id="rId12"/>
    <p:sldId id="355" r:id="rId13"/>
    <p:sldId id="332" r:id="rId14"/>
    <p:sldId id="333" r:id="rId15"/>
    <p:sldId id="329" r:id="rId16"/>
    <p:sldId id="331" r:id="rId17"/>
    <p:sldId id="330" r:id="rId18"/>
    <p:sldId id="35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3B65"/>
    <a:srgbClr val="1AD5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3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FB248-2A58-4B39-AD12-D26A5D37A8D6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E69DA-B2B9-45EF-A334-D9E70ED355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415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22A34-85FA-474D-98B0-2E1B093AE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7363F1-A9AC-4BFF-9EC2-506303B61D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C48D3-F577-42D9-A0AD-6205B2785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92984-2BC3-4EAD-9B9C-34C7F3DDC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D9F9E-D339-40A7-AB13-9023E48F8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819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5A9F8-CE3A-4080-AC0C-4274FA80A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B8D37-DE9E-4294-A5FE-92A2AF34A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54F1B-BAAA-432C-91BF-AEBCB08BD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9904-EF6F-4828-9476-4C323B92D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F3841-EB6A-4070-B5E0-299E9359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950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5D31A-E701-4529-B72E-3D22C6CF9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6C7E9-13B9-4A63-90CD-46161F817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4BB43-7CD4-49D7-BA8D-56520AD854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E23ABB-EED8-446E-A622-6B4DD107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BFDB-ED99-457C-B7FB-A6F1B52EA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2135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F61C0-36B5-46B4-8923-39FB808C3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78E7E-3C48-41D9-A924-8E4203CB65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74DA01-3FAF-413F-A085-F530A9B26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E2E1BE-D150-47FC-956D-41E9D22C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92363D-AC6A-4809-A411-1C58F4016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DB6C4-9CF6-452F-AED9-F13123C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80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DAC51-3D90-4C9C-9FCC-38BBB84C3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F9432-8714-4203-9DAD-BC2A340D0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82BFD-6B6F-4F2A-A3C9-C16F6BDEF3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797129-598A-4C59-ACCE-138355E0C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04ADE9-D642-49C0-916D-9BD2F0C9B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F01BDD6-14BF-4E78-8426-DA0DB5EA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AE2DA2-0B2C-4DA6-AAC2-9A40B5EFA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21240-E0C6-4608-BE63-43501FD9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517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1AE6B-DCE6-4F4A-9D73-4BFEC79D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24C96D-88E5-4A95-BD68-1A57B975F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CCCB4-EEF0-455E-A4B1-90AD8875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BEDE34-C848-4AB6-BBA3-4F7C7BF85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193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60A7ED-0316-4E8A-8A5F-08F4445CA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19920D-260C-47FA-A968-3A148B060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03E9CC-CEAD-47A4-AF6A-A01D296F5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13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0973-52E0-4C20-B8D2-E3626A94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8B9FE-04A9-49BC-A6F9-363425455A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AAD22-2F19-4E13-A956-28C94BF8B4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E9C6E-FA13-4E59-8495-2E5F1F230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2254B-180F-4129-923D-23581699C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04E88-79A6-4469-90CE-DE8AB96D0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143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D3ABD-F6A0-4686-B3D2-945E35699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AF3501-3FFC-4776-8577-4DB87C296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74C62C-8D82-4D99-AFFA-7B37A3651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E177DB-905C-446B-BE72-45E9CEB1C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BD367C-DC64-4A02-8F83-33AA74AB6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2CF32E-F53E-4D1E-8C13-39979B696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3741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B807D-2B25-4765-A309-D208487D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ACB1D-B44F-450B-B8EB-35BCBAF101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3D47F-4411-43FB-A178-EA9B0BA7D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46001F-BFD0-402F-BEC4-5DF2929FA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8C2CE-CF8D-4871-A137-D0877B82F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75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53047-71EA-4A41-BA03-6C19F5248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E8F77E-A429-4669-88EE-744346BEE7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59A0F-3CB6-4A43-A05E-03D390E33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FEC47-595E-4FA0-93E3-CE0B55F7F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116D9-208D-459C-B07D-260433D1F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5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9ADF67-FADC-461C-9E6B-A3D7BBDC4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0DF12-2709-41BE-8473-50EAC1D53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626AE-A9D2-4FA5-B994-2B4D93719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5E524-32E3-48E9-B1FB-C22C3A46817E}" type="datetimeFigureOut">
              <a:rPr lang="en-US" smtClean="0"/>
              <a:t>10/21/2021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2AFC95-276A-46F7-AE11-C7D024B843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94897-AB13-4E3D-8E1B-683E1FFED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DA11-AA74-4D88-9724-8233F8E183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7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44A6-0D47-489B-8CD3-C45771E4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is a function machine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B7779-77C1-4584-8AD3-00AA4644C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" t="8044" r="62909" b="62878"/>
          <a:stretch/>
        </p:blipFill>
        <p:spPr>
          <a:xfrm>
            <a:off x="2986481" y="2509693"/>
            <a:ext cx="6216242" cy="3722255"/>
          </a:xfrm>
        </p:spPr>
      </p:pic>
      <p:pic>
        <p:nvPicPr>
          <p:cNvPr id="2052" name="Picture 4" descr="Function examples - Math Insight">
            <a:extLst>
              <a:ext uri="{FF2B5EF4-FFF2-40B4-BE49-F238E27FC236}">
                <a16:creationId xmlns:a16="http://schemas.microsoft.com/office/drawing/2014/main" id="{4077A33C-9DD4-40BE-A122-459712B11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4"/>
          <a:stretch/>
        </p:blipFill>
        <p:spPr bwMode="auto">
          <a:xfrm>
            <a:off x="3631623" y="2162464"/>
            <a:ext cx="4110857" cy="423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833004E-BC86-4AAC-9E0F-CBB3D107F87D}"/>
              </a:ext>
            </a:extLst>
          </p:cNvPr>
          <p:cNvGrpSpPr/>
          <p:nvPr/>
        </p:nvGrpSpPr>
        <p:grpSpPr>
          <a:xfrm>
            <a:off x="1568741" y="2441196"/>
            <a:ext cx="7308239" cy="520118"/>
            <a:chOff x="1568741" y="2441196"/>
            <a:chExt cx="7308239" cy="520118"/>
          </a:xfrm>
        </p:grpSpPr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833FEEC1-E816-4AC0-B570-7290BECE1601}"/>
                </a:ext>
              </a:extLst>
            </p:cNvPr>
            <p:cNvSpPr/>
            <p:nvPr/>
          </p:nvSpPr>
          <p:spPr>
            <a:xfrm>
              <a:off x="1568741" y="2441196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Voice</a:t>
              </a:r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356290AD-8F6E-4141-86B2-BAAFAA2891AE}"/>
                </a:ext>
              </a:extLst>
            </p:cNvPr>
            <p:cNvSpPr/>
            <p:nvPr/>
          </p:nvSpPr>
          <p:spPr>
            <a:xfrm>
              <a:off x="7325016" y="2441196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Text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59D6520-530D-4D57-9C1E-D7644380FFC7}"/>
              </a:ext>
            </a:extLst>
          </p:cNvPr>
          <p:cNvGrpSpPr/>
          <p:nvPr/>
        </p:nvGrpSpPr>
        <p:grpSpPr>
          <a:xfrm>
            <a:off x="1578528" y="3172437"/>
            <a:ext cx="7308239" cy="520118"/>
            <a:chOff x="1578528" y="3172437"/>
            <a:chExt cx="7308239" cy="52011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9DE1BA12-F722-4B68-9C21-E70630523F7A}"/>
                </a:ext>
              </a:extLst>
            </p:cNvPr>
            <p:cNvSpPr/>
            <p:nvPr/>
          </p:nvSpPr>
          <p:spPr>
            <a:xfrm>
              <a:off x="1578528" y="3172437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Video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AF827BD-0B3D-48A1-8491-253A8A28A7A2}"/>
                </a:ext>
              </a:extLst>
            </p:cNvPr>
            <p:cNvSpPr/>
            <p:nvPr/>
          </p:nvSpPr>
          <p:spPr>
            <a:xfrm>
              <a:off x="7334803" y="3172437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Objects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D7BAF365-C106-4498-8D26-741C7DCAE8F9}"/>
              </a:ext>
            </a:extLst>
          </p:cNvPr>
          <p:cNvGrpSpPr/>
          <p:nvPr/>
        </p:nvGrpSpPr>
        <p:grpSpPr>
          <a:xfrm>
            <a:off x="1563148" y="3844955"/>
            <a:ext cx="7308239" cy="520118"/>
            <a:chOff x="1563148" y="3844955"/>
            <a:chExt cx="7308239" cy="52011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B4D3161A-EC74-4F05-BF36-8DAFC17E357A}"/>
                </a:ext>
              </a:extLst>
            </p:cNvPr>
            <p:cNvSpPr/>
            <p:nvPr/>
          </p:nvSpPr>
          <p:spPr>
            <a:xfrm>
              <a:off x="1563148" y="3844955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e-IL" dirty="0"/>
                <a:t>טקסט בעברית</a:t>
              </a:r>
              <a:endParaRPr lang="en-US"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42C6A9B-579B-422B-B6D8-45493C107208}"/>
                </a:ext>
              </a:extLst>
            </p:cNvPr>
            <p:cNvSpPr/>
            <p:nvPr/>
          </p:nvSpPr>
          <p:spPr>
            <a:xfrm>
              <a:off x="7319423" y="3844955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English Text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760A29-EBE8-4307-9B49-C560F81B7AFA}"/>
              </a:ext>
            </a:extLst>
          </p:cNvPr>
          <p:cNvGrpSpPr/>
          <p:nvPr/>
        </p:nvGrpSpPr>
        <p:grpSpPr>
          <a:xfrm>
            <a:off x="1535885" y="5184883"/>
            <a:ext cx="7350882" cy="520118"/>
            <a:chOff x="1535885" y="5184883"/>
            <a:chExt cx="7350882" cy="52011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86DCE367-9382-438B-9ADE-5752B11F42AB}"/>
                </a:ext>
              </a:extLst>
            </p:cNvPr>
            <p:cNvSpPr/>
            <p:nvPr/>
          </p:nvSpPr>
          <p:spPr>
            <a:xfrm>
              <a:off x="1535885" y="5184883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Size, location, floor…</a:t>
              </a: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C8B4725-6A5D-44D6-B3CD-E1BF0D8727B8}"/>
                </a:ext>
              </a:extLst>
            </p:cNvPr>
            <p:cNvSpPr/>
            <p:nvPr/>
          </p:nvSpPr>
          <p:spPr>
            <a:xfrm>
              <a:off x="7334803" y="5184883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House Price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3F7F101-3526-400B-9E57-925DBC7B29B6}"/>
              </a:ext>
            </a:extLst>
          </p:cNvPr>
          <p:cNvGrpSpPr/>
          <p:nvPr/>
        </p:nvGrpSpPr>
        <p:grpSpPr>
          <a:xfrm>
            <a:off x="1564546" y="4509084"/>
            <a:ext cx="7308239" cy="520118"/>
            <a:chOff x="1564546" y="4509084"/>
            <a:chExt cx="7308239" cy="520118"/>
          </a:xfrm>
        </p:grpSpPr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CBE538C-0055-4477-8B53-505542D025A6}"/>
                </a:ext>
              </a:extLst>
            </p:cNvPr>
            <p:cNvSpPr/>
            <p:nvPr/>
          </p:nvSpPr>
          <p:spPr>
            <a:xfrm>
              <a:off x="1564546" y="4509084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Text</a:t>
              </a:r>
            </a:p>
          </p:txBody>
        </p:sp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86FCE774-E40A-4257-9333-70D7FAAFD4D1}"/>
                </a:ext>
              </a:extLst>
            </p:cNvPr>
            <p:cNvSpPr/>
            <p:nvPr/>
          </p:nvSpPr>
          <p:spPr>
            <a:xfrm>
              <a:off x="7320821" y="4509084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Sentiment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8534535-2C19-46F9-8647-E0008CB9EBED}"/>
              </a:ext>
            </a:extLst>
          </p:cNvPr>
          <p:cNvGrpSpPr/>
          <p:nvPr/>
        </p:nvGrpSpPr>
        <p:grpSpPr>
          <a:xfrm>
            <a:off x="1506523" y="5845731"/>
            <a:ext cx="7682836" cy="824918"/>
            <a:chOff x="1506523" y="5845731"/>
            <a:chExt cx="7682836" cy="824918"/>
          </a:xfrm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7837EBCE-08F3-4CA2-B0A8-EA3440BE7650}"/>
                </a:ext>
              </a:extLst>
            </p:cNvPr>
            <p:cNvSpPr/>
            <p:nvPr/>
          </p:nvSpPr>
          <p:spPr>
            <a:xfrm>
              <a:off x="1506523" y="58457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435B684-5959-47AB-BE92-F51E599F9B89}"/>
                </a:ext>
              </a:extLst>
            </p:cNvPr>
            <p:cNvSpPr/>
            <p:nvPr/>
          </p:nvSpPr>
          <p:spPr>
            <a:xfrm>
              <a:off x="1658923" y="59981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AA6D6BDF-19D9-4610-982D-D25578D33766}"/>
                </a:ext>
              </a:extLst>
            </p:cNvPr>
            <p:cNvSpPr/>
            <p:nvPr/>
          </p:nvSpPr>
          <p:spPr>
            <a:xfrm>
              <a:off x="1811323" y="61505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49" name="Rectangle: Rounded Corners 2048">
              <a:extLst>
                <a:ext uri="{FF2B5EF4-FFF2-40B4-BE49-F238E27FC236}">
                  <a16:creationId xmlns:a16="http://schemas.microsoft.com/office/drawing/2014/main" id="{2655EA75-A347-435E-BD22-605055896024}"/>
                </a:ext>
              </a:extLst>
            </p:cNvPr>
            <p:cNvSpPr/>
            <p:nvPr/>
          </p:nvSpPr>
          <p:spPr>
            <a:xfrm>
              <a:off x="7332595" y="58457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0" name="Rectangle: Rounded Corners 2049">
              <a:extLst>
                <a:ext uri="{FF2B5EF4-FFF2-40B4-BE49-F238E27FC236}">
                  <a16:creationId xmlns:a16="http://schemas.microsoft.com/office/drawing/2014/main" id="{4BBB7E6C-B1F8-4A59-B720-271E24534FAD}"/>
                </a:ext>
              </a:extLst>
            </p:cNvPr>
            <p:cNvSpPr/>
            <p:nvPr/>
          </p:nvSpPr>
          <p:spPr>
            <a:xfrm>
              <a:off x="7484995" y="59981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51" name="Rectangle: Rounded Corners 2050">
              <a:extLst>
                <a:ext uri="{FF2B5EF4-FFF2-40B4-BE49-F238E27FC236}">
                  <a16:creationId xmlns:a16="http://schemas.microsoft.com/office/drawing/2014/main" id="{AFB86A40-A7AD-458D-B2A4-5431F1BE27ED}"/>
                </a:ext>
              </a:extLst>
            </p:cNvPr>
            <p:cNvSpPr/>
            <p:nvPr/>
          </p:nvSpPr>
          <p:spPr>
            <a:xfrm>
              <a:off x="7637395" y="6150531"/>
              <a:ext cx="1551964" cy="520118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3316" name="Picture 4" descr="Neural network math and information | Computer learning, Artificial neural  network, Machine learning deep learning">
            <a:extLst>
              <a:ext uri="{FF2B5EF4-FFF2-40B4-BE49-F238E27FC236}">
                <a16:creationId xmlns:a16="http://schemas.microsoft.com/office/drawing/2014/main" id="{5EBD51C0-CAE0-42A7-96FB-ECFF24451C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28" r="4299"/>
          <a:stretch/>
        </p:blipFill>
        <p:spPr bwMode="auto">
          <a:xfrm>
            <a:off x="3851135" y="3612736"/>
            <a:ext cx="2424670" cy="1989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941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44A6-0D47-489B-8CD3-C45771E4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is a function machine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B7779-77C1-4584-8AD3-00AA4644C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3" t="8044" r="62909" b="62878"/>
          <a:stretch/>
        </p:blipFill>
        <p:spPr>
          <a:xfrm>
            <a:off x="2986481" y="2509693"/>
            <a:ext cx="6216242" cy="3722255"/>
          </a:xfrm>
        </p:spPr>
      </p:pic>
      <p:pic>
        <p:nvPicPr>
          <p:cNvPr id="2052" name="Picture 4" descr="Function examples - Math Insight">
            <a:extLst>
              <a:ext uri="{FF2B5EF4-FFF2-40B4-BE49-F238E27FC236}">
                <a16:creationId xmlns:a16="http://schemas.microsoft.com/office/drawing/2014/main" id="{4077A33C-9DD4-40BE-A122-459712B11B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34"/>
          <a:stretch/>
        </p:blipFill>
        <p:spPr bwMode="auto">
          <a:xfrm>
            <a:off x="3631623" y="2162464"/>
            <a:ext cx="4110857" cy="42325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878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444A6-0D47-489B-8CD3-C45771E4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is a function machine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8B7779-77C1-4584-8AD3-00AA4644C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044" r="56290" b="62878"/>
          <a:stretch/>
        </p:blipFill>
        <p:spPr>
          <a:xfrm>
            <a:off x="1444338" y="2509693"/>
            <a:ext cx="9143040" cy="3722255"/>
          </a:xfr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783C1FD-6D21-4DAA-9FA9-A65E62AF9748}"/>
              </a:ext>
            </a:extLst>
          </p:cNvPr>
          <p:cNvGrpSpPr/>
          <p:nvPr/>
        </p:nvGrpSpPr>
        <p:grpSpPr>
          <a:xfrm>
            <a:off x="1536717" y="1943100"/>
            <a:ext cx="8321067" cy="4848996"/>
            <a:chOff x="1536717" y="1943100"/>
            <a:chExt cx="8321067" cy="4848996"/>
          </a:xfrm>
        </p:grpSpPr>
        <p:pic>
          <p:nvPicPr>
            <p:cNvPr id="2052" name="Picture 4" descr="Function examples - Math Insight">
              <a:extLst>
                <a:ext uri="{FF2B5EF4-FFF2-40B4-BE49-F238E27FC236}">
                  <a16:creationId xmlns:a16="http://schemas.microsoft.com/office/drawing/2014/main" id="{4077A33C-9DD4-40BE-A122-459712B11BB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134"/>
            <a:stretch/>
          </p:blipFill>
          <p:spPr bwMode="auto">
            <a:xfrm>
              <a:off x="3631623" y="2162464"/>
              <a:ext cx="4110857" cy="4232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Arrow: Curved Down 5">
              <a:extLst>
                <a:ext uri="{FF2B5EF4-FFF2-40B4-BE49-F238E27FC236}">
                  <a16:creationId xmlns:a16="http://schemas.microsoft.com/office/drawing/2014/main" id="{D219CFCE-90C4-4DC3-9D7C-BA542DBEA16A}"/>
                </a:ext>
              </a:extLst>
            </p:cNvPr>
            <p:cNvSpPr/>
            <p:nvPr/>
          </p:nvSpPr>
          <p:spPr>
            <a:xfrm rot="20271408">
              <a:off x="1536717" y="1943100"/>
              <a:ext cx="3380509" cy="1151659"/>
            </a:xfrm>
            <a:prstGeom prst="curved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8" name="Arrow: Curved Right 7">
              <a:extLst>
                <a:ext uri="{FF2B5EF4-FFF2-40B4-BE49-F238E27FC236}">
                  <a16:creationId xmlns:a16="http://schemas.microsoft.com/office/drawing/2014/main" id="{BEA52D17-1463-4D80-A8DC-750270A8DC7F}"/>
                </a:ext>
              </a:extLst>
            </p:cNvPr>
            <p:cNvSpPr/>
            <p:nvPr/>
          </p:nvSpPr>
          <p:spPr>
            <a:xfrm rot="15471628">
              <a:off x="8097374" y="5031686"/>
              <a:ext cx="957182" cy="2563638"/>
            </a:xfrm>
            <a:prstGeom prst="curved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51653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AADF326-F464-44A9-9706-5B0CCBDD7506}"/>
              </a:ext>
            </a:extLst>
          </p:cNvPr>
          <p:cNvSpPr/>
          <p:nvPr/>
        </p:nvSpPr>
        <p:spPr>
          <a:xfrm>
            <a:off x="3579471" y="1851599"/>
            <a:ext cx="464717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Neural Network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D8E38E-5596-4C38-886E-83C3108891D2}"/>
              </a:ext>
            </a:extLst>
          </p:cNvPr>
          <p:cNvSpPr/>
          <p:nvPr/>
        </p:nvSpPr>
        <p:spPr>
          <a:xfrm>
            <a:off x="2649154" y="4083072"/>
            <a:ext cx="205883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Neural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31AB80-4E53-4763-BA12-0F5CDFC813DF}"/>
              </a:ext>
            </a:extLst>
          </p:cNvPr>
          <p:cNvSpPr/>
          <p:nvPr/>
        </p:nvSpPr>
        <p:spPr>
          <a:xfrm>
            <a:off x="7205475" y="4083072"/>
            <a:ext cx="2615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Network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C98F0B75-52CE-4930-88AD-62C03B1E0978}"/>
              </a:ext>
            </a:extLst>
          </p:cNvPr>
          <p:cNvSpPr/>
          <p:nvPr/>
        </p:nvSpPr>
        <p:spPr>
          <a:xfrm rot="2396803">
            <a:off x="4269996" y="2902591"/>
            <a:ext cx="184558" cy="10905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A3DC1377-2F39-4EA7-9E4E-F2EE20A01B67}"/>
              </a:ext>
            </a:extLst>
          </p:cNvPr>
          <p:cNvSpPr/>
          <p:nvPr/>
        </p:nvSpPr>
        <p:spPr>
          <a:xfrm rot="18956195">
            <a:off x="8134362" y="2984387"/>
            <a:ext cx="184558" cy="10905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34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838989-59B5-4662-A294-49C5155D9F34}"/>
              </a:ext>
            </a:extLst>
          </p:cNvPr>
          <p:cNvSpPr/>
          <p:nvPr/>
        </p:nvSpPr>
        <p:spPr>
          <a:xfrm>
            <a:off x="3242754" y="2967335"/>
            <a:ext cx="57064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What is a Network?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D3ABE6-C286-4CFD-B907-5ADF31AD226A}"/>
              </a:ext>
            </a:extLst>
          </p:cNvPr>
          <p:cNvSpPr/>
          <p:nvPr/>
        </p:nvSpPr>
        <p:spPr>
          <a:xfrm>
            <a:off x="2090145" y="4361305"/>
            <a:ext cx="823263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How can it provide </a:t>
            </a:r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answers</a:t>
            </a:r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?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81DC6-C6C8-4375-B916-7393F37ED576}"/>
              </a:ext>
            </a:extLst>
          </p:cNvPr>
          <p:cNvSpPr/>
          <p:nvPr/>
        </p:nvSpPr>
        <p:spPr>
          <a:xfrm>
            <a:off x="4680389" y="650035"/>
            <a:ext cx="261590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Network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1026" name="Picture 2" descr="Why is Multicasting Becoming Essential for Mesh Networks? - Radiocrafts">
            <a:extLst>
              <a:ext uri="{FF2B5EF4-FFF2-40B4-BE49-F238E27FC236}">
                <a16:creationId xmlns:a16="http://schemas.microsoft.com/office/drawing/2014/main" id="{29565298-065F-47C9-984A-632B34417E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75"/>
          <a:stretch/>
        </p:blipFill>
        <p:spPr bwMode="auto">
          <a:xfrm>
            <a:off x="8187787" y="436227"/>
            <a:ext cx="3515621" cy="1870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927219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36BD-E5EF-401D-A4CB-16729C19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613" y="-14265"/>
            <a:ext cx="2157370" cy="1325563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pic>
        <p:nvPicPr>
          <p:cNvPr id="15368" name="Picture 8" descr="Pregnancy in the Netherlands: Giving birth">
            <a:extLst>
              <a:ext uri="{FF2B5EF4-FFF2-40B4-BE49-F238E27FC236}">
                <a16:creationId xmlns:a16="http://schemas.microsoft.com/office/drawing/2014/main" id="{52857A96-0D68-45ED-8DDE-A3F71DA0D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0" t="3342" r="32962" b="26619"/>
          <a:stretch/>
        </p:blipFill>
        <p:spPr bwMode="auto">
          <a:xfrm>
            <a:off x="5046678" y="1105968"/>
            <a:ext cx="1493240" cy="16088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5683EDA-2BD3-49A2-89F7-041EF2F9A50A}"/>
              </a:ext>
            </a:extLst>
          </p:cNvPr>
          <p:cNvGrpSpPr/>
          <p:nvPr/>
        </p:nvGrpSpPr>
        <p:grpSpPr>
          <a:xfrm>
            <a:off x="4944786" y="4508327"/>
            <a:ext cx="1658746" cy="379242"/>
            <a:chOff x="4944786" y="4508327"/>
            <a:chExt cx="1658746" cy="379242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83110CDB-83B3-4E76-AE29-1B546CC4EC4B}"/>
                </a:ext>
              </a:extLst>
            </p:cNvPr>
            <p:cNvCxnSpPr>
              <a:cxnSpLocks/>
              <a:stCxn id="32" idx="6"/>
              <a:endCxn id="25" idx="2"/>
            </p:cNvCxnSpPr>
            <p:nvPr/>
          </p:nvCxnSpPr>
          <p:spPr>
            <a:xfrm flipV="1">
              <a:off x="4944786" y="4508327"/>
              <a:ext cx="1658746" cy="991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AEA03D90-3D9C-40CB-8E87-392D8CEDD357}"/>
                </a:ext>
              </a:extLst>
            </p:cNvPr>
            <p:cNvSpPr txBox="1"/>
            <p:nvPr/>
          </p:nvSpPr>
          <p:spPr>
            <a:xfrm>
              <a:off x="5429774" y="4518237"/>
              <a:ext cx="72704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Edge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7FFBC79F-58D7-4C8B-B224-1404CD698387}"/>
              </a:ext>
            </a:extLst>
          </p:cNvPr>
          <p:cNvGrpSpPr/>
          <p:nvPr/>
        </p:nvGrpSpPr>
        <p:grpSpPr>
          <a:xfrm>
            <a:off x="6457427" y="4169223"/>
            <a:ext cx="1199626" cy="1065050"/>
            <a:chOff x="6457427" y="4169223"/>
            <a:chExt cx="1199626" cy="106505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8ABE254-25EF-429F-9B7D-9559C9284B9C}"/>
                </a:ext>
              </a:extLst>
            </p:cNvPr>
            <p:cNvSpPr txBox="1"/>
            <p:nvPr/>
          </p:nvSpPr>
          <p:spPr>
            <a:xfrm>
              <a:off x="6457427" y="4864941"/>
              <a:ext cx="1199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Vertex V2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4E2CD55-C8F1-400F-BA87-A8DD6DB3D3B9}"/>
                </a:ext>
              </a:extLst>
            </p:cNvPr>
            <p:cNvSpPr/>
            <p:nvPr/>
          </p:nvSpPr>
          <p:spPr>
            <a:xfrm>
              <a:off x="6603532" y="4169223"/>
              <a:ext cx="921391" cy="6782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5E6CAC53-58CB-4454-9225-2DAA195B8075}"/>
              </a:ext>
            </a:extLst>
          </p:cNvPr>
          <p:cNvGrpSpPr/>
          <p:nvPr/>
        </p:nvGrpSpPr>
        <p:grpSpPr>
          <a:xfrm>
            <a:off x="4058872" y="4179133"/>
            <a:ext cx="1199626" cy="1077768"/>
            <a:chOff x="4058872" y="4179133"/>
            <a:chExt cx="1199626" cy="107776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A84624B-7B12-4533-A1A9-1406B5BAE7EE}"/>
                </a:ext>
              </a:extLst>
            </p:cNvPr>
            <p:cNvSpPr txBox="1"/>
            <p:nvPr/>
          </p:nvSpPr>
          <p:spPr>
            <a:xfrm>
              <a:off x="4058872" y="4887569"/>
              <a:ext cx="1199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Vertex V1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4133DC7-D357-4320-9BB8-468B54E6E726}"/>
                </a:ext>
              </a:extLst>
            </p:cNvPr>
            <p:cNvSpPr/>
            <p:nvPr/>
          </p:nvSpPr>
          <p:spPr>
            <a:xfrm>
              <a:off x="4217740" y="4179133"/>
              <a:ext cx="727046" cy="678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CFAA075-5193-4C47-8D3E-E63035DA4B6D}"/>
              </a:ext>
            </a:extLst>
          </p:cNvPr>
          <p:cNvSpPr txBox="1"/>
          <p:nvPr/>
        </p:nvSpPr>
        <p:spPr>
          <a:xfrm>
            <a:off x="4944786" y="3787783"/>
            <a:ext cx="149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V1 affects V2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E4369-A93E-4A37-B693-27E9A581613A}"/>
              </a:ext>
            </a:extLst>
          </p:cNvPr>
          <p:cNvSpPr txBox="1"/>
          <p:nvPr/>
        </p:nvSpPr>
        <p:spPr>
          <a:xfrm>
            <a:off x="4807714" y="5542511"/>
            <a:ext cx="2265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 math: v2 = f(v1)</a:t>
            </a:r>
          </a:p>
        </p:txBody>
      </p:sp>
    </p:spTree>
    <p:extLst>
      <p:ext uri="{BB962C8B-B14F-4D97-AF65-F5344CB8AC3E}">
        <p14:creationId xmlns:p14="http://schemas.microsoft.com/office/powerpoint/2010/main" val="154903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36BD-E5EF-401D-A4CB-16729C19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613" y="-14265"/>
            <a:ext cx="2157370" cy="1325563"/>
          </a:xfrm>
        </p:spPr>
        <p:txBody>
          <a:bodyPr/>
          <a:lstStyle/>
          <a:p>
            <a:r>
              <a:rPr lang="en-US" dirty="0"/>
              <a:t>Network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110CDB-83B3-4E76-AE29-1B546CC4EC4B}"/>
              </a:ext>
            </a:extLst>
          </p:cNvPr>
          <p:cNvCxnSpPr>
            <a:cxnSpLocks/>
            <a:stCxn id="32" idx="6"/>
            <a:endCxn id="25" idx="2"/>
          </p:cNvCxnSpPr>
          <p:nvPr/>
        </p:nvCxnSpPr>
        <p:spPr>
          <a:xfrm flipV="1">
            <a:off x="4944786" y="4508327"/>
            <a:ext cx="1658746" cy="99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84624B-7B12-4533-A1A9-1406B5BAE7EE}"/>
              </a:ext>
            </a:extLst>
          </p:cNvPr>
          <p:cNvSpPr txBox="1"/>
          <p:nvPr/>
        </p:nvSpPr>
        <p:spPr>
          <a:xfrm>
            <a:off x="4058872" y="4887569"/>
            <a:ext cx="119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V1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BE254-25EF-429F-9B7D-9559C9284B9C}"/>
              </a:ext>
            </a:extLst>
          </p:cNvPr>
          <p:cNvSpPr txBox="1"/>
          <p:nvPr/>
        </p:nvSpPr>
        <p:spPr>
          <a:xfrm>
            <a:off x="6457427" y="4864941"/>
            <a:ext cx="119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V2</a:t>
            </a:r>
          </a:p>
        </p:txBody>
      </p:sp>
      <p:pic>
        <p:nvPicPr>
          <p:cNvPr id="15368" name="Picture 8" descr="Pregnancy in the Netherlands: Giving birth">
            <a:extLst>
              <a:ext uri="{FF2B5EF4-FFF2-40B4-BE49-F238E27FC236}">
                <a16:creationId xmlns:a16="http://schemas.microsoft.com/office/drawing/2014/main" id="{52857A96-0D68-45ED-8DDE-A3F71DA0DE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970" t="3342" r="32962" b="26619"/>
          <a:stretch/>
        </p:blipFill>
        <p:spPr bwMode="auto">
          <a:xfrm>
            <a:off x="5046678" y="1105968"/>
            <a:ext cx="1493240" cy="16088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A03D90-3D9C-40CB-8E87-392D8CEDD357}"/>
              </a:ext>
            </a:extLst>
          </p:cNvPr>
          <p:cNvSpPr txBox="1"/>
          <p:nvPr/>
        </p:nvSpPr>
        <p:spPr>
          <a:xfrm>
            <a:off x="5429774" y="4518237"/>
            <a:ext cx="727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2B055-9C03-4D8F-96A4-7AC9BBEB05EF}"/>
              </a:ext>
            </a:extLst>
          </p:cNvPr>
          <p:cNvSpPr txBox="1"/>
          <p:nvPr/>
        </p:nvSpPr>
        <p:spPr>
          <a:xfrm>
            <a:off x="5540405" y="4152445"/>
            <a:ext cx="21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2CD55-C8F1-400F-BA87-A8DD6DB3D3B9}"/>
              </a:ext>
            </a:extLst>
          </p:cNvPr>
          <p:cNvSpPr/>
          <p:nvPr/>
        </p:nvSpPr>
        <p:spPr>
          <a:xfrm>
            <a:off x="6603532" y="4169223"/>
            <a:ext cx="921391" cy="67820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W*X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4133DC7-D357-4320-9BB8-468B54E6E726}"/>
              </a:ext>
            </a:extLst>
          </p:cNvPr>
          <p:cNvSpPr/>
          <p:nvPr/>
        </p:nvSpPr>
        <p:spPr>
          <a:xfrm>
            <a:off x="4217740" y="4179133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EBF7F-D224-45AA-A907-21558A49C914}"/>
              </a:ext>
            </a:extLst>
          </p:cNvPr>
          <p:cNvSpPr txBox="1"/>
          <p:nvPr/>
        </p:nvSpPr>
        <p:spPr>
          <a:xfrm>
            <a:off x="9052428" y="1448726"/>
            <a:ext cx="21979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For Example:</a:t>
            </a:r>
          </a:p>
          <a:p>
            <a:r>
              <a:rPr lang="en-US" dirty="0"/>
              <a:t>V1 = X</a:t>
            </a:r>
          </a:p>
          <a:p>
            <a:r>
              <a:rPr lang="en-US" dirty="0"/>
              <a:t>V2 = W*X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C51EF5C-8FA8-4EB5-91D3-0B160278AE04}"/>
              </a:ext>
            </a:extLst>
          </p:cNvPr>
          <p:cNvGrpSpPr/>
          <p:nvPr/>
        </p:nvGrpSpPr>
        <p:grpSpPr>
          <a:xfrm>
            <a:off x="8079996" y="2663396"/>
            <a:ext cx="3052194" cy="2697386"/>
            <a:chOff x="8079996" y="2663396"/>
            <a:chExt cx="3052194" cy="2697386"/>
          </a:xfrm>
        </p:grpSpPr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5E1C531A-8EA1-4267-AA0E-F5DDC694AF92}"/>
                </a:ext>
              </a:extLst>
            </p:cNvPr>
            <p:cNvCxnSpPr/>
            <p:nvPr/>
          </p:nvCxnSpPr>
          <p:spPr>
            <a:xfrm>
              <a:off x="8531604" y="4688365"/>
              <a:ext cx="23656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66812D2D-6AE4-49A6-A152-2325F77FFC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41391" y="2907268"/>
              <a:ext cx="0" cy="178109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74638F-44F3-4487-903E-99FE4901CA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41391" y="4009938"/>
              <a:ext cx="2129405" cy="67842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DDC770-20AA-4651-ABE5-3A2E2FD6CD94}"/>
                </a:ext>
              </a:extLst>
            </p:cNvPr>
            <p:cNvSpPr txBox="1"/>
            <p:nvPr/>
          </p:nvSpPr>
          <p:spPr>
            <a:xfrm>
              <a:off x="10670795" y="4991450"/>
              <a:ext cx="461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V1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F7A69630-CF8A-47AB-BCA8-0C8C223D4CD6}"/>
                </a:ext>
              </a:extLst>
            </p:cNvPr>
            <p:cNvSpPr txBox="1"/>
            <p:nvPr/>
          </p:nvSpPr>
          <p:spPr>
            <a:xfrm>
              <a:off x="8079996" y="2663396"/>
              <a:ext cx="46139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V2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01A72A4-6F3D-47A8-A7EE-7829411AD4F3}"/>
              </a:ext>
            </a:extLst>
          </p:cNvPr>
          <p:cNvSpPr txBox="1"/>
          <p:nvPr/>
        </p:nvSpPr>
        <p:spPr>
          <a:xfrm>
            <a:off x="4944786" y="3787783"/>
            <a:ext cx="1493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V1 affects V2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5B5C28-284D-4265-B7F2-64D08D9748F0}"/>
              </a:ext>
            </a:extLst>
          </p:cNvPr>
          <p:cNvSpPr txBox="1"/>
          <p:nvPr/>
        </p:nvSpPr>
        <p:spPr>
          <a:xfrm>
            <a:off x="4807714" y="5542511"/>
            <a:ext cx="2265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 math: v2 = f(v1)</a:t>
            </a:r>
          </a:p>
        </p:txBody>
      </p:sp>
    </p:spTree>
    <p:extLst>
      <p:ext uri="{BB962C8B-B14F-4D97-AF65-F5344CB8AC3E}">
        <p14:creationId xmlns:p14="http://schemas.microsoft.com/office/powerpoint/2010/main" val="821459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636BD-E5EF-401D-A4CB-16729C191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236" y="556186"/>
            <a:ext cx="4304952" cy="1325563"/>
          </a:xfrm>
        </p:spPr>
        <p:txBody>
          <a:bodyPr/>
          <a:lstStyle/>
          <a:p>
            <a:pPr algn="ctr"/>
            <a:r>
              <a:rPr lang="en-US" dirty="0"/>
              <a:t>Adding Bias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83110CDB-83B3-4E76-AE29-1B546CC4EC4B}"/>
              </a:ext>
            </a:extLst>
          </p:cNvPr>
          <p:cNvCxnSpPr>
            <a:cxnSpLocks/>
            <a:stCxn id="32" idx="6"/>
            <a:endCxn id="25" idx="2"/>
          </p:cNvCxnSpPr>
          <p:nvPr/>
        </p:nvCxnSpPr>
        <p:spPr>
          <a:xfrm flipV="1">
            <a:off x="4944786" y="4491549"/>
            <a:ext cx="1658746" cy="266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A84624B-7B12-4533-A1A9-1406B5BAE7EE}"/>
              </a:ext>
            </a:extLst>
          </p:cNvPr>
          <p:cNvSpPr txBox="1"/>
          <p:nvPr/>
        </p:nvSpPr>
        <p:spPr>
          <a:xfrm>
            <a:off x="4058872" y="4887569"/>
            <a:ext cx="119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V1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ABE254-25EF-429F-9B7D-9559C9284B9C}"/>
              </a:ext>
            </a:extLst>
          </p:cNvPr>
          <p:cNvSpPr txBox="1"/>
          <p:nvPr/>
        </p:nvSpPr>
        <p:spPr>
          <a:xfrm>
            <a:off x="6457427" y="4864941"/>
            <a:ext cx="1199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Vertex V2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A03D90-3D9C-40CB-8E87-392D8CEDD357}"/>
              </a:ext>
            </a:extLst>
          </p:cNvPr>
          <p:cNvSpPr txBox="1"/>
          <p:nvPr/>
        </p:nvSpPr>
        <p:spPr>
          <a:xfrm>
            <a:off x="5429774" y="4518237"/>
            <a:ext cx="7270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Edge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852B055-9C03-4D8F-96A4-7AC9BBEB05EF}"/>
              </a:ext>
            </a:extLst>
          </p:cNvPr>
          <p:cNvSpPr txBox="1"/>
          <p:nvPr/>
        </p:nvSpPr>
        <p:spPr>
          <a:xfrm>
            <a:off x="5540405" y="4152445"/>
            <a:ext cx="21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4E2CD55-C8F1-400F-BA87-A8DD6DB3D3B9}"/>
              </a:ext>
            </a:extLst>
          </p:cNvPr>
          <p:cNvSpPr/>
          <p:nvPr/>
        </p:nvSpPr>
        <p:spPr>
          <a:xfrm>
            <a:off x="6603532" y="4152445"/>
            <a:ext cx="837499" cy="67820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W*X+B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44133DC7-D357-4320-9BB8-468B54E6E726}"/>
              </a:ext>
            </a:extLst>
          </p:cNvPr>
          <p:cNvSpPr/>
          <p:nvPr/>
        </p:nvSpPr>
        <p:spPr>
          <a:xfrm>
            <a:off x="4217740" y="4179133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7EBF7F-D224-45AA-A907-21558A49C914}"/>
              </a:ext>
            </a:extLst>
          </p:cNvPr>
          <p:cNvSpPr txBox="1"/>
          <p:nvPr/>
        </p:nvSpPr>
        <p:spPr>
          <a:xfrm>
            <a:off x="939392" y="3938393"/>
            <a:ext cx="21979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V1 = X</a:t>
            </a:r>
          </a:p>
          <a:p>
            <a:r>
              <a:rPr lang="en-US" sz="2400" dirty="0"/>
              <a:t>V2 = W*X + B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1C531A-8EA1-4267-AA0E-F5DDC694AF92}"/>
              </a:ext>
            </a:extLst>
          </p:cNvPr>
          <p:cNvCxnSpPr>
            <a:cxnSpLocks/>
          </p:cNvCxnSpPr>
          <p:nvPr/>
        </p:nvCxnSpPr>
        <p:spPr>
          <a:xfrm>
            <a:off x="8003097" y="4688365"/>
            <a:ext cx="28942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6812D2D-6AE4-49A6-A152-2325F77FFC00}"/>
              </a:ext>
            </a:extLst>
          </p:cNvPr>
          <p:cNvCxnSpPr>
            <a:cxnSpLocks/>
          </p:cNvCxnSpPr>
          <p:nvPr/>
        </p:nvCxnSpPr>
        <p:spPr>
          <a:xfrm flipV="1">
            <a:off x="8541391" y="2907268"/>
            <a:ext cx="0" cy="178109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B74638F-44F3-4487-903E-99FE4901CAE4}"/>
              </a:ext>
            </a:extLst>
          </p:cNvPr>
          <p:cNvCxnSpPr>
            <a:cxnSpLocks/>
          </p:cNvCxnSpPr>
          <p:nvPr/>
        </p:nvCxnSpPr>
        <p:spPr>
          <a:xfrm flipH="1">
            <a:off x="8079996" y="3887486"/>
            <a:ext cx="2129405" cy="6784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BDDC770-20AA-4651-ABE5-3A2E2FD6CD94}"/>
              </a:ext>
            </a:extLst>
          </p:cNvPr>
          <p:cNvSpPr txBox="1"/>
          <p:nvPr/>
        </p:nvSpPr>
        <p:spPr>
          <a:xfrm>
            <a:off x="10670795" y="4991450"/>
            <a:ext cx="46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7A69630-CF8A-47AB-BCA8-0C8C223D4CD6}"/>
              </a:ext>
            </a:extLst>
          </p:cNvPr>
          <p:cNvSpPr txBox="1"/>
          <p:nvPr/>
        </p:nvSpPr>
        <p:spPr>
          <a:xfrm>
            <a:off x="8079996" y="2663396"/>
            <a:ext cx="46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A69525-884F-44EB-A3E2-85809431594E}"/>
              </a:ext>
            </a:extLst>
          </p:cNvPr>
          <p:cNvSpPr txBox="1"/>
          <p:nvPr/>
        </p:nvSpPr>
        <p:spPr>
          <a:xfrm>
            <a:off x="8561838" y="4353892"/>
            <a:ext cx="461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688A271E-34C3-44C5-80F7-1CAD255A1354}"/>
              </a:ext>
            </a:extLst>
          </p:cNvPr>
          <p:cNvSpPr/>
          <p:nvPr/>
        </p:nvSpPr>
        <p:spPr>
          <a:xfrm>
            <a:off x="8546111" y="4402060"/>
            <a:ext cx="77771" cy="26822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5BE0A95-0C77-4A86-AE40-9D2CAE7363EA}"/>
              </a:ext>
            </a:extLst>
          </p:cNvPr>
          <p:cNvSpPr/>
          <p:nvPr/>
        </p:nvSpPr>
        <p:spPr>
          <a:xfrm>
            <a:off x="4211623" y="3304687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158B35C2-70C8-4DA0-88A4-87341B679106}"/>
              </a:ext>
            </a:extLst>
          </p:cNvPr>
          <p:cNvCxnSpPr>
            <a:cxnSpLocks/>
            <a:endCxn id="25" idx="2"/>
          </p:cNvCxnSpPr>
          <p:nvPr/>
        </p:nvCxnSpPr>
        <p:spPr>
          <a:xfrm>
            <a:off x="4938669" y="3643790"/>
            <a:ext cx="1664863" cy="8477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F7387E99-9E27-4996-91DB-692573090122}"/>
              </a:ext>
            </a:extLst>
          </p:cNvPr>
          <p:cNvSpPr txBox="1"/>
          <p:nvPr/>
        </p:nvSpPr>
        <p:spPr>
          <a:xfrm>
            <a:off x="5540404" y="3613150"/>
            <a:ext cx="21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6444000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7DD2E-CE99-4D66-BE1E-61083C8A3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</a:t>
            </a:r>
            <a:r>
              <a:rPr lang="en-US" b="1" dirty="0"/>
              <a:t>solution</a:t>
            </a:r>
            <a:r>
              <a:rPr lang="en-US" dirty="0"/>
              <a:t> for linear 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72CBDD-31E7-45C7-BBEC-8F708AA57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flat in the ground floor costs 100K</a:t>
            </a:r>
          </a:p>
          <a:p>
            <a:r>
              <a:rPr lang="en-US" dirty="0"/>
              <a:t>For each floor there is an addition of 10K</a:t>
            </a:r>
          </a:p>
          <a:p>
            <a:r>
              <a:rPr lang="en-US" dirty="0"/>
              <a:t>Solution: Price = 100K + 10K * floor</a:t>
            </a:r>
          </a:p>
          <a:p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8DF081B-52F4-446F-8368-869EFCDC20FD}"/>
              </a:ext>
            </a:extLst>
          </p:cNvPr>
          <p:cNvGrpSpPr/>
          <p:nvPr/>
        </p:nvGrpSpPr>
        <p:grpSpPr>
          <a:xfrm>
            <a:off x="4228401" y="3682192"/>
            <a:ext cx="3279746" cy="1552653"/>
            <a:chOff x="4228401" y="3682192"/>
            <a:chExt cx="3279746" cy="1552653"/>
          </a:xfrm>
        </p:grpSpPr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002373C2-2F9E-4C45-AC48-89F4CC7B67A9}"/>
                </a:ext>
              </a:extLst>
            </p:cNvPr>
            <p:cNvCxnSpPr>
              <a:cxnSpLocks/>
              <a:stCxn id="10" idx="6"/>
              <a:endCxn id="9" idx="2"/>
            </p:cNvCxnSpPr>
            <p:nvPr/>
          </p:nvCxnSpPr>
          <p:spPr>
            <a:xfrm flipV="1">
              <a:off x="4961564" y="4869054"/>
              <a:ext cx="1658747" cy="26688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FC7FAD68-214E-42C2-89DE-FB180558F3E9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>
              <a:off x="4955447" y="4021295"/>
              <a:ext cx="1664864" cy="8477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A3E5D84-C9DE-48B1-A39B-60939B1A3909}"/>
                </a:ext>
              </a:extLst>
            </p:cNvPr>
            <p:cNvGrpSpPr/>
            <p:nvPr/>
          </p:nvGrpSpPr>
          <p:grpSpPr>
            <a:xfrm>
              <a:off x="4228401" y="3682192"/>
              <a:ext cx="3279746" cy="1552653"/>
              <a:chOff x="4228401" y="3682192"/>
              <a:chExt cx="3279746" cy="1552653"/>
            </a:xfrm>
          </p:grpSpPr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8CDCDC3-2662-4700-A2D2-29FDDAB3E0EF}"/>
                  </a:ext>
                </a:extLst>
              </p:cNvPr>
              <p:cNvSpPr txBox="1"/>
              <p:nvPr/>
            </p:nvSpPr>
            <p:spPr>
              <a:xfrm>
                <a:off x="5252210" y="4556676"/>
                <a:ext cx="6389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10K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A640EB42-897B-4622-BE68-8105176359E5}"/>
                  </a:ext>
                </a:extLst>
              </p:cNvPr>
              <p:cNvSpPr/>
              <p:nvPr/>
            </p:nvSpPr>
            <p:spPr>
              <a:xfrm>
                <a:off x="6620311" y="4529950"/>
                <a:ext cx="887836" cy="678207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P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C6B19B3-479D-483B-9419-8E60A91974E8}"/>
                  </a:ext>
                </a:extLst>
              </p:cNvPr>
              <p:cNvSpPr/>
              <p:nvPr/>
            </p:nvSpPr>
            <p:spPr>
              <a:xfrm>
                <a:off x="4234518" y="4556638"/>
                <a:ext cx="727046" cy="67820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X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C807F92E-EED4-4A98-B1D7-6E96199942BE}"/>
                  </a:ext>
                </a:extLst>
              </p:cNvPr>
              <p:cNvSpPr/>
              <p:nvPr/>
            </p:nvSpPr>
            <p:spPr>
              <a:xfrm>
                <a:off x="4228401" y="3682192"/>
                <a:ext cx="727046" cy="678207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900C33A3-41D1-416B-BCA7-9DD08D3E82D7}"/>
                  </a:ext>
                </a:extLst>
              </p:cNvPr>
              <p:cNvSpPr txBox="1"/>
              <p:nvPr/>
            </p:nvSpPr>
            <p:spPr>
              <a:xfrm>
                <a:off x="5253782" y="3893496"/>
                <a:ext cx="7396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100K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1271001-B625-4DCD-9430-015C56EAD94A}"/>
                  </a:ext>
                </a:extLst>
              </p:cNvPr>
              <p:cNvSpPr txBox="1"/>
              <p:nvPr/>
            </p:nvSpPr>
            <p:spPr>
              <a:xfrm>
                <a:off x="5891170" y="3900258"/>
                <a:ext cx="2146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B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B9FE8E7F-5E3F-4A38-B2B3-63AD2E13FD94}"/>
                  </a:ext>
                </a:extLst>
              </p:cNvPr>
              <p:cNvSpPr txBox="1"/>
              <p:nvPr/>
            </p:nvSpPr>
            <p:spPr>
              <a:xfrm>
                <a:off x="5876661" y="4549914"/>
                <a:ext cx="21461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W</a:t>
                </a:r>
              </a:p>
            </p:txBody>
          </p:sp>
        </p:grpSp>
      </p:grpSp>
      <p:pic>
        <p:nvPicPr>
          <p:cNvPr id="17410" name="Picture 2" descr="Solution Mode Thinking - IRM Training">
            <a:extLst>
              <a:ext uri="{FF2B5EF4-FFF2-40B4-BE49-F238E27FC236}">
                <a16:creationId xmlns:a16="http://schemas.microsoft.com/office/drawing/2014/main" id="{BC83176E-E273-4582-B1DB-C1453120F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2117">
            <a:off x="9712502" y="858232"/>
            <a:ext cx="1992649" cy="132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6446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74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FBDCB-5419-4DF3-A5CB-EAFBF1EFC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#2 – Multiple Linear Regression</a:t>
            </a:r>
          </a:p>
        </p:txBody>
      </p:sp>
      <p:pic>
        <p:nvPicPr>
          <p:cNvPr id="5122" name="Picture 2" descr="Image result for multiple linear regression">
            <a:extLst>
              <a:ext uri="{FF2B5EF4-FFF2-40B4-BE49-F238E27FC236}">
                <a16:creationId xmlns:a16="http://schemas.microsoft.com/office/drawing/2014/main" id="{DFA1792F-81EA-42AF-84B1-57D11CAEA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117" y="2755739"/>
            <a:ext cx="2421797" cy="227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69D7563-D2EB-4EF5-AB82-34D45A7D9A29}"/>
              </a:ext>
            </a:extLst>
          </p:cNvPr>
          <p:cNvCxnSpPr>
            <a:cxnSpLocks/>
            <a:stCxn id="13" idx="6"/>
            <a:endCxn id="12" idx="2"/>
          </p:cNvCxnSpPr>
          <p:nvPr/>
        </p:nvCxnSpPr>
        <p:spPr>
          <a:xfrm flipV="1">
            <a:off x="4961564" y="3954653"/>
            <a:ext cx="1658747" cy="266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DBC8EEC-ADDC-4A81-88EA-E5A1B8201FFB}"/>
              </a:ext>
            </a:extLst>
          </p:cNvPr>
          <p:cNvSpPr/>
          <p:nvPr/>
        </p:nvSpPr>
        <p:spPr>
          <a:xfrm>
            <a:off x="6620311" y="3615549"/>
            <a:ext cx="887836" cy="678207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Y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CD03C85-0744-443F-BADD-C0746222884E}"/>
              </a:ext>
            </a:extLst>
          </p:cNvPr>
          <p:cNvSpPr/>
          <p:nvPr/>
        </p:nvSpPr>
        <p:spPr>
          <a:xfrm>
            <a:off x="4234518" y="3642237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X1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054A235-3835-4FE1-86C6-9E3E605ED6B6}"/>
              </a:ext>
            </a:extLst>
          </p:cNvPr>
          <p:cNvSpPr/>
          <p:nvPr/>
        </p:nvSpPr>
        <p:spPr>
          <a:xfrm>
            <a:off x="4228401" y="2767791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124E16-56E7-4B46-9512-D1EDF8EDA27A}"/>
              </a:ext>
            </a:extLst>
          </p:cNvPr>
          <p:cNvCxnSpPr>
            <a:cxnSpLocks/>
            <a:endCxn id="12" idx="2"/>
          </p:cNvCxnSpPr>
          <p:nvPr/>
        </p:nvCxnSpPr>
        <p:spPr>
          <a:xfrm>
            <a:off x="4955447" y="3106894"/>
            <a:ext cx="1664864" cy="84775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F8A75EE-6865-4A35-872B-644649C39956}"/>
              </a:ext>
            </a:extLst>
          </p:cNvPr>
          <p:cNvSpPr txBox="1"/>
          <p:nvPr/>
        </p:nvSpPr>
        <p:spPr>
          <a:xfrm>
            <a:off x="5462630" y="3005253"/>
            <a:ext cx="214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0CC111-E118-43BE-A927-59BE1C079D85}"/>
              </a:ext>
            </a:extLst>
          </p:cNvPr>
          <p:cNvSpPr txBox="1"/>
          <p:nvPr/>
        </p:nvSpPr>
        <p:spPr>
          <a:xfrm>
            <a:off x="5375420" y="3648255"/>
            <a:ext cx="62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w1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5FD5DC2-BB92-464B-900A-A42C41D27BFF}"/>
              </a:ext>
            </a:extLst>
          </p:cNvPr>
          <p:cNvCxnSpPr>
            <a:cxnSpLocks/>
            <a:stCxn id="20" idx="6"/>
            <a:endCxn id="12" idx="2"/>
          </p:cNvCxnSpPr>
          <p:nvPr/>
        </p:nvCxnSpPr>
        <p:spPr>
          <a:xfrm flipV="1">
            <a:off x="4955447" y="3954653"/>
            <a:ext cx="1664864" cy="88361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2812C0F-3A49-4F3D-81B7-14A7169EE45A}"/>
              </a:ext>
            </a:extLst>
          </p:cNvPr>
          <p:cNvSpPr/>
          <p:nvPr/>
        </p:nvSpPr>
        <p:spPr>
          <a:xfrm>
            <a:off x="4228401" y="4499166"/>
            <a:ext cx="727046" cy="67820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X2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989D16-9C37-4D33-9BCD-8539F2E6B6B4}"/>
              </a:ext>
            </a:extLst>
          </p:cNvPr>
          <p:cNvSpPr txBox="1"/>
          <p:nvPr/>
        </p:nvSpPr>
        <p:spPr>
          <a:xfrm>
            <a:off x="5311502" y="4155520"/>
            <a:ext cx="6263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C0592C-8B83-4411-8B26-A396A4EDF5FB}"/>
              </a:ext>
            </a:extLst>
          </p:cNvPr>
          <p:cNvSpPr txBox="1"/>
          <p:nvPr/>
        </p:nvSpPr>
        <p:spPr>
          <a:xfrm>
            <a:off x="679246" y="2867145"/>
            <a:ext cx="24747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 input variables</a:t>
            </a:r>
          </a:p>
          <a:p>
            <a:r>
              <a:rPr lang="en-US" dirty="0"/>
              <a:t>Y = B + x1*w1 + x2*w2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79C1A5-0E2B-4D1E-BB82-7FBD9EE8D7C1}"/>
              </a:ext>
            </a:extLst>
          </p:cNvPr>
          <p:cNvGrpSpPr/>
          <p:nvPr/>
        </p:nvGrpSpPr>
        <p:grpSpPr>
          <a:xfrm>
            <a:off x="4228401" y="3954653"/>
            <a:ext cx="2391910" cy="2702011"/>
            <a:chOff x="4228401" y="3954653"/>
            <a:chExt cx="2391910" cy="2702011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6237B7F-B7D6-4699-B905-2B9006A35B42}"/>
                </a:ext>
              </a:extLst>
            </p:cNvPr>
            <p:cNvSpPr/>
            <p:nvPr/>
          </p:nvSpPr>
          <p:spPr>
            <a:xfrm>
              <a:off x="4228401" y="4942212"/>
              <a:ext cx="727046" cy="678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X3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49D5463-0A42-40EA-9704-45264A8EB6E6}"/>
                </a:ext>
              </a:extLst>
            </p:cNvPr>
            <p:cNvSpPr/>
            <p:nvPr/>
          </p:nvSpPr>
          <p:spPr>
            <a:xfrm>
              <a:off x="4228401" y="5978457"/>
              <a:ext cx="727046" cy="678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/>
                <a:t>Xn</a:t>
              </a:r>
              <a:endParaRPr lang="en-US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D4C51357-82BD-4C37-801A-FB052A2B2224}"/>
                </a:ext>
              </a:extLst>
            </p:cNvPr>
            <p:cNvCxnSpPr>
              <a:cxnSpLocks/>
              <a:stCxn id="23" idx="6"/>
              <a:endCxn id="12" idx="2"/>
            </p:cNvCxnSpPr>
            <p:nvPr/>
          </p:nvCxnSpPr>
          <p:spPr>
            <a:xfrm flipV="1">
              <a:off x="4955447" y="3954653"/>
              <a:ext cx="1664864" cy="132666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99F92288-0E37-475F-BF4F-61610FCFA378}"/>
                </a:ext>
              </a:extLst>
            </p:cNvPr>
            <p:cNvCxnSpPr>
              <a:cxnSpLocks/>
              <a:stCxn id="25" idx="7"/>
              <a:endCxn id="12" idx="2"/>
            </p:cNvCxnSpPr>
            <p:nvPr/>
          </p:nvCxnSpPr>
          <p:spPr>
            <a:xfrm flipV="1">
              <a:off x="4848974" y="3954653"/>
              <a:ext cx="1771337" cy="2123125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21" name="TextBox 5120">
              <a:extLst>
                <a:ext uri="{FF2B5EF4-FFF2-40B4-BE49-F238E27FC236}">
                  <a16:creationId xmlns:a16="http://schemas.microsoft.com/office/drawing/2014/main" id="{498B03C7-0F00-4F88-8EBE-93A893D39643}"/>
                </a:ext>
              </a:extLst>
            </p:cNvPr>
            <p:cNvSpPr txBox="1"/>
            <p:nvPr/>
          </p:nvSpPr>
          <p:spPr>
            <a:xfrm>
              <a:off x="5226215" y="4524852"/>
              <a:ext cx="62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w3</a:t>
              </a:r>
            </a:p>
          </p:txBody>
        </p:sp>
        <p:sp>
          <p:nvSpPr>
            <p:cNvPr id="5123" name="TextBox 5122">
              <a:extLst>
                <a:ext uri="{FF2B5EF4-FFF2-40B4-BE49-F238E27FC236}">
                  <a16:creationId xmlns:a16="http://schemas.microsoft.com/office/drawing/2014/main" id="{B263C352-A789-4624-96F9-0609E0A78E09}"/>
                </a:ext>
              </a:extLst>
            </p:cNvPr>
            <p:cNvSpPr txBox="1"/>
            <p:nvPr/>
          </p:nvSpPr>
          <p:spPr>
            <a:xfrm>
              <a:off x="5311501" y="5344250"/>
              <a:ext cx="62637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/>
                <a:t>wn</a:t>
              </a:r>
              <a:endParaRPr lang="en-US" dirty="0"/>
            </a:p>
          </p:txBody>
        </p:sp>
      </p:grpSp>
      <p:sp>
        <p:nvSpPr>
          <p:cNvPr id="5125" name="TextBox 5124">
            <a:extLst>
              <a:ext uri="{FF2B5EF4-FFF2-40B4-BE49-F238E27FC236}">
                <a16:creationId xmlns:a16="http://schemas.microsoft.com/office/drawing/2014/main" id="{EEDCFCDD-CDAA-4012-BAF6-836B26B01F75}"/>
              </a:ext>
            </a:extLst>
          </p:cNvPr>
          <p:cNvSpPr txBox="1"/>
          <p:nvPr/>
        </p:nvSpPr>
        <p:spPr>
          <a:xfrm>
            <a:off x="662731" y="4031046"/>
            <a:ext cx="37723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 input variables</a:t>
            </a:r>
          </a:p>
          <a:p>
            <a:r>
              <a:rPr lang="en-US" dirty="0"/>
              <a:t>Y = B + x1*w1 + x2*w2 + ... + </a:t>
            </a:r>
            <a:r>
              <a:rPr lang="en-US" dirty="0" err="1"/>
              <a:t>x</a:t>
            </a:r>
            <a:r>
              <a:rPr lang="en-US" sz="1400" dirty="0" err="1"/>
              <a:t>n</a:t>
            </a:r>
            <a:r>
              <a:rPr lang="en-US" dirty="0"/>
              <a:t>* </a:t>
            </a:r>
            <a:r>
              <a:rPr lang="en-US" dirty="0" err="1"/>
              <a:t>W</a:t>
            </a:r>
            <a:r>
              <a:rPr lang="en-US" sz="1400" dirty="0" err="1"/>
              <a:t>n</a:t>
            </a:r>
            <a:endParaRPr lang="en-US" sz="1400" dirty="0"/>
          </a:p>
          <a:p>
            <a:r>
              <a:rPr lang="en-US" dirty="0"/>
              <a:t>Y = B + </a:t>
            </a:r>
            <a:r>
              <a:rPr lang="el-GR" dirty="0"/>
              <a:t>Σ</a:t>
            </a:r>
            <a:r>
              <a:rPr lang="en-US" dirty="0"/>
              <a:t> x</a:t>
            </a:r>
            <a:r>
              <a:rPr lang="en-US" sz="1400" dirty="0"/>
              <a:t>i</a:t>
            </a:r>
            <a:r>
              <a:rPr lang="en-US" dirty="0"/>
              <a:t>* </a:t>
            </a:r>
            <a:r>
              <a:rPr lang="en-US" dirty="0" err="1"/>
              <a:t>w</a:t>
            </a:r>
            <a:r>
              <a:rPr lang="en-US" sz="1400" dirty="0" err="1"/>
              <a:t>i</a:t>
            </a:r>
            <a:endParaRPr lang="en-US" dirty="0"/>
          </a:p>
        </p:txBody>
      </p:sp>
      <p:pic>
        <p:nvPicPr>
          <p:cNvPr id="5126" name="Picture 2" descr="Solution Mode Thinking - IRM Training">
            <a:extLst>
              <a:ext uri="{FF2B5EF4-FFF2-40B4-BE49-F238E27FC236}">
                <a16:creationId xmlns:a16="http://schemas.microsoft.com/office/drawing/2014/main" id="{CD959682-FBA7-4483-96D5-0FC038A6A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2117">
            <a:off x="9922228" y="778568"/>
            <a:ext cx="1992649" cy="132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7" name="Rectangle 5126">
            <a:extLst>
              <a:ext uri="{FF2B5EF4-FFF2-40B4-BE49-F238E27FC236}">
                <a16:creationId xmlns:a16="http://schemas.microsoft.com/office/drawing/2014/main" id="{81299938-128F-462B-AFD2-4DD5F652141E}"/>
              </a:ext>
            </a:extLst>
          </p:cNvPr>
          <p:cNvSpPr/>
          <p:nvPr/>
        </p:nvSpPr>
        <p:spPr>
          <a:xfrm>
            <a:off x="5734642" y="5616113"/>
            <a:ext cx="492339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Find the Weights</a:t>
            </a:r>
          </a:p>
        </p:txBody>
      </p:sp>
    </p:spTree>
    <p:extLst>
      <p:ext uri="{BB962C8B-B14F-4D97-AF65-F5344CB8AC3E}">
        <p14:creationId xmlns:p14="http://schemas.microsoft.com/office/powerpoint/2010/main" val="3063939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1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037C3-E94F-4733-960F-E1377EFF9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Categorial problem – The agreement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73287D-EFAA-4179-810D-E76C3AD4C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Ganz depends on Bibi</a:t>
            </a:r>
          </a:p>
          <a:p>
            <a:r>
              <a:rPr lang="en-US" dirty="0"/>
              <a:t>If Bibi is the PM -&gt; Ganz is not the PM</a:t>
            </a:r>
          </a:p>
          <a:p>
            <a:r>
              <a:rPr lang="en-US" dirty="0"/>
              <a:t>If Bibi is not the PM -&gt; Ganz is the PM</a:t>
            </a:r>
          </a:p>
          <a:p>
            <a:r>
              <a:rPr lang="en-US" dirty="0"/>
              <a:t>Let’s define that being the PM gets the value of 1, otherwise 0</a:t>
            </a:r>
          </a:p>
        </p:txBody>
      </p:sp>
      <p:pic>
        <p:nvPicPr>
          <p:cNvPr id="19460" name="Picture 4" descr="ביבי או גנץ? סקר הבחירות של אתר be106 יעלה במוצאי שבת 9/3 - BE106 חדשות  ראשון לציון">
            <a:extLst>
              <a:ext uri="{FF2B5EF4-FFF2-40B4-BE49-F238E27FC236}">
                <a16:creationId xmlns:a16="http://schemas.microsoft.com/office/drawing/2014/main" id="{DF488C85-6CF5-4847-836B-6CDC18487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5002" y="860177"/>
            <a:ext cx="2491532" cy="166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Solution Mode Thinking - IRM Training">
            <a:extLst>
              <a:ext uri="{FF2B5EF4-FFF2-40B4-BE49-F238E27FC236}">
                <a16:creationId xmlns:a16="http://schemas.microsoft.com/office/drawing/2014/main" id="{21C0DC34-9A9D-4FD9-8111-6AE66D347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772117">
            <a:off x="9922228" y="778568"/>
            <a:ext cx="1992649" cy="1328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3006578-F220-46E9-91A3-C6F76878CA10}"/>
              </a:ext>
            </a:extLst>
          </p:cNvPr>
          <p:cNvSpPr txBox="1"/>
          <p:nvPr/>
        </p:nvSpPr>
        <p:spPr>
          <a:xfrm>
            <a:off x="3883056" y="6218244"/>
            <a:ext cx="2391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Solution: B = 1 , W = -1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66F937F-44C7-4A5B-BDC8-98BE6D24EBD0}"/>
              </a:ext>
            </a:extLst>
          </p:cNvPr>
          <p:cNvGrpSpPr/>
          <p:nvPr/>
        </p:nvGrpSpPr>
        <p:grpSpPr>
          <a:xfrm>
            <a:off x="1764613" y="4246375"/>
            <a:ext cx="9031680" cy="1846375"/>
            <a:chOff x="1764613" y="4246375"/>
            <a:chExt cx="9031680" cy="1846375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A163EE46-2A73-4782-A352-D0CB36B52F1A}"/>
                </a:ext>
              </a:extLst>
            </p:cNvPr>
            <p:cNvCxnSpPr>
              <a:cxnSpLocks/>
              <a:stCxn id="12" idx="6"/>
              <a:endCxn id="11" idx="2"/>
            </p:cNvCxnSpPr>
            <p:nvPr/>
          </p:nvCxnSpPr>
          <p:spPr>
            <a:xfrm flipV="1">
              <a:off x="4491780" y="5438298"/>
              <a:ext cx="1651758" cy="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1119117-6A4C-40DC-9EF6-2AC67C8CDBA6}"/>
                </a:ext>
              </a:extLst>
            </p:cNvPr>
            <p:cNvSpPr txBox="1"/>
            <p:nvPr/>
          </p:nvSpPr>
          <p:spPr>
            <a:xfrm>
              <a:off x="4970931" y="5074028"/>
              <a:ext cx="8102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W = ?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788546B-D5F5-4949-AB14-C369CEF41C93}"/>
                </a:ext>
              </a:extLst>
            </p:cNvPr>
            <p:cNvSpPr/>
            <p:nvPr/>
          </p:nvSpPr>
          <p:spPr>
            <a:xfrm>
              <a:off x="6143538" y="5099194"/>
              <a:ext cx="921391" cy="678207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PM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70BBBA55-C819-4B77-9773-4FC6C2070639}"/>
                </a:ext>
              </a:extLst>
            </p:cNvPr>
            <p:cNvSpPr/>
            <p:nvPr/>
          </p:nvSpPr>
          <p:spPr>
            <a:xfrm>
              <a:off x="3764734" y="5099195"/>
              <a:ext cx="727046" cy="678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pic>
          <p:nvPicPr>
            <p:cNvPr id="13" name="Picture 4" descr="ביבי או גנץ? סקר הבחירות של אתר be106 יעלה במוצאי שבת 9/3 - BE106 חדשות  ראשון לציון">
              <a:extLst>
                <a:ext uri="{FF2B5EF4-FFF2-40B4-BE49-F238E27FC236}">
                  <a16:creationId xmlns:a16="http://schemas.microsoft.com/office/drawing/2014/main" id="{34220FAC-20A8-498B-AFDD-BF10881834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1852"/>
            <a:stretch/>
          </p:blipFill>
          <p:spPr bwMode="auto">
            <a:xfrm>
              <a:off x="7181525" y="4992311"/>
              <a:ext cx="783265" cy="1084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ביבי או גנץ? סקר הבחירות של אתר be106 יעלה במוצאי שבת 9/3 - BE106 חדשות  ראשון לציון">
              <a:extLst>
                <a:ext uri="{FF2B5EF4-FFF2-40B4-BE49-F238E27FC236}">
                  <a16:creationId xmlns:a16="http://schemas.microsoft.com/office/drawing/2014/main" id="{C5704BF1-A85E-4156-9D2E-344C2BD73FB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852"/>
            <a:stretch/>
          </p:blipFill>
          <p:spPr bwMode="auto">
            <a:xfrm>
              <a:off x="2580106" y="5008228"/>
              <a:ext cx="783266" cy="1084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9462" name="Picture 6" descr="Digital Logic NOT Gate - Arduino Tricks">
              <a:extLst>
                <a:ext uri="{FF2B5EF4-FFF2-40B4-BE49-F238E27FC236}">
                  <a16:creationId xmlns:a16="http://schemas.microsoft.com/office/drawing/2014/main" id="{129137CD-44AB-498D-9251-67E0C1B0F7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33144" y="4921152"/>
              <a:ext cx="1863149" cy="9498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61F85A7-F02F-49B0-B281-804A79FD0C0D}"/>
                </a:ext>
              </a:extLst>
            </p:cNvPr>
            <p:cNvSpPr/>
            <p:nvPr/>
          </p:nvSpPr>
          <p:spPr>
            <a:xfrm>
              <a:off x="3751628" y="4246375"/>
              <a:ext cx="727046" cy="67820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207F483-758D-421C-9689-7D32577E1BC1}"/>
                </a:ext>
              </a:extLst>
            </p:cNvPr>
            <p:cNvCxnSpPr>
              <a:cxnSpLocks/>
            </p:cNvCxnSpPr>
            <p:nvPr/>
          </p:nvCxnSpPr>
          <p:spPr>
            <a:xfrm>
              <a:off x="4478674" y="4585478"/>
              <a:ext cx="1664864" cy="84775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B2AB5F81-2E4B-48CC-9FFE-F95BF3252AA2}"/>
                </a:ext>
              </a:extLst>
            </p:cNvPr>
            <p:cNvSpPr txBox="1"/>
            <p:nvPr/>
          </p:nvSpPr>
          <p:spPr>
            <a:xfrm>
              <a:off x="4970931" y="4457679"/>
              <a:ext cx="63615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 = 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66C4329-9428-463E-9A45-E8B213E588A1}"/>
                    </a:ext>
                  </a:extLst>
                </p:cNvPr>
                <p:cNvSpPr txBox="1"/>
                <p:nvPr/>
              </p:nvSpPr>
              <p:spPr>
                <a:xfrm>
                  <a:off x="1764613" y="5304860"/>
                  <a:ext cx="75719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B66C4329-9428-463E-9A45-E8B213E588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64613" y="5304860"/>
                  <a:ext cx="757195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4000" b="-65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0C0034-FDAF-4235-AE12-E89392861C66}"/>
                    </a:ext>
                  </a:extLst>
                </p:cNvPr>
                <p:cNvSpPr txBox="1"/>
                <p:nvPr/>
              </p:nvSpPr>
              <p:spPr>
                <a:xfrm>
                  <a:off x="7962141" y="5247296"/>
                  <a:ext cx="750783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1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𝜖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110C0034-FDAF-4235-AE12-E89392861C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62141" y="5247296"/>
                  <a:ext cx="750783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7317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0639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5CDC9-D1D7-4457-8BF4-11A2CE88D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non-linear functions?</a:t>
            </a:r>
          </a:p>
        </p:txBody>
      </p:sp>
      <p:pic>
        <p:nvPicPr>
          <p:cNvPr id="2050" name="Picture 2" descr="How to Recognize Linear Functions vs Non-Linear Functions - Video &amp; Lesson  Transcript | Study.com">
            <a:extLst>
              <a:ext uri="{FF2B5EF4-FFF2-40B4-BE49-F238E27FC236}">
                <a16:creationId xmlns:a16="http://schemas.microsoft.com/office/drawing/2014/main" id="{7F38EAEE-F30A-4039-A60E-9200B53D3D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74" y="2227102"/>
            <a:ext cx="6164532" cy="3131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tep function - Wikipedia">
            <a:extLst>
              <a:ext uri="{FF2B5EF4-FFF2-40B4-BE49-F238E27FC236}">
                <a16:creationId xmlns:a16="http://schemas.microsoft.com/office/drawing/2014/main" id="{EAE75B4D-2D2F-4C87-B4D3-13B91E2C1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0764" y="2403270"/>
            <a:ext cx="4158876" cy="2873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061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A97A0-FCF1-47A2-8A38-132A327716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Space</a:t>
            </a:r>
          </a:p>
        </p:txBody>
      </p:sp>
      <p:pic>
        <p:nvPicPr>
          <p:cNvPr id="32770" name="Picture 2" descr="Design Solution Space, Typical Novice Path, and Suggested Impact of... |  Download Scientific Diagram">
            <a:extLst>
              <a:ext uri="{FF2B5EF4-FFF2-40B4-BE49-F238E27FC236}">
                <a16:creationId xmlns:a16="http://schemas.microsoft.com/office/drawing/2014/main" id="{B459CE75-78C4-4C71-AA1C-C98983264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5833" y="3325421"/>
            <a:ext cx="7180334" cy="2379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9541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5596C-2B66-4A27-824B-FE22A0F18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547" y="20542"/>
            <a:ext cx="3328238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Non Linear solution space</a:t>
            </a:r>
          </a:p>
        </p:txBody>
      </p:sp>
      <p:pic>
        <p:nvPicPr>
          <p:cNvPr id="5" name="Picture 4" descr="Spiral Stairs, Technical Spiral Stairs, Spiral Staircase, Outdoor Stairs |  TLC">
            <a:extLst>
              <a:ext uri="{FF2B5EF4-FFF2-40B4-BE49-F238E27FC236}">
                <a16:creationId xmlns:a16="http://schemas.microsoft.com/office/drawing/2014/main" id="{8C854728-9DFF-4926-9543-4ED0F6D62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3161" y="2500371"/>
            <a:ext cx="1916787" cy="3767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4" name="Picture 2" descr="Quality aluminium ladders for professional and domestic use">
            <a:extLst>
              <a:ext uri="{FF2B5EF4-FFF2-40B4-BE49-F238E27FC236}">
                <a16:creationId xmlns:a16="http://schemas.microsoft.com/office/drawing/2014/main" id="{D3255000-0130-4635-93BA-F65A90303D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27" r="30638"/>
          <a:stretch/>
        </p:blipFill>
        <p:spPr bwMode="auto">
          <a:xfrm>
            <a:off x="8163095" y="2733019"/>
            <a:ext cx="1718333" cy="36267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2886F-F243-47C7-B608-101496837900}"/>
              </a:ext>
            </a:extLst>
          </p:cNvPr>
          <p:cNvSpPr/>
          <p:nvPr/>
        </p:nvSpPr>
        <p:spPr>
          <a:xfrm>
            <a:off x="6423171" y="6175608"/>
            <a:ext cx="4844742" cy="1673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11EFCAA-77D2-4EDF-BDB9-79554EB5F10F}"/>
              </a:ext>
            </a:extLst>
          </p:cNvPr>
          <p:cNvSpPr/>
          <p:nvPr/>
        </p:nvSpPr>
        <p:spPr>
          <a:xfrm>
            <a:off x="6423171" y="3110219"/>
            <a:ext cx="1718333" cy="167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E34E73-1731-4124-8E7C-EC78F01A2CBD}"/>
              </a:ext>
            </a:extLst>
          </p:cNvPr>
          <p:cNvSpPr/>
          <p:nvPr/>
        </p:nvSpPr>
        <p:spPr>
          <a:xfrm>
            <a:off x="9326257" y="3110219"/>
            <a:ext cx="1941656" cy="167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796" name="Picture 4" descr="87% OFF - Swaim Swaim Furniture End Table Cabinet / Tables">
            <a:extLst>
              <a:ext uri="{FF2B5EF4-FFF2-40B4-BE49-F238E27FC236}">
                <a16:creationId xmlns:a16="http://schemas.microsoft.com/office/drawing/2014/main" id="{205D98A5-A416-4700-8C48-2BB2C62747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4" b="11212"/>
          <a:stretch/>
        </p:blipFill>
        <p:spPr bwMode="auto">
          <a:xfrm>
            <a:off x="9607091" y="5085170"/>
            <a:ext cx="1379989" cy="107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8" name="Picture 6" descr="50+ Best Online Furniture Stores - Websites to Buy Furniture Online">
            <a:extLst>
              <a:ext uri="{FF2B5EF4-FFF2-40B4-BE49-F238E27FC236}">
                <a16:creationId xmlns:a16="http://schemas.microsoft.com/office/drawing/2014/main" id="{8360DD4A-D71B-461B-980E-4BBF7D1B88A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19" t="30949" r="15314" b="24186"/>
          <a:stretch/>
        </p:blipFill>
        <p:spPr bwMode="auto">
          <a:xfrm>
            <a:off x="6423170" y="5039799"/>
            <a:ext cx="1575045" cy="110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2E3F4F5-4270-40C6-8DE8-2EF2B0E60C5D}"/>
              </a:ext>
            </a:extLst>
          </p:cNvPr>
          <p:cNvSpPr/>
          <p:nvPr/>
        </p:nvSpPr>
        <p:spPr>
          <a:xfrm>
            <a:off x="787161" y="6177006"/>
            <a:ext cx="4844742" cy="16734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F1A449D-04B8-48B4-9512-0D8E5079F762}"/>
              </a:ext>
            </a:extLst>
          </p:cNvPr>
          <p:cNvSpPr/>
          <p:nvPr/>
        </p:nvSpPr>
        <p:spPr>
          <a:xfrm>
            <a:off x="787161" y="3111617"/>
            <a:ext cx="1718333" cy="167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8DCD924-0746-4242-AD43-995747776962}"/>
              </a:ext>
            </a:extLst>
          </p:cNvPr>
          <p:cNvSpPr/>
          <p:nvPr/>
        </p:nvSpPr>
        <p:spPr>
          <a:xfrm>
            <a:off x="3690247" y="3111617"/>
            <a:ext cx="1941656" cy="1677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4" descr="87% OFF - Swaim Swaim Furniture End Table Cabinet / Tables">
            <a:extLst>
              <a:ext uri="{FF2B5EF4-FFF2-40B4-BE49-F238E27FC236}">
                <a16:creationId xmlns:a16="http://schemas.microsoft.com/office/drawing/2014/main" id="{354307F9-A9D3-4351-9C77-94D0844BEA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954" b="11212"/>
          <a:stretch/>
        </p:blipFill>
        <p:spPr bwMode="auto">
          <a:xfrm>
            <a:off x="3971081" y="5086568"/>
            <a:ext cx="1379989" cy="10740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6" descr="50+ Best Online Furniture Stores - Websites to Buy Furniture Online">
            <a:extLst>
              <a:ext uri="{FF2B5EF4-FFF2-40B4-BE49-F238E27FC236}">
                <a16:creationId xmlns:a16="http://schemas.microsoft.com/office/drawing/2014/main" id="{78EF46B0-FB22-4E20-87B1-348275FE691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219" t="30949" r="15314" b="24186"/>
          <a:stretch/>
        </p:blipFill>
        <p:spPr bwMode="auto">
          <a:xfrm>
            <a:off x="787160" y="5041197"/>
            <a:ext cx="1575045" cy="1109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utoShape 14" descr="Banner - Epsom Darker Leg">
            <a:extLst>
              <a:ext uri="{FF2B5EF4-FFF2-40B4-BE49-F238E27FC236}">
                <a16:creationId xmlns:a16="http://schemas.microsoft.com/office/drawing/2014/main" id="{133662BA-525F-438A-960C-EC29FB5149D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70771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3808" name="Picture 16" descr="1001Now Cesano 63&quot; Seamless Freestanding Acrylic Bathtub - Kitchen and Bath  Masters">
            <a:extLst>
              <a:ext uri="{FF2B5EF4-FFF2-40B4-BE49-F238E27FC236}">
                <a16:creationId xmlns:a16="http://schemas.microsoft.com/office/drawing/2014/main" id="{647890A5-4C82-4822-891B-4A64B3203A7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" t="31437" r="7202" b="31865"/>
          <a:stretch/>
        </p:blipFill>
        <p:spPr bwMode="auto">
          <a:xfrm>
            <a:off x="6335037" y="2139193"/>
            <a:ext cx="1810833" cy="94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6" descr="1001Now Cesano 63&quot; Seamless Freestanding Acrylic Bathtub - Kitchen and Bath  Masters">
            <a:extLst>
              <a:ext uri="{FF2B5EF4-FFF2-40B4-BE49-F238E27FC236}">
                <a16:creationId xmlns:a16="http://schemas.microsoft.com/office/drawing/2014/main" id="{34D00D20-A165-42FA-9F41-E60A9140BF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5" t="31437" r="7202" b="31865"/>
          <a:stretch/>
        </p:blipFill>
        <p:spPr bwMode="auto">
          <a:xfrm>
            <a:off x="740910" y="2135944"/>
            <a:ext cx="1810833" cy="9406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Parallelogram 30">
            <a:extLst>
              <a:ext uri="{FF2B5EF4-FFF2-40B4-BE49-F238E27FC236}">
                <a16:creationId xmlns:a16="http://schemas.microsoft.com/office/drawing/2014/main" id="{39BD5A49-98EA-46A9-96D6-EC42D79BC3F6}"/>
              </a:ext>
            </a:extLst>
          </p:cNvPr>
          <p:cNvSpPr/>
          <p:nvPr/>
        </p:nvSpPr>
        <p:spPr>
          <a:xfrm rot="20583896">
            <a:off x="5514046" y="1227859"/>
            <a:ext cx="2940030" cy="236493"/>
          </a:xfrm>
          <a:prstGeom prst="parallelogram">
            <a:avLst/>
          </a:prstGeom>
          <a:solidFill>
            <a:srgbClr val="CD3B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4E37E2CA-8E67-4CC1-B6F6-D9EA0D55CEA6}"/>
              </a:ext>
            </a:extLst>
          </p:cNvPr>
          <p:cNvSpPr/>
          <p:nvPr/>
        </p:nvSpPr>
        <p:spPr>
          <a:xfrm rot="883941">
            <a:off x="8198887" y="1243104"/>
            <a:ext cx="3599975" cy="262030"/>
          </a:xfrm>
          <a:prstGeom prst="parallelogram">
            <a:avLst/>
          </a:prstGeom>
          <a:solidFill>
            <a:srgbClr val="CD3B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Parallelogram 33">
            <a:extLst>
              <a:ext uri="{FF2B5EF4-FFF2-40B4-BE49-F238E27FC236}">
                <a16:creationId xmlns:a16="http://schemas.microsoft.com/office/drawing/2014/main" id="{209F0193-2C6E-428C-B784-F8A79281F08A}"/>
              </a:ext>
            </a:extLst>
          </p:cNvPr>
          <p:cNvSpPr/>
          <p:nvPr/>
        </p:nvSpPr>
        <p:spPr>
          <a:xfrm rot="20583896">
            <a:off x="255541" y="1204090"/>
            <a:ext cx="2940030" cy="236493"/>
          </a:xfrm>
          <a:prstGeom prst="parallelogram">
            <a:avLst/>
          </a:prstGeom>
          <a:solidFill>
            <a:srgbClr val="CD3B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Parallelogram 34">
            <a:extLst>
              <a:ext uri="{FF2B5EF4-FFF2-40B4-BE49-F238E27FC236}">
                <a16:creationId xmlns:a16="http://schemas.microsoft.com/office/drawing/2014/main" id="{838109FC-2369-4C82-AC36-40AD6625ABB3}"/>
              </a:ext>
            </a:extLst>
          </p:cNvPr>
          <p:cNvSpPr/>
          <p:nvPr/>
        </p:nvSpPr>
        <p:spPr>
          <a:xfrm rot="883941">
            <a:off x="2940382" y="1219335"/>
            <a:ext cx="3599975" cy="262030"/>
          </a:xfrm>
          <a:prstGeom prst="parallelogram">
            <a:avLst/>
          </a:prstGeom>
          <a:solidFill>
            <a:srgbClr val="CD3B6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485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B77E-B3AC-4D73-8DF6-C0FD8FCEC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space</a:t>
            </a:r>
          </a:p>
        </p:txBody>
      </p:sp>
      <p:pic>
        <p:nvPicPr>
          <p:cNvPr id="28674" name="Picture 2" descr="Linear Transformation -- from Wolfram MathWorld">
            <a:extLst>
              <a:ext uri="{FF2B5EF4-FFF2-40B4-BE49-F238E27FC236}">
                <a16:creationId xmlns:a16="http://schemas.microsoft.com/office/drawing/2014/main" id="{C8F9FA51-0E8F-4066-9095-78FECF0DEF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35" y="2302385"/>
            <a:ext cx="3262793" cy="314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603395C9-001D-463F-883D-A996DB211C43}"/>
              </a:ext>
            </a:extLst>
          </p:cNvPr>
          <p:cNvGrpSpPr/>
          <p:nvPr/>
        </p:nvGrpSpPr>
        <p:grpSpPr>
          <a:xfrm>
            <a:off x="6358855" y="2302385"/>
            <a:ext cx="4296222" cy="3385351"/>
            <a:chOff x="6358855" y="2302385"/>
            <a:chExt cx="4296222" cy="3385351"/>
          </a:xfrm>
        </p:grpSpPr>
        <p:pic>
          <p:nvPicPr>
            <p:cNvPr id="28676" name="Picture 4" descr="The nonlinear transformation defining the conjugate variable (29) for ?...  | Download Scientific Diagram">
              <a:extLst>
                <a:ext uri="{FF2B5EF4-FFF2-40B4-BE49-F238E27FC236}">
                  <a16:creationId xmlns:a16="http://schemas.microsoft.com/office/drawing/2014/main" id="{B2981067-2CDD-4054-920D-3EE6EAF588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46" b="4187"/>
            <a:stretch/>
          </p:blipFill>
          <p:spPr bwMode="auto">
            <a:xfrm>
              <a:off x="6358855" y="2302385"/>
              <a:ext cx="4296222" cy="33853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1FAE40A-812C-495B-BF65-6FD3200FDF4E}"/>
                </a:ext>
              </a:extLst>
            </p:cNvPr>
            <p:cNvSpPr/>
            <p:nvPr/>
          </p:nvSpPr>
          <p:spPr>
            <a:xfrm>
              <a:off x="8942664" y="2474752"/>
              <a:ext cx="1400962" cy="13590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94100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FCCCF-D08F-44E3-A72E-94461E01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 Linear solution</a:t>
            </a:r>
          </a:p>
        </p:txBody>
      </p:sp>
      <p:pic>
        <p:nvPicPr>
          <p:cNvPr id="31750" name="Picture 6" descr="How to Create Nonlinear Models with Data Projection | by ODSC - Open Data  Science | Medium">
            <a:extLst>
              <a:ext uri="{FF2B5EF4-FFF2-40B4-BE49-F238E27FC236}">
                <a16:creationId xmlns:a16="http://schemas.microsoft.com/office/drawing/2014/main" id="{4C3D0B9F-BB84-4934-AC56-04117C677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3138" y="2594585"/>
            <a:ext cx="4177717" cy="3175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52" name="Picture 8" descr="Illustration of nonlinear data separation by mapping to a higher... |  Download Scientific Diagram">
            <a:extLst>
              <a:ext uri="{FF2B5EF4-FFF2-40B4-BE49-F238E27FC236}">
                <a16:creationId xmlns:a16="http://schemas.microsoft.com/office/drawing/2014/main" id="{99EF8949-1C32-4D90-BAB3-96DEEC7FAA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8186" y="2592323"/>
            <a:ext cx="4238088" cy="3015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9854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F5BB5-1F55-4377-AF5E-6207F9E9E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space</a:t>
            </a:r>
          </a:p>
        </p:txBody>
      </p:sp>
      <p:pic>
        <p:nvPicPr>
          <p:cNvPr id="30722" name="Picture 2" descr="Linear and/or nonlinear transformation models can be implemented during the post-processing phase of the acquired data. Linear models include translation, rigid (translation + rotation), similarity (translation + rotation + scale), affine and projective transformations. Nonlinear models, which consider non-linear transformations allow for more complex deformations.">
            <a:extLst>
              <a:ext uri="{FF2B5EF4-FFF2-40B4-BE49-F238E27FC236}">
                <a16:creationId xmlns:a16="http://schemas.microsoft.com/office/drawing/2014/main" id="{A7917F13-AA74-4066-A090-7434423EEE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09" y="2147582"/>
            <a:ext cx="5340222" cy="4011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24" name="Picture 4" descr="Examples Of Nonlinear Two Dimensional Transformations - YouTube">
            <a:extLst>
              <a:ext uri="{FF2B5EF4-FFF2-40B4-BE49-F238E27FC236}">
                <a16:creationId xmlns:a16="http://schemas.microsoft.com/office/drawing/2014/main" id="{85A401EF-F3F4-4284-9CDB-10D89557A2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6969" y="3015318"/>
            <a:ext cx="5176007" cy="291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4329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3CD79-3B79-41AC-8CD0-AAEC99039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home message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007AA-9543-4600-A497-E05E8E92B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5016"/>
            <a:ext cx="10515600" cy="4351338"/>
          </a:xfrm>
        </p:spPr>
        <p:txBody>
          <a:bodyPr>
            <a:normAutofit/>
          </a:bodyPr>
          <a:lstStyle/>
          <a:p>
            <a:r>
              <a:rPr lang="en-US" dirty="0"/>
              <a:t>A Neural Network can be viewed as a function that maps input to output. The goal is to find this function.</a:t>
            </a:r>
          </a:p>
          <a:p>
            <a:r>
              <a:rPr lang="en-US" dirty="0"/>
              <a:t>A network is a set of nodes and edges. The nodes interact through the edges.</a:t>
            </a:r>
          </a:p>
          <a:p>
            <a:r>
              <a:rPr lang="en-US" dirty="0"/>
              <a:t>We can view Linear Regression and the NOT operator as a simple linear network.</a:t>
            </a:r>
          </a:p>
          <a:p>
            <a:r>
              <a:rPr lang="en-US" dirty="0"/>
              <a:t>Using only linear functions provides </a:t>
            </a:r>
            <a:r>
              <a:rPr lang="en-US"/>
              <a:t>a limited </a:t>
            </a:r>
            <a:r>
              <a:rPr lang="en-US" dirty="0"/>
              <a:t>solution space.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pic>
        <p:nvPicPr>
          <p:cNvPr id="3078" name="Picture 6" descr="Take Home Message for Women">
            <a:extLst>
              <a:ext uri="{FF2B5EF4-FFF2-40B4-BE49-F238E27FC236}">
                <a16:creationId xmlns:a16="http://schemas.microsoft.com/office/drawing/2014/main" id="{4CC3BE3B-28B7-4776-923E-64749F822E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4392" y="365125"/>
            <a:ext cx="1813683" cy="1666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5890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29717</TotalTime>
  <Words>392</Words>
  <Application>Microsoft Office PowerPoint</Application>
  <PresentationFormat>Widescreen</PresentationFormat>
  <Paragraphs>107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Calibri Light</vt:lpstr>
      <vt:lpstr>Cambria Math</vt:lpstr>
      <vt:lpstr>Office Theme</vt:lpstr>
      <vt:lpstr>Neural Network is a function machine</vt:lpstr>
      <vt:lpstr>Neural Network is a function machine</vt:lpstr>
      <vt:lpstr>Neural Network is a function machine</vt:lpstr>
      <vt:lpstr>PowerPoint Presentation</vt:lpstr>
      <vt:lpstr>PowerPoint Presentation</vt:lpstr>
      <vt:lpstr>Network</vt:lpstr>
      <vt:lpstr>Network</vt:lpstr>
      <vt:lpstr>Adding Bias</vt:lpstr>
      <vt:lpstr>Network solution for linear regression</vt:lpstr>
      <vt:lpstr>Network #2 – Multiple Linear Regression</vt:lpstr>
      <vt:lpstr>Categorial problem – The agreement</vt:lpstr>
      <vt:lpstr>What about non-linear functions?</vt:lpstr>
      <vt:lpstr>Solution Space</vt:lpstr>
      <vt:lpstr>Non Linear solution space</vt:lpstr>
      <vt:lpstr>Solution space</vt:lpstr>
      <vt:lpstr>Non Linear solution</vt:lpstr>
      <vt:lpstr>Solution space</vt:lpstr>
      <vt:lpstr>Take home message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benny bornfeld</dc:creator>
  <cp:lastModifiedBy>benny bornfeld</cp:lastModifiedBy>
  <cp:revision>168</cp:revision>
  <dcterms:created xsi:type="dcterms:W3CDTF">2019-09-19T08:43:48Z</dcterms:created>
  <dcterms:modified xsi:type="dcterms:W3CDTF">2021-10-21T10:58:19Z</dcterms:modified>
</cp:coreProperties>
</file>
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2" r:id="rId2"/>
    <p:sldId id="291" r:id="rId3"/>
    <p:sldId id="293" r:id="rId4"/>
    <p:sldId id="294" r:id="rId5"/>
    <p:sldId id="295" r:id="rId6"/>
    <p:sldId id="296" r:id="rId7"/>
    <p:sldId id="299" r:id="rId8"/>
    <p:sldId id="300" r:id="rId9"/>
    <p:sldId id="302" r:id="rId10"/>
    <p:sldId id="303" r:id="rId11"/>
    <p:sldId id="304" r:id="rId12"/>
    <p:sldId id="322" r:id="rId13"/>
    <p:sldId id="305" r:id="rId14"/>
    <p:sldId id="306" r:id="rId15"/>
    <p:sldId id="307" r:id="rId16"/>
    <p:sldId id="312" r:id="rId17"/>
    <p:sldId id="309" r:id="rId18"/>
    <p:sldId id="310" r:id="rId19"/>
    <p:sldId id="297" r:id="rId20"/>
    <p:sldId id="301" r:id="rId21"/>
    <p:sldId id="298" r:id="rId22"/>
    <p:sldId id="31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D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FB248-2A58-4B39-AD12-D26A5D37A8D6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E69DA-B2B9-45EF-A334-D9E70ED3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4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2A34-85FA-474D-98B0-2E1B093AE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363F1-A9AC-4BFF-9EC2-506303B61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C48D3-F577-42D9-A0AD-6205B278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92984-2BC3-4EAD-9B9C-34C7F3DD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9F9E-D339-40A7-AB13-9023E48F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1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A9F8-CE3A-4080-AC0C-4274FA80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8D37-DE9E-4294-A5FE-92A2AF34A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54F1B-BAAA-432C-91BF-AEBCB08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9904-EF6F-4828-9476-4C323B92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F3841-EB6A-4070-B5E0-299E9359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5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D31A-E701-4529-B72E-3D22C6CF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6C7E9-13B9-4A63-90CD-46161F817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BB43-7CD4-49D7-BA8D-56520AD8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23ABB-EED8-446E-A622-6B4DD107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BFDB-ED99-457C-B7FB-A6F1B52E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1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61C0-36B5-46B4-8923-39FB808C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8E7E-3C48-41D9-A924-8E4203CB6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4DA01-3FAF-413F-A085-F530A9B2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E1BE-D150-47FC-956D-41E9D22C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2363D-AC6A-4809-A411-1C58F401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DB6C4-9CF6-452F-AED9-F13123C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8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AC51-3D90-4C9C-9FCC-38BBB84C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F9432-8714-4203-9DAD-BC2A340D0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82BFD-6B6F-4F2A-A3C9-C16F6BDEF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97129-598A-4C59-ACCE-138355E0C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4ADE9-D642-49C0-916D-9BD2F0C9B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1BDD6-14BF-4E78-8426-DA0DB5EA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E2DA2-0B2C-4DA6-AAC2-9A40B5EF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21240-E0C6-4608-BE63-43501FD9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1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AE6B-DCE6-4F4A-9D73-4BFEC79D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4C96D-88E5-4A95-BD68-1A57B975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CCCB4-EEF0-455E-A4B1-90AD8875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EDE34-C848-4AB6-BBA3-4F7C7BF8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0A7ED-0316-4E8A-8A5F-08F4445C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9920D-260C-47FA-A968-3A148B06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3E9CC-CEAD-47A4-AF6A-A01D296F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1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0973-52E0-4C20-B8D2-E3626A94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B9FE-04A9-49BC-A6F9-363425455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AAD22-2F19-4E13-A956-28C94BF8B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E9C6E-FA13-4E59-8495-2E5F1F23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2254B-180F-4129-923D-23581699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04E88-79A6-4469-90CE-DE8AB96D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3ABD-F6A0-4686-B3D2-945E3569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F3501-3FFC-4776-8577-4DB87C296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4C62C-8D82-4D99-AFFA-7B37A3651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177DB-905C-446B-BE72-45E9CEB1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D367C-DC64-4A02-8F83-33AA74AB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CF32E-F53E-4D1E-8C13-39979B69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7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807D-2B25-4765-A309-D208487D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ACB1D-B44F-450B-B8EB-35BCBAF10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3D47F-4411-43FB-A178-EA9B0BA7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6001F-BFD0-402F-BEC4-5DF2929F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C2CE-CF8D-4871-A137-D0877B82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7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53047-71EA-4A41-BA03-6C19F5248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F77E-A429-4669-88EE-744346BEE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9A0F-3CB6-4A43-A05E-03D390E3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EC47-595E-4FA0-93E3-CE0B55F7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16D9-208D-459C-B07D-260433D1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5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ADF67-FADC-461C-9E6B-A3D7BBDC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0DF12-2709-41BE-8473-50EAC1D53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626AE-A9D2-4FA5-B994-2B4D93719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5E524-32E3-48E9-B1FB-C22C3A46817E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AFC95-276A-46F7-AE11-C7D024B84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94897-AB13-4E3D-8E1B-683E1FFED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chollet/deep-learning-with-python-notebooks/blob/master/chapter02_mathematical-building-blocks.ipynb" TargetMode="External"/><Relationship Id="rId2" Type="http://schemas.openxmlformats.org/officeDocument/2006/relationships/hyperlink" Target="https://github.com/fchollet/deep-learning-with-python-notebook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27A5-E9B1-453F-8F2C-5CE2C730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Let’s Build a Deep Learning Network!!!!!</a:t>
            </a:r>
          </a:p>
        </p:txBody>
      </p:sp>
      <p:pic>
        <p:nvPicPr>
          <p:cNvPr id="5122" name="Picture 2" descr="EVER-PREPARED - Animal Comedy - Animal Comedy, funny animals, animal gifs">
            <a:extLst>
              <a:ext uri="{FF2B5EF4-FFF2-40B4-BE49-F238E27FC236}">
                <a16:creationId xmlns:a16="http://schemas.microsoft.com/office/drawing/2014/main" id="{7B03BDAE-C065-41F0-8492-E2369266E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901" y="1631631"/>
            <a:ext cx="3741753" cy="505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7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A89EC-A003-44AB-B482-969AF17C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MNIST – The “Hello World” of Deep Learning</a:t>
            </a:r>
          </a:p>
        </p:txBody>
      </p:sp>
      <p:pic>
        <p:nvPicPr>
          <p:cNvPr id="4098" name="Picture 2" descr="Example images from the MNIST dataset. | Download Scientific Diagram">
            <a:extLst>
              <a:ext uri="{FF2B5EF4-FFF2-40B4-BE49-F238E27FC236}">
                <a16:creationId xmlns:a16="http://schemas.microsoft.com/office/drawing/2014/main" id="{ADC1768C-B277-48BB-853E-054E63E49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425" y="1758637"/>
            <a:ext cx="4938232" cy="493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70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81D61-1F67-4CA5-9354-F2E547D8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MNIST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5270C-44F6-47E2-80BC-4E9306129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24000"/>
            <a:ext cx="11012055" cy="4652963"/>
          </a:xfrm>
        </p:spPr>
        <p:txBody>
          <a:bodyPr/>
          <a:lstStyle/>
          <a:p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M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odified 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N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ational 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I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nstitute of 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S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tandards and </a:t>
            </a:r>
            <a:r>
              <a:rPr lang="en-US" b="1" dirty="0">
                <a:solidFill>
                  <a:srgbClr val="202122"/>
                </a:solidFill>
                <a:latin typeface="Arial" panose="020B0604020202020204" pitchFamily="34" charset="0"/>
              </a:rPr>
              <a:t>T</a:t>
            </a:r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echnology database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Contains 60,000 training examples of handwritten images + 10000 test examples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Used for training image classification</a:t>
            </a:r>
          </a:p>
          <a:p>
            <a:r>
              <a:rPr lang="en-US" dirty="0">
                <a:solidFill>
                  <a:srgbClr val="202122"/>
                </a:solidFill>
                <a:latin typeface="Arial" panose="020B0604020202020204" pitchFamily="34" charset="0"/>
              </a:rPr>
              <a:t>Each image is a 28X28 grey value pixel matrix</a:t>
            </a: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</p:txBody>
      </p:sp>
      <p:pic>
        <p:nvPicPr>
          <p:cNvPr id="1026" name="Picture 2" descr="Applied Sciences | Free Full-Text | A Survey of Handwritten Character  Recognition with MNIST and EMNIST | HTML">
            <a:extLst>
              <a:ext uri="{FF2B5EF4-FFF2-40B4-BE49-F238E27FC236}">
                <a16:creationId xmlns:a16="http://schemas.microsoft.com/office/drawing/2014/main" id="{818270EE-C4D1-4132-9F07-75B662F8A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3972502"/>
            <a:ext cx="5500280" cy="2885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87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44A6-0D47-489B-8CD3-C45771E4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– mapping an input image to a digit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B7779-77C1-4584-8AD3-00AA4644C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4" r="56290" b="62878"/>
          <a:stretch/>
        </p:blipFill>
        <p:spPr>
          <a:xfrm>
            <a:off x="1444338" y="2509693"/>
            <a:ext cx="9143040" cy="3722255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783C1FD-6D21-4DAA-9FA9-A65E62AF9748}"/>
              </a:ext>
            </a:extLst>
          </p:cNvPr>
          <p:cNvGrpSpPr/>
          <p:nvPr/>
        </p:nvGrpSpPr>
        <p:grpSpPr>
          <a:xfrm>
            <a:off x="1536717" y="1943100"/>
            <a:ext cx="8321067" cy="4848996"/>
            <a:chOff x="1536717" y="1943100"/>
            <a:chExt cx="8321067" cy="4848996"/>
          </a:xfrm>
        </p:grpSpPr>
        <p:pic>
          <p:nvPicPr>
            <p:cNvPr id="2052" name="Picture 4" descr="Function examples - Math Insight">
              <a:extLst>
                <a:ext uri="{FF2B5EF4-FFF2-40B4-BE49-F238E27FC236}">
                  <a16:creationId xmlns:a16="http://schemas.microsoft.com/office/drawing/2014/main" id="{4077A33C-9DD4-40BE-A122-459712B11B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134"/>
            <a:stretch/>
          </p:blipFill>
          <p:spPr bwMode="auto">
            <a:xfrm>
              <a:off x="3631623" y="2162464"/>
              <a:ext cx="4110857" cy="4232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Arrow: Curved Down 5">
              <a:extLst>
                <a:ext uri="{FF2B5EF4-FFF2-40B4-BE49-F238E27FC236}">
                  <a16:creationId xmlns:a16="http://schemas.microsoft.com/office/drawing/2014/main" id="{D219CFCE-90C4-4DC3-9D7C-BA542DBEA16A}"/>
                </a:ext>
              </a:extLst>
            </p:cNvPr>
            <p:cNvSpPr/>
            <p:nvPr/>
          </p:nvSpPr>
          <p:spPr>
            <a:xfrm rot="20271408">
              <a:off x="1536717" y="1943100"/>
              <a:ext cx="3380509" cy="1151659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row: Curved Right 7">
              <a:extLst>
                <a:ext uri="{FF2B5EF4-FFF2-40B4-BE49-F238E27FC236}">
                  <a16:creationId xmlns:a16="http://schemas.microsoft.com/office/drawing/2014/main" id="{BEA52D17-1463-4D80-A8DC-750270A8DC7F}"/>
                </a:ext>
              </a:extLst>
            </p:cNvPr>
            <p:cNvSpPr/>
            <p:nvPr/>
          </p:nvSpPr>
          <p:spPr>
            <a:xfrm rot="15471628">
              <a:off x="8097374" y="5031686"/>
              <a:ext cx="957182" cy="256363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87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4879-76B7-409C-8714-6E8D2834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A14D-0ABA-4AAE-B08C-CC82D825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CNN for MNIST Handwritten dataset – mc.ai">
            <a:extLst>
              <a:ext uri="{FF2B5EF4-FFF2-40B4-BE49-F238E27FC236}">
                <a16:creationId xmlns:a16="http://schemas.microsoft.com/office/drawing/2014/main" id="{3CDC4E0D-2F3A-4AB4-BFCC-8A7CADD15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645" y="2214886"/>
            <a:ext cx="8678718" cy="464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Whiling the Winter away with a peep into future – Connacht Tribune">
            <a:extLst>
              <a:ext uri="{FF2B5EF4-FFF2-40B4-BE49-F238E27FC236}">
                <a16:creationId xmlns:a16="http://schemas.microsoft.com/office/drawing/2014/main" id="{DB744318-D782-4CF2-804A-35E1228DB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45" y="365125"/>
            <a:ext cx="3463636" cy="190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650F-6064-4FAB-8508-8948E293D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Small Steps – We’ll start with a simple network</a:t>
            </a:r>
          </a:p>
        </p:txBody>
      </p:sp>
      <p:pic>
        <p:nvPicPr>
          <p:cNvPr id="4098" name="Picture 2" descr="The power of small steps">
            <a:extLst>
              <a:ext uri="{FF2B5EF4-FFF2-40B4-BE49-F238E27FC236}">
                <a16:creationId xmlns:a16="http://schemas.microsoft.com/office/drawing/2014/main" id="{926595C8-C87F-4DA6-8E4B-F7BCC0FE3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433" y="2729202"/>
            <a:ext cx="7840567" cy="3200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92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4D80-3D05-4AE0-8BEB-4B119088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Neural Network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CB7C0-0197-4149-9C8B-121B105DC533}"/>
              </a:ext>
            </a:extLst>
          </p:cNvPr>
          <p:cNvSpPr/>
          <p:nvPr/>
        </p:nvSpPr>
        <p:spPr>
          <a:xfrm>
            <a:off x="7347528" y="2371146"/>
            <a:ext cx="1099127" cy="3842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  <a:p>
            <a:pPr algn="ctr"/>
            <a:r>
              <a:rPr lang="en-US" dirty="0"/>
              <a:t>U</a:t>
            </a:r>
          </a:p>
          <a:p>
            <a:pPr algn="ctr"/>
            <a:r>
              <a:rPr lang="en-US" dirty="0"/>
              <a:t>P</a:t>
            </a:r>
          </a:p>
          <a:p>
            <a:pPr algn="ctr"/>
            <a:r>
              <a:rPr lang="en-US" dirty="0"/>
              <a:t>U</a:t>
            </a:r>
          </a:p>
          <a:p>
            <a:pPr algn="ctr"/>
            <a:r>
              <a:rPr lang="en-US" dirty="0"/>
              <a:t>T</a:t>
            </a:r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BF9450B0-65C0-4045-97B8-3D01D97DD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55" t="13368" r="58057" b="67150"/>
          <a:stretch/>
        </p:blipFill>
        <p:spPr>
          <a:xfrm>
            <a:off x="8081818" y="3063870"/>
            <a:ext cx="729673" cy="2493818"/>
          </a:xfr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C363EE7-5605-4DC4-B0DB-5B8546C668E1}"/>
              </a:ext>
            </a:extLst>
          </p:cNvPr>
          <p:cNvGrpSpPr/>
          <p:nvPr/>
        </p:nvGrpSpPr>
        <p:grpSpPr>
          <a:xfrm>
            <a:off x="1101436" y="1992888"/>
            <a:ext cx="1678709" cy="4220584"/>
            <a:chOff x="1101436" y="1992888"/>
            <a:chExt cx="1678709" cy="422058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D436A2-ECF3-48F0-B9F7-8F5105F50FD6}"/>
                </a:ext>
              </a:extLst>
            </p:cNvPr>
            <p:cNvSpPr/>
            <p:nvPr/>
          </p:nvSpPr>
          <p:spPr>
            <a:xfrm>
              <a:off x="1524000" y="2371145"/>
              <a:ext cx="1099127" cy="384232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  <a:p>
              <a:pPr algn="ctr"/>
              <a:r>
                <a:rPr lang="en-US" dirty="0"/>
                <a:t>N</a:t>
              </a:r>
            </a:p>
            <a:p>
              <a:pPr algn="ctr"/>
              <a:r>
                <a:rPr lang="en-US" dirty="0"/>
                <a:t>P</a:t>
              </a:r>
            </a:p>
            <a:p>
              <a:pPr algn="ctr"/>
              <a:r>
                <a:rPr lang="en-US" dirty="0"/>
                <a:t>U</a:t>
              </a:r>
            </a:p>
            <a:p>
              <a:pPr algn="ctr"/>
              <a:r>
                <a:rPr lang="en-US" dirty="0"/>
                <a:t>T</a:t>
              </a:r>
            </a:p>
            <a:p>
              <a:pPr algn="ctr"/>
              <a:endParaRPr lang="en-US" dirty="0"/>
            </a:p>
          </p:txBody>
        </p:sp>
        <p:pic>
          <p:nvPicPr>
            <p:cNvPr id="10" name="Content Placeholder 4">
              <a:extLst>
                <a:ext uri="{FF2B5EF4-FFF2-40B4-BE49-F238E27FC236}">
                  <a16:creationId xmlns:a16="http://schemas.microsoft.com/office/drawing/2014/main" id="{0231625D-E907-4B36-83CA-A2D168E44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77" r="93315" b="67403"/>
            <a:stretch/>
          </p:blipFill>
          <p:spPr>
            <a:xfrm>
              <a:off x="1101436" y="3629890"/>
              <a:ext cx="767721" cy="103447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CF9654-EE70-460B-BC35-BF7E2F6CF68F}"/>
                </a:ext>
              </a:extLst>
            </p:cNvPr>
            <p:cNvSpPr txBox="1"/>
            <p:nvPr/>
          </p:nvSpPr>
          <p:spPr>
            <a:xfrm>
              <a:off x="1754909" y="1992888"/>
              <a:ext cx="1025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678094-3C1A-48C4-9DD7-CDCE4BA7E647}"/>
              </a:ext>
            </a:extLst>
          </p:cNvPr>
          <p:cNvGrpSpPr/>
          <p:nvPr/>
        </p:nvGrpSpPr>
        <p:grpSpPr>
          <a:xfrm>
            <a:off x="4294909" y="1946984"/>
            <a:ext cx="1214581" cy="4266490"/>
            <a:chOff x="4294909" y="1946984"/>
            <a:chExt cx="1214581" cy="42664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6C7AFE-56C3-4D4C-84A9-87CCB4B1DA79}"/>
                </a:ext>
              </a:extLst>
            </p:cNvPr>
            <p:cNvSpPr/>
            <p:nvPr/>
          </p:nvSpPr>
          <p:spPr>
            <a:xfrm>
              <a:off x="4294909" y="2371147"/>
              <a:ext cx="1099127" cy="3842327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  <a:p>
              <a:pPr algn="ctr"/>
              <a:r>
                <a:rPr lang="en-US" dirty="0"/>
                <a:t>I</a:t>
              </a:r>
            </a:p>
            <a:p>
              <a:pPr algn="ctr"/>
              <a:r>
                <a:rPr lang="en-US" dirty="0"/>
                <a:t>D</a:t>
              </a:r>
            </a:p>
            <a:p>
              <a:pPr algn="ctr"/>
              <a:r>
                <a:rPr lang="en-US" dirty="0"/>
                <a:t>D</a:t>
              </a:r>
            </a:p>
            <a:p>
              <a:pPr algn="ctr"/>
              <a:r>
                <a:rPr lang="en-US" dirty="0"/>
                <a:t>E</a:t>
              </a:r>
            </a:p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E51B14-703D-48AC-9BAC-989B78EB3066}"/>
                </a:ext>
              </a:extLst>
            </p:cNvPr>
            <p:cNvSpPr txBox="1"/>
            <p:nvPr/>
          </p:nvSpPr>
          <p:spPr>
            <a:xfrm>
              <a:off x="4484254" y="1946984"/>
              <a:ext cx="1025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Layer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EFDDB9-1595-4F0F-B8AE-B4ECD200072C}"/>
              </a:ext>
            </a:extLst>
          </p:cNvPr>
          <p:cNvSpPr txBox="1"/>
          <p:nvPr/>
        </p:nvSpPr>
        <p:spPr>
          <a:xfrm>
            <a:off x="7569200" y="1946984"/>
            <a:ext cx="1025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</a:t>
            </a:r>
          </a:p>
        </p:txBody>
      </p:sp>
      <p:sp>
        <p:nvSpPr>
          <p:cNvPr id="18" name="Arrow: Notched Right 17">
            <a:extLst>
              <a:ext uri="{FF2B5EF4-FFF2-40B4-BE49-F238E27FC236}">
                <a16:creationId xmlns:a16="http://schemas.microsoft.com/office/drawing/2014/main" id="{D7812055-4377-4C42-BB7E-95F616785D28}"/>
              </a:ext>
            </a:extLst>
          </p:cNvPr>
          <p:cNvSpPr/>
          <p:nvPr/>
        </p:nvSpPr>
        <p:spPr>
          <a:xfrm>
            <a:off x="2992582" y="3805382"/>
            <a:ext cx="1016000" cy="75738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2CC4C68C-0996-4984-8FB1-9F01F5450CC5}"/>
              </a:ext>
            </a:extLst>
          </p:cNvPr>
          <p:cNvSpPr/>
          <p:nvPr/>
        </p:nvSpPr>
        <p:spPr>
          <a:xfrm>
            <a:off x="5962074" y="3805382"/>
            <a:ext cx="1016000" cy="75738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2C61-0AB5-48FD-A89E-56EA24E15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D0B8-BF3C-4D5F-9E3D-FA1AB2512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the data (training and test)</a:t>
            </a:r>
          </a:p>
          <a:p>
            <a:r>
              <a:rPr lang="en-US" dirty="0"/>
              <a:t>Prepare the input and output to be used in the Neural Network (NN)</a:t>
            </a:r>
          </a:p>
          <a:p>
            <a:r>
              <a:rPr lang="en-US" dirty="0"/>
              <a:t>Build the NN using some parameters (aka Hyperparameters)</a:t>
            </a:r>
          </a:p>
          <a:p>
            <a:r>
              <a:rPr lang="en-US" dirty="0"/>
              <a:t>Train the NN on the training data</a:t>
            </a:r>
          </a:p>
          <a:p>
            <a:r>
              <a:rPr lang="en-US" dirty="0"/>
              <a:t>Evaluate the performance on the test data</a:t>
            </a:r>
          </a:p>
        </p:txBody>
      </p:sp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487FFBDF-6350-41C3-ACD5-5E63DA0F0D9C}"/>
              </a:ext>
            </a:extLst>
          </p:cNvPr>
          <p:cNvSpPr/>
          <p:nvPr/>
        </p:nvSpPr>
        <p:spPr>
          <a:xfrm rot="10800000">
            <a:off x="145473" y="2872508"/>
            <a:ext cx="692727" cy="136698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31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5635-E6FB-4A27-8DFC-85FEDB877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the input</a:t>
            </a:r>
          </a:p>
        </p:txBody>
      </p:sp>
      <p:pic>
        <p:nvPicPr>
          <p:cNvPr id="6146" name="Picture 2" descr="Image To Vector | Deep Learning Studies">
            <a:extLst>
              <a:ext uri="{FF2B5EF4-FFF2-40B4-BE49-F238E27FC236}">
                <a16:creationId xmlns:a16="http://schemas.microsoft.com/office/drawing/2014/main" id="{EA20BFD5-E0EF-4CBE-8ED9-6EF964033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91" y="2001766"/>
            <a:ext cx="7603836" cy="417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C78EB9-E69D-4DE3-A79D-1F3C6106E91E}"/>
              </a:ext>
            </a:extLst>
          </p:cNvPr>
          <p:cNvSpPr txBox="1"/>
          <p:nvPr/>
        </p:nvSpPr>
        <p:spPr>
          <a:xfrm>
            <a:off x="9088581" y="2101395"/>
            <a:ext cx="2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Scale to: 0 – 1 range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34B941-24FA-4E86-B5BA-1D1CCEE977C1}"/>
              </a:ext>
            </a:extLst>
          </p:cNvPr>
          <p:cNvGrpSpPr/>
          <p:nvPr/>
        </p:nvGrpSpPr>
        <p:grpSpPr>
          <a:xfrm>
            <a:off x="9716654" y="2586182"/>
            <a:ext cx="942110" cy="3380509"/>
            <a:chOff x="9716654" y="2586182"/>
            <a:chExt cx="942110" cy="3380509"/>
          </a:xfrm>
        </p:grpSpPr>
        <p:pic>
          <p:nvPicPr>
            <p:cNvPr id="5" name="Picture 2" descr="Image To Vector | Deep Learning Studies">
              <a:extLst>
                <a:ext uri="{FF2B5EF4-FFF2-40B4-BE49-F238E27FC236}">
                  <a16:creationId xmlns:a16="http://schemas.microsoft.com/office/drawing/2014/main" id="{DB0303E6-4307-4397-A6B3-941CF79BEB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39" t="14954" r="10871" b="4080"/>
            <a:stretch/>
          </p:blipFill>
          <p:spPr bwMode="auto">
            <a:xfrm>
              <a:off x="9716654" y="2586182"/>
              <a:ext cx="942110" cy="3380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5D5020-2BA9-40B6-999D-5942FF64DFD1}"/>
                </a:ext>
              </a:extLst>
            </p:cNvPr>
            <p:cNvSpPr txBox="1"/>
            <p:nvPr/>
          </p:nvSpPr>
          <p:spPr>
            <a:xfrm>
              <a:off x="9836729" y="3745530"/>
              <a:ext cx="704270" cy="203132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  <a:p>
              <a:pPr algn="ctr"/>
              <a:r>
                <a:rPr lang="en-US" dirty="0"/>
                <a:t>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63ABE2E-1D54-4D37-B3ED-8CCDFF95C311}"/>
              </a:ext>
            </a:extLst>
          </p:cNvPr>
          <p:cNvSpPr txBox="1"/>
          <p:nvPr/>
        </p:nvSpPr>
        <p:spPr>
          <a:xfrm>
            <a:off x="9873673" y="2679040"/>
            <a:ext cx="5541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A458B-72B0-442C-8166-19168516AB39}"/>
              </a:ext>
            </a:extLst>
          </p:cNvPr>
          <p:cNvSpPr txBox="1"/>
          <p:nvPr/>
        </p:nvSpPr>
        <p:spPr>
          <a:xfrm>
            <a:off x="9825182" y="2988025"/>
            <a:ext cx="7065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0.905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655DB-45EF-4A17-87B7-473D248C80C8}"/>
              </a:ext>
            </a:extLst>
          </p:cNvPr>
          <p:cNvSpPr txBox="1"/>
          <p:nvPr/>
        </p:nvSpPr>
        <p:spPr>
          <a:xfrm>
            <a:off x="9834418" y="3315978"/>
            <a:ext cx="7065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0.165</a:t>
            </a: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84E47A64-92A1-4D28-A57E-3F6664BFD0B8}"/>
              </a:ext>
            </a:extLst>
          </p:cNvPr>
          <p:cNvSpPr/>
          <p:nvPr/>
        </p:nvSpPr>
        <p:spPr>
          <a:xfrm rot="5400000">
            <a:off x="8058727" y="3724410"/>
            <a:ext cx="1034473" cy="956273"/>
          </a:xfrm>
          <a:prstGeom prst="trapezoid">
            <a:avLst>
              <a:gd name="adj" fmla="val 3659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3E0E4E-7FDB-4C0F-80E2-C02808A26429}"/>
              </a:ext>
            </a:extLst>
          </p:cNvPr>
          <p:cNvCxnSpPr>
            <a:cxnSpLocks/>
          </p:cNvCxnSpPr>
          <p:nvPr/>
        </p:nvCxnSpPr>
        <p:spPr>
          <a:xfrm flipV="1">
            <a:off x="6991927" y="2881434"/>
            <a:ext cx="3020290" cy="46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61DD92-E005-45E6-BEE3-D288508C5FA8}"/>
              </a:ext>
            </a:extLst>
          </p:cNvPr>
          <p:cNvCxnSpPr>
            <a:cxnSpLocks/>
          </p:cNvCxnSpPr>
          <p:nvPr/>
        </p:nvCxnSpPr>
        <p:spPr>
          <a:xfrm flipV="1">
            <a:off x="6950368" y="3181613"/>
            <a:ext cx="3020290" cy="46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0FD6F5-353A-42CF-B13F-3168544D2151}"/>
              </a:ext>
            </a:extLst>
          </p:cNvPr>
          <p:cNvCxnSpPr>
            <a:cxnSpLocks/>
          </p:cNvCxnSpPr>
          <p:nvPr/>
        </p:nvCxnSpPr>
        <p:spPr>
          <a:xfrm flipV="1">
            <a:off x="6908813" y="3481795"/>
            <a:ext cx="3020290" cy="46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22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6282-6641-48CA-BC19-BEBEFD2B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the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D411B-5CE2-45E9-BCCE-C8E71FA16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hot encoding</a:t>
            </a:r>
          </a:p>
        </p:txBody>
      </p:sp>
      <p:pic>
        <p:nvPicPr>
          <p:cNvPr id="8194" name="Picture 2" descr="A demo of One Hot Encoding (TensorFlow Tip of the Week) - YouTube">
            <a:extLst>
              <a:ext uri="{FF2B5EF4-FFF2-40B4-BE49-F238E27FC236}">
                <a16:creationId xmlns:a16="http://schemas.microsoft.com/office/drawing/2014/main" id="{2E5AF8C0-6F42-4912-B143-03EA43C5A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68" t="16624" r="11653" b="25147"/>
          <a:stretch/>
        </p:blipFill>
        <p:spPr bwMode="auto">
          <a:xfrm>
            <a:off x="3278970" y="2866737"/>
            <a:ext cx="5320085" cy="344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649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B4D80-3D05-4AE0-8BEB-4B1190886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Neural Network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2CB7C0-0197-4149-9C8B-121B105DC533}"/>
              </a:ext>
            </a:extLst>
          </p:cNvPr>
          <p:cNvSpPr/>
          <p:nvPr/>
        </p:nvSpPr>
        <p:spPr>
          <a:xfrm>
            <a:off x="7347528" y="2371146"/>
            <a:ext cx="1099127" cy="3842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</a:t>
            </a:r>
          </a:p>
          <a:p>
            <a:pPr algn="ctr"/>
            <a:r>
              <a:rPr lang="en-US" dirty="0"/>
              <a:t>U</a:t>
            </a:r>
          </a:p>
          <a:p>
            <a:pPr algn="ctr"/>
            <a:r>
              <a:rPr lang="en-US" dirty="0"/>
              <a:t>P</a:t>
            </a:r>
          </a:p>
          <a:p>
            <a:pPr algn="ctr"/>
            <a:r>
              <a:rPr lang="en-US" dirty="0"/>
              <a:t>U</a:t>
            </a:r>
          </a:p>
          <a:p>
            <a:pPr algn="ctr"/>
            <a:r>
              <a:rPr lang="en-US" dirty="0"/>
              <a:t>T</a:t>
            </a:r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0231625D-E907-4B36-83CA-A2D168E444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7" r="93315" b="67403"/>
          <a:stretch/>
        </p:blipFill>
        <p:spPr>
          <a:xfrm>
            <a:off x="271583" y="3482386"/>
            <a:ext cx="767721" cy="103447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62AA3BB-7454-4B70-B673-94D0023F42C1}"/>
              </a:ext>
            </a:extLst>
          </p:cNvPr>
          <p:cNvGrpSpPr/>
          <p:nvPr/>
        </p:nvGrpSpPr>
        <p:grpSpPr>
          <a:xfrm>
            <a:off x="2421235" y="1946983"/>
            <a:ext cx="1099127" cy="4220584"/>
            <a:chOff x="1968658" y="1946983"/>
            <a:chExt cx="1099127" cy="422058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D436A2-ECF3-48F0-B9F7-8F5105F50FD6}"/>
                </a:ext>
              </a:extLst>
            </p:cNvPr>
            <p:cNvSpPr/>
            <p:nvPr/>
          </p:nvSpPr>
          <p:spPr>
            <a:xfrm>
              <a:off x="1968658" y="2325240"/>
              <a:ext cx="1099127" cy="384232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  <a:p>
              <a:pPr algn="ctr"/>
              <a:r>
                <a:rPr lang="en-US" dirty="0"/>
                <a:t>N</a:t>
              </a:r>
            </a:p>
            <a:p>
              <a:pPr algn="ctr"/>
              <a:r>
                <a:rPr lang="en-US" dirty="0"/>
                <a:t>P</a:t>
              </a:r>
            </a:p>
            <a:p>
              <a:pPr algn="ctr"/>
              <a:r>
                <a:rPr lang="en-US" dirty="0"/>
                <a:t>U</a:t>
              </a:r>
            </a:p>
            <a:p>
              <a:pPr algn="ctr"/>
              <a:r>
                <a:rPr lang="en-US" dirty="0"/>
                <a:t>T</a:t>
              </a:r>
            </a:p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DCF9654-EE70-460B-BC35-BF7E2F6CF68F}"/>
                </a:ext>
              </a:extLst>
            </p:cNvPr>
            <p:cNvSpPr txBox="1"/>
            <p:nvPr/>
          </p:nvSpPr>
          <p:spPr>
            <a:xfrm>
              <a:off x="2014839" y="1946983"/>
              <a:ext cx="1025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Layer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678094-3C1A-48C4-9DD7-CDCE4BA7E647}"/>
              </a:ext>
            </a:extLst>
          </p:cNvPr>
          <p:cNvGrpSpPr/>
          <p:nvPr/>
        </p:nvGrpSpPr>
        <p:grpSpPr>
          <a:xfrm>
            <a:off x="4909121" y="1946983"/>
            <a:ext cx="1214581" cy="4266490"/>
            <a:chOff x="4294909" y="1946984"/>
            <a:chExt cx="1214581" cy="42664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6C7AFE-56C3-4D4C-84A9-87CCB4B1DA79}"/>
                </a:ext>
              </a:extLst>
            </p:cNvPr>
            <p:cNvSpPr/>
            <p:nvPr/>
          </p:nvSpPr>
          <p:spPr>
            <a:xfrm>
              <a:off x="4294909" y="2371147"/>
              <a:ext cx="1099127" cy="3842327"/>
            </a:xfrm>
            <a:prstGeom prst="rect">
              <a:avLst/>
            </a:prstGeom>
            <a:solidFill>
              <a:schemeClr val="accent5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  <a:p>
              <a:pPr algn="ctr"/>
              <a:r>
                <a:rPr lang="en-US" dirty="0"/>
                <a:t>I</a:t>
              </a:r>
            </a:p>
            <a:p>
              <a:pPr algn="ctr"/>
              <a:r>
                <a:rPr lang="en-US" dirty="0"/>
                <a:t>D</a:t>
              </a:r>
            </a:p>
            <a:p>
              <a:pPr algn="ctr"/>
              <a:r>
                <a:rPr lang="en-US" dirty="0"/>
                <a:t>D</a:t>
              </a:r>
            </a:p>
            <a:p>
              <a:pPr algn="ctr"/>
              <a:r>
                <a:rPr lang="en-US" dirty="0"/>
                <a:t>E</a:t>
              </a:r>
            </a:p>
            <a:p>
              <a:pPr algn="ctr"/>
              <a:r>
                <a:rPr lang="en-US" dirty="0"/>
                <a:t>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E51B14-703D-48AC-9BAC-989B78EB3066}"/>
                </a:ext>
              </a:extLst>
            </p:cNvPr>
            <p:cNvSpPr txBox="1"/>
            <p:nvPr/>
          </p:nvSpPr>
          <p:spPr>
            <a:xfrm>
              <a:off x="4484254" y="1946984"/>
              <a:ext cx="1025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Layer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BEFDDB9-1595-4F0F-B8AE-B4ECD200072C}"/>
              </a:ext>
            </a:extLst>
          </p:cNvPr>
          <p:cNvSpPr txBox="1"/>
          <p:nvPr/>
        </p:nvSpPr>
        <p:spPr>
          <a:xfrm>
            <a:off x="7569200" y="1946984"/>
            <a:ext cx="1025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Layer</a:t>
            </a:r>
          </a:p>
        </p:txBody>
      </p:sp>
      <p:sp>
        <p:nvSpPr>
          <p:cNvPr id="18" name="Arrow: Notched Right 17">
            <a:extLst>
              <a:ext uri="{FF2B5EF4-FFF2-40B4-BE49-F238E27FC236}">
                <a16:creationId xmlns:a16="http://schemas.microsoft.com/office/drawing/2014/main" id="{D7812055-4377-4C42-BB7E-95F616785D28}"/>
              </a:ext>
            </a:extLst>
          </p:cNvPr>
          <p:cNvSpPr/>
          <p:nvPr/>
        </p:nvSpPr>
        <p:spPr>
          <a:xfrm>
            <a:off x="3765011" y="3805382"/>
            <a:ext cx="1016000" cy="75738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Notched Right 19">
            <a:extLst>
              <a:ext uri="{FF2B5EF4-FFF2-40B4-BE49-F238E27FC236}">
                <a16:creationId xmlns:a16="http://schemas.microsoft.com/office/drawing/2014/main" id="{2CC4C68C-0996-4984-8FB1-9F01F5450CC5}"/>
              </a:ext>
            </a:extLst>
          </p:cNvPr>
          <p:cNvSpPr/>
          <p:nvPr/>
        </p:nvSpPr>
        <p:spPr>
          <a:xfrm>
            <a:off x="6156032" y="3805382"/>
            <a:ext cx="1016000" cy="75738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8F71F-C374-4ED1-A795-69B82CDC8AA7}"/>
              </a:ext>
            </a:extLst>
          </p:cNvPr>
          <p:cNvSpPr txBox="1"/>
          <p:nvPr/>
        </p:nvSpPr>
        <p:spPr>
          <a:xfrm>
            <a:off x="1619874" y="2618008"/>
            <a:ext cx="568038" cy="338554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0.12</a:t>
            </a:r>
          </a:p>
          <a:p>
            <a:pPr algn="ctr"/>
            <a:r>
              <a:rPr lang="en-US" sz="1400" dirty="0"/>
              <a:t>0.14</a:t>
            </a:r>
          </a:p>
          <a:p>
            <a:pPr algn="ctr"/>
            <a:r>
              <a:rPr lang="en-US" sz="1400" dirty="0"/>
              <a:t>0.55</a:t>
            </a:r>
          </a:p>
          <a:p>
            <a:pPr algn="ctr"/>
            <a:r>
              <a:rPr lang="en-US" sz="1400" dirty="0"/>
              <a:t>.</a:t>
            </a:r>
          </a:p>
          <a:p>
            <a:pPr algn="ctr"/>
            <a:r>
              <a:rPr lang="en-US" sz="1400" dirty="0"/>
              <a:t>.</a:t>
            </a:r>
          </a:p>
          <a:p>
            <a:pPr algn="ctr"/>
            <a:r>
              <a:rPr lang="en-US" sz="1400" dirty="0"/>
              <a:t>.</a:t>
            </a:r>
          </a:p>
          <a:p>
            <a:pPr algn="ctr"/>
            <a:r>
              <a:rPr lang="en-US" sz="1400" dirty="0"/>
              <a:t>0.25</a:t>
            </a:r>
          </a:p>
          <a:p>
            <a:pPr algn="ctr"/>
            <a:r>
              <a:rPr lang="en-US" sz="1400" dirty="0"/>
              <a:t>0.45</a:t>
            </a:r>
          </a:p>
          <a:p>
            <a:pPr algn="ctr"/>
            <a:r>
              <a:rPr lang="en-US" sz="1400" dirty="0"/>
              <a:t>0.66</a:t>
            </a:r>
          </a:p>
          <a:p>
            <a:pPr algn="ctr"/>
            <a:r>
              <a:rPr lang="en-US" sz="1400" dirty="0"/>
              <a:t>.</a:t>
            </a:r>
          </a:p>
          <a:p>
            <a:pPr algn="ctr"/>
            <a:r>
              <a:rPr lang="en-US" sz="1400" dirty="0"/>
              <a:t>.</a:t>
            </a:r>
          </a:p>
          <a:p>
            <a:pPr algn="ctr"/>
            <a:r>
              <a:rPr lang="en-US" sz="1400" dirty="0"/>
              <a:t>.</a:t>
            </a:r>
          </a:p>
          <a:p>
            <a:endParaRPr lang="en-US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4DD0004-911F-48E6-BE2B-74459DF51389}"/>
              </a:ext>
            </a:extLst>
          </p:cNvPr>
          <p:cNvSpPr/>
          <p:nvPr/>
        </p:nvSpPr>
        <p:spPr>
          <a:xfrm>
            <a:off x="1287369" y="2618008"/>
            <a:ext cx="335921" cy="33855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B3C028-77ED-455E-8DF4-35B09AADAA75}"/>
              </a:ext>
            </a:extLst>
          </p:cNvPr>
          <p:cNvSpPr txBox="1"/>
          <p:nvPr/>
        </p:nvSpPr>
        <p:spPr>
          <a:xfrm>
            <a:off x="972876" y="3999622"/>
            <a:ext cx="1037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784</a:t>
            </a:r>
          </a:p>
          <a:p>
            <a:r>
              <a:rPr lang="en-US" dirty="0"/>
              <a:t>features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3C33D7-7B5A-4FE9-8B5E-020655103C97}"/>
              </a:ext>
            </a:extLst>
          </p:cNvPr>
          <p:cNvSpPr txBox="1"/>
          <p:nvPr/>
        </p:nvSpPr>
        <p:spPr>
          <a:xfrm>
            <a:off x="8838092" y="3030425"/>
            <a:ext cx="568038" cy="252376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1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pPr algn="ctr"/>
            <a:r>
              <a:rPr lang="en-US" sz="1400" dirty="0"/>
              <a:t>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08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9FA11-7DCC-4E06-98D3-D24EFBB6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principals</a:t>
            </a:r>
          </a:p>
        </p:txBody>
      </p:sp>
      <p:pic>
        <p:nvPicPr>
          <p:cNvPr id="4" name="Picture 2" descr="Trial and Error | AdLib">
            <a:extLst>
              <a:ext uri="{FF2B5EF4-FFF2-40B4-BE49-F238E27FC236}">
                <a16:creationId xmlns:a16="http://schemas.microsoft.com/office/drawing/2014/main" id="{804458D8-73F2-4775-820E-3DE67F154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17" y="1467264"/>
            <a:ext cx="5751657" cy="2668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A1A26AE-33FB-409C-9C02-B5959EEF9CB6}"/>
              </a:ext>
            </a:extLst>
          </p:cNvPr>
          <p:cNvGrpSpPr/>
          <p:nvPr/>
        </p:nvGrpSpPr>
        <p:grpSpPr>
          <a:xfrm>
            <a:off x="3509817" y="4785920"/>
            <a:ext cx="1782619" cy="452252"/>
            <a:chOff x="3509817" y="4785920"/>
            <a:chExt cx="1782619" cy="45225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AA363EC-F475-4E72-8FCB-DC0ABD1ABB53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3509817" y="5238172"/>
              <a:ext cx="178261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5CC0FD-6070-4C28-8D01-53C075D588C2}"/>
                </a:ext>
              </a:extLst>
            </p:cNvPr>
            <p:cNvSpPr txBox="1"/>
            <p:nvPr/>
          </p:nvSpPr>
          <p:spPr>
            <a:xfrm>
              <a:off x="4008581" y="4785920"/>
              <a:ext cx="1029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230C5AE-52E2-424E-8232-0786F5D5AF45}"/>
              </a:ext>
            </a:extLst>
          </p:cNvPr>
          <p:cNvGrpSpPr/>
          <p:nvPr/>
        </p:nvGrpSpPr>
        <p:grpSpPr>
          <a:xfrm>
            <a:off x="7093527" y="4785920"/>
            <a:ext cx="1440873" cy="452252"/>
            <a:chOff x="7093527" y="4785920"/>
            <a:chExt cx="1440873" cy="45225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4DD546A-69CF-4D51-AAE2-C1A24C659171}"/>
                </a:ext>
              </a:extLst>
            </p:cNvPr>
            <p:cNvCxnSpPr>
              <a:cxnSpLocks/>
            </p:cNvCxnSpPr>
            <p:nvPr/>
          </p:nvCxnSpPr>
          <p:spPr>
            <a:xfrm>
              <a:off x="7093527" y="5238172"/>
              <a:ext cx="144087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A0823C-CD62-406B-9B6B-77564F755846}"/>
                </a:ext>
              </a:extLst>
            </p:cNvPr>
            <p:cNvSpPr txBox="1"/>
            <p:nvPr/>
          </p:nvSpPr>
          <p:spPr>
            <a:xfrm>
              <a:off x="7232074" y="4785920"/>
              <a:ext cx="1274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prediction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223A3B1-19FC-4A2D-9E73-6ADF83C90B8E}"/>
              </a:ext>
            </a:extLst>
          </p:cNvPr>
          <p:cNvGrpSpPr/>
          <p:nvPr/>
        </p:nvGrpSpPr>
        <p:grpSpPr>
          <a:xfrm>
            <a:off x="5292436" y="4349006"/>
            <a:ext cx="1801091" cy="1224643"/>
            <a:chOff x="5292436" y="4349006"/>
            <a:chExt cx="1801091" cy="122464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C8633D6-D3DF-4264-B963-D10AF4040815}"/>
                </a:ext>
              </a:extLst>
            </p:cNvPr>
            <p:cNvSpPr/>
            <p:nvPr/>
          </p:nvSpPr>
          <p:spPr>
            <a:xfrm>
              <a:off x="5292436" y="4902695"/>
              <a:ext cx="1801091" cy="6709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Neural</a:t>
              </a:r>
            </a:p>
            <a:p>
              <a:pPr algn="ctr"/>
              <a:r>
                <a:rPr lang="en-US" dirty="0"/>
                <a:t>Network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A44D0A2-6F7E-405D-A6AA-E94C888C4DB7}"/>
                </a:ext>
              </a:extLst>
            </p:cNvPr>
            <p:cNvSpPr txBox="1"/>
            <p:nvPr/>
          </p:nvSpPr>
          <p:spPr>
            <a:xfrm>
              <a:off x="5306290" y="4349006"/>
              <a:ext cx="152861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Initialize</a:t>
              </a:r>
            </a:p>
            <a:p>
              <a:pPr algn="ctr"/>
              <a:r>
                <a:rPr lang="en-US" dirty="0"/>
                <a:t>parameters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128F3E9-B3D8-435E-B003-9EE1D4D372BD}"/>
              </a:ext>
            </a:extLst>
          </p:cNvPr>
          <p:cNvGrpSpPr/>
          <p:nvPr/>
        </p:nvGrpSpPr>
        <p:grpSpPr>
          <a:xfrm>
            <a:off x="9229435" y="5021240"/>
            <a:ext cx="2124365" cy="369332"/>
            <a:chOff x="9229435" y="5021240"/>
            <a:chExt cx="2124365" cy="3693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27C6F4-9F11-4364-8331-73194C20DA31}"/>
                </a:ext>
              </a:extLst>
            </p:cNvPr>
            <p:cNvSpPr txBox="1"/>
            <p:nvPr/>
          </p:nvSpPr>
          <p:spPr>
            <a:xfrm>
              <a:off x="10323945" y="5021240"/>
              <a:ext cx="10298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Stop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4C08D05-E320-4C17-B4CA-48FBF7E55A6A}"/>
                </a:ext>
              </a:extLst>
            </p:cNvPr>
            <p:cNvCxnSpPr>
              <a:cxnSpLocks/>
            </p:cNvCxnSpPr>
            <p:nvPr/>
          </p:nvCxnSpPr>
          <p:spPr>
            <a:xfrm>
              <a:off x="9229435" y="5205906"/>
              <a:ext cx="111298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1E29D4-1235-445F-9FFF-3EAAC0F49A78}"/>
              </a:ext>
            </a:extLst>
          </p:cNvPr>
          <p:cNvGrpSpPr/>
          <p:nvPr/>
        </p:nvGrpSpPr>
        <p:grpSpPr>
          <a:xfrm>
            <a:off x="6017492" y="5712400"/>
            <a:ext cx="2844799" cy="658641"/>
            <a:chOff x="6017492" y="5712400"/>
            <a:chExt cx="2844799" cy="658641"/>
          </a:xfrm>
        </p:grpSpPr>
        <p:sp>
          <p:nvSpPr>
            <p:cNvPr id="24" name="Arrow: Curved Left 23">
              <a:extLst>
                <a:ext uri="{FF2B5EF4-FFF2-40B4-BE49-F238E27FC236}">
                  <a16:creationId xmlns:a16="http://schemas.microsoft.com/office/drawing/2014/main" id="{5C3E7BC9-C120-489A-9C31-95C5379127C2}"/>
                </a:ext>
              </a:extLst>
            </p:cNvPr>
            <p:cNvSpPr/>
            <p:nvPr/>
          </p:nvSpPr>
          <p:spPr>
            <a:xfrm rot="5400000">
              <a:off x="7112001" y="4617891"/>
              <a:ext cx="655781" cy="2844799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1F530-3158-4D2B-A3F4-E0C0595A82BF}"/>
                </a:ext>
              </a:extLst>
            </p:cNvPr>
            <p:cNvSpPr txBox="1"/>
            <p:nvPr/>
          </p:nvSpPr>
          <p:spPr>
            <a:xfrm>
              <a:off x="6862617" y="5724710"/>
              <a:ext cx="12746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Adjust parameters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4281407-94DF-4272-8D40-A0B1240D3710}"/>
              </a:ext>
            </a:extLst>
          </p:cNvPr>
          <p:cNvGrpSpPr/>
          <p:nvPr/>
        </p:nvGrpSpPr>
        <p:grpSpPr>
          <a:xfrm>
            <a:off x="8097981" y="4265778"/>
            <a:ext cx="1528620" cy="1281523"/>
            <a:chOff x="8097981" y="4265778"/>
            <a:chExt cx="1528620" cy="1281523"/>
          </a:xfrm>
        </p:grpSpPr>
        <p:sp>
          <p:nvSpPr>
            <p:cNvPr id="12" name="Flowchart: Summing Junction 11">
              <a:extLst>
                <a:ext uri="{FF2B5EF4-FFF2-40B4-BE49-F238E27FC236}">
                  <a16:creationId xmlns:a16="http://schemas.microsoft.com/office/drawing/2014/main" id="{2D66CD5C-D4B3-4E9B-B1CE-54DECD6153D0}"/>
                </a:ext>
              </a:extLst>
            </p:cNvPr>
            <p:cNvSpPr/>
            <p:nvPr/>
          </p:nvSpPr>
          <p:spPr>
            <a:xfrm>
              <a:off x="8534400" y="4876347"/>
              <a:ext cx="655782" cy="670954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C712A4D-77DA-4019-8D74-5B9732B58323}"/>
                </a:ext>
              </a:extLst>
            </p:cNvPr>
            <p:cNvSpPr txBox="1"/>
            <p:nvPr/>
          </p:nvSpPr>
          <p:spPr>
            <a:xfrm>
              <a:off x="8097981" y="4265778"/>
              <a:ext cx="15286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Known output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ACDD870-E4E5-42C2-9CFE-65516A302DFB}"/>
                </a:ext>
              </a:extLst>
            </p:cNvPr>
            <p:cNvCxnSpPr/>
            <p:nvPr/>
          </p:nvCxnSpPr>
          <p:spPr>
            <a:xfrm>
              <a:off x="8862291" y="4532304"/>
              <a:ext cx="0" cy="36933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74" name="Picture 2" descr="Hot Or Cold - Party Game | Ladies Kitty">
            <a:extLst>
              <a:ext uri="{FF2B5EF4-FFF2-40B4-BE49-F238E27FC236}">
                <a16:creationId xmlns:a16="http://schemas.microsoft.com/office/drawing/2014/main" id="{32742F3E-C5DF-443C-B500-54EF05A7A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77" y="4532304"/>
            <a:ext cx="3080039" cy="215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8B4765F-92D1-476E-A8F9-2DDFCBEA2D35}"/>
              </a:ext>
            </a:extLst>
          </p:cNvPr>
          <p:cNvGrpSpPr/>
          <p:nvPr/>
        </p:nvGrpSpPr>
        <p:grpSpPr>
          <a:xfrm>
            <a:off x="839172" y="1489541"/>
            <a:ext cx="2213155" cy="2646492"/>
            <a:chOff x="9578938" y="1489541"/>
            <a:chExt cx="2213155" cy="2646492"/>
          </a:xfrm>
        </p:grpSpPr>
        <p:pic>
          <p:nvPicPr>
            <p:cNvPr id="25" name="Picture 2" descr="News Feature: What are the limits of deep learning? | PNAS">
              <a:extLst>
                <a:ext uri="{FF2B5EF4-FFF2-40B4-BE49-F238E27FC236}">
                  <a16:creationId xmlns:a16="http://schemas.microsoft.com/office/drawing/2014/main" id="{6F2DF504-CB75-4B23-8A86-628FF49376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68435" b="30582"/>
            <a:stretch/>
          </p:blipFill>
          <p:spPr bwMode="auto">
            <a:xfrm>
              <a:off x="9578938" y="1489541"/>
              <a:ext cx="2213155" cy="2646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1A44B5-0ED1-47B9-9065-13214E093999}"/>
                </a:ext>
              </a:extLst>
            </p:cNvPr>
            <p:cNvSpPr/>
            <p:nvPr/>
          </p:nvSpPr>
          <p:spPr>
            <a:xfrm>
              <a:off x="9965098" y="2649831"/>
              <a:ext cx="50526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5ABADE-D3F8-4091-B1A0-A4309B3A345A}"/>
                </a:ext>
              </a:extLst>
            </p:cNvPr>
            <p:cNvSpPr/>
            <p:nvPr/>
          </p:nvSpPr>
          <p:spPr>
            <a:xfrm>
              <a:off x="10787829" y="2649831"/>
              <a:ext cx="50526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rgbClr val="FF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40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DBC4C-E109-4EE8-94CB-AFE719AE5E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63" t="22171" r="54312" b="36636"/>
          <a:stretch/>
        </p:blipFill>
        <p:spPr>
          <a:xfrm>
            <a:off x="2975517" y="2504467"/>
            <a:ext cx="7112230" cy="4026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B40C6-6201-45AC-882F-EE1BFCC5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generic NN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28E8B-A6D4-453A-86E5-7FFDAFEE6A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94" t="30572" r="44167" b="63366"/>
          <a:stretch/>
        </p:blipFill>
        <p:spPr>
          <a:xfrm>
            <a:off x="2277465" y="1607705"/>
            <a:ext cx="7439185" cy="8967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D522F1-7418-4A5C-A587-1A512460F029}"/>
              </a:ext>
            </a:extLst>
          </p:cNvPr>
          <p:cNvSpPr txBox="1"/>
          <p:nvPr/>
        </p:nvSpPr>
        <p:spPr>
          <a:xfrm>
            <a:off x="6690637" y="1203035"/>
            <a:ext cx="568038" cy="138499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0.12</a:t>
            </a:r>
          </a:p>
          <a:p>
            <a:pPr algn="ctr"/>
            <a:r>
              <a:rPr lang="en-US" sz="1200" dirty="0"/>
              <a:t>0.14</a:t>
            </a:r>
          </a:p>
          <a:p>
            <a:pPr algn="ctr"/>
            <a:r>
              <a:rPr lang="en-US" sz="1200" dirty="0"/>
              <a:t>0.55</a:t>
            </a:r>
          </a:p>
          <a:p>
            <a:pPr algn="ctr"/>
            <a:r>
              <a:rPr lang="en-US" sz="1200" dirty="0"/>
              <a:t>.</a:t>
            </a:r>
          </a:p>
          <a:p>
            <a:pPr algn="ctr"/>
            <a:r>
              <a:rPr lang="en-US" sz="1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DF8E7-2C45-4DC8-8359-36C37FBB400E}"/>
              </a:ext>
            </a:extLst>
          </p:cNvPr>
          <p:cNvSpPr txBox="1"/>
          <p:nvPr/>
        </p:nvSpPr>
        <p:spPr>
          <a:xfrm>
            <a:off x="9728199" y="3002716"/>
            <a:ext cx="568038" cy="193899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1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259E7-C577-4ABA-8E1F-D8DE1C6D0531}"/>
              </a:ext>
            </a:extLst>
          </p:cNvPr>
          <p:cNvSpPr/>
          <p:nvPr/>
        </p:nvSpPr>
        <p:spPr>
          <a:xfrm>
            <a:off x="6259216" y="3251133"/>
            <a:ext cx="39786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CDD8F9-F4FE-429E-9E9F-5C40501D76E5}"/>
              </a:ext>
            </a:extLst>
          </p:cNvPr>
          <p:cNvSpPr/>
          <p:nvPr/>
        </p:nvSpPr>
        <p:spPr>
          <a:xfrm>
            <a:off x="8121154" y="4654406"/>
            <a:ext cx="5052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447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DF8F-2533-45E6-949C-9B9B0FD1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Choosing an output predictions and Loss function for multiclass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E13FD-DF66-48DC-971D-90DAD37C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 descr="TensorFlow, Keras and deep learning, without a PhD">
            <a:extLst>
              <a:ext uri="{FF2B5EF4-FFF2-40B4-BE49-F238E27FC236}">
                <a16:creationId xmlns:a16="http://schemas.microsoft.com/office/drawing/2014/main" id="{A5A363B7-5E4F-47F4-B602-ED90F03771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31"/>
          <a:stretch/>
        </p:blipFill>
        <p:spPr bwMode="auto">
          <a:xfrm>
            <a:off x="838200" y="1825625"/>
            <a:ext cx="9762836" cy="205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ensorFlow, Keras and deep learning, without a PhD">
            <a:extLst>
              <a:ext uri="{FF2B5EF4-FFF2-40B4-BE49-F238E27FC236}">
                <a16:creationId xmlns:a16="http://schemas.microsoft.com/office/drawing/2014/main" id="{B98A37D9-B3A6-4F25-BF15-903DE0CB5D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892" b="40726"/>
          <a:stretch/>
        </p:blipFill>
        <p:spPr bwMode="auto">
          <a:xfrm>
            <a:off x="990600" y="4010651"/>
            <a:ext cx="9762836" cy="71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2CD9CD6-DFF7-4606-84A4-F5EF27D9AD1F}"/>
              </a:ext>
            </a:extLst>
          </p:cNvPr>
          <p:cNvGrpSpPr/>
          <p:nvPr/>
        </p:nvGrpSpPr>
        <p:grpSpPr>
          <a:xfrm>
            <a:off x="3456709" y="4949505"/>
            <a:ext cx="7449126" cy="1811912"/>
            <a:chOff x="3456709" y="4949505"/>
            <a:chExt cx="7449126" cy="181191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1B1EDCE-B2FC-4034-981D-456EAAE3BDEE}"/>
                </a:ext>
              </a:extLst>
            </p:cNvPr>
            <p:cNvSpPr txBox="1"/>
            <p:nvPr/>
          </p:nvSpPr>
          <p:spPr>
            <a:xfrm>
              <a:off x="3456709" y="5421745"/>
              <a:ext cx="226290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/>
                <a:t>Softmax</a:t>
              </a:r>
              <a:endParaRPr lang="en-US" sz="3600" dirty="0"/>
            </a:p>
            <a:p>
              <a:r>
                <a:rPr lang="en-US" sz="3600" dirty="0"/>
                <a:t>Σ(p) = 1</a:t>
              </a:r>
            </a:p>
          </p:txBody>
        </p:sp>
        <p:pic>
          <p:nvPicPr>
            <p:cNvPr id="7" name="Picture 2" descr="TensorFlow, Keras and deep learning, without a PhD">
              <a:extLst>
                <a:ext uri="{FF2B5EF4-FFF2-40B4-BE49-F238E27FC236}">
                  <a16:creationId xmlns:a16="http://schemas.microsoft.com/office/drawing/2014/main" id="{300C1BF6-0EA6-4A4D-9B4F-84AD9A630C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606" t="60874"/>
            <a:stretch/>
          </p:blipFill>
          <p:spPr bwMode="auto">
            <a:xfrm>
              <a:off x="5595456" y="4949505"/>
              <a:ext cx="5310379" cy="1811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210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056989B-9FCA-4578-9973-D41E053300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63" t="22171" r="54312" b="36636"/>
          <a:stretch/>
        </p:blipFill>
        <p:spPr>
          <a:xfrm>
            <a:off x="2921164" y="2473694"/>
            <a:ext cx="7166584" cy="4057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0B40C6-6201-45AC-882F-EE1BFCC5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 and Loss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28E8B-A6D4-453A-86E5-7FFDAFEE6A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94" t="30572" r="44167" b="63366"/>
          <a:stretch/>
        </p:blipFill>
        <p:spPr>
          <a:xfrm>
            <a:off x="2277465" y="1607705"/>
            <a:ext cx="7439185" cy="8967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D522F1-7418-4A5C-A587-1A512460F029}"/>
              </a:ext>
            </a:extLst>
          </p:cNvPr>
          <p:cNvSpPr txBox="1"/>
          <p:nvPr/>
        </p:nvSpPr>
        <p:spPr>
          <a:xfrm>
            <a:off x="6690637" y="1203035"/>
            <a:ext cx="568038" cy="138499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0.12</a:t>
            </a:r>
          </a:p>
          <a:p>
            <a:pPr algn="ctr"/>
            <a:r>
              <a:rPr lang="en-US" sz="1200" dirty="0"/>
              <a:t>0.14</a:t>
            </a:r>
          </a:p>
          <a:p>
            <a:pPr algn="ctr"/>
            <a:r>
              <a:rPr lang="en-US" sz="1200" dirty="0"/>
              <a:t>0.55</a:t>
            </a:r>
          </a:p>
          <a:p>
            <a:pPr algn="ctr"/>
            <a:r>
              <a:rPr lang="en-US" sz="1200" dirty="0"/>
              <a:t>.</a:t>
            </a:r>
          </a:p>
          <a:p>
            <a:pPr algn="ctr"/>
            <a:r>
              <a:rPr lang="en-US" sz="12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6DF8E7-2C45-4DC8-8359-36C37FBB400E}"/>
              </a:ext>
            </a:extLst>
          </p:cNvPr>
          <p:cNvSpPr txBox="1"/>
          <p:nvPr/>
        </p:nvSpPr>
        <p:spPr>
          <a:xfrm>
            <a:off x="9544175" y="2968282"/>
            <a:ext cx="568038" cy="193899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1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</a:p>
          <a:p>
            <a:pPr algn="ctr"/>
            <a:r>
              <a:rPr lang="en-US" sz="1200" dirty="0"/>
              <a:t>0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EAC510-ED03-4030-AB5D-CF41751D7C92}"/>
              </a:ext>
            </a:extLst>
          </p:cNvPr>
          <p:cNvSpPr txBox="1"/>
          <p:nvPr/>
        </p:nvSpPr>
        <p:spPr>
          <a:xfrm>
            <a:off x="5130304" y="3375562"/>
            <a:ext cx="568038" cy="1938992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0.1</a:t>
            </a:r>
          </a:p>
          <a:p>
            <a:pPr algn="ctr"/>
            <a:r>
              <a:rPr lang="en-US" sz="1200" dirty="0"/>
              <a:t>0.05</a:t>
            </a:r>
          </a:p>
          <a:p>
            <a:pPr algn="ctr"/>
            <a:r>
              <a:rPr lang="en-US" sz="1200" dirty="0"/>
              <a:t>0.05</a:t>
            </a:r>
          </a:p>
          <a:p>
            <a:pPr algn="ctr"/>
            <a:r>
              <a:rPr lang="en-US" sz="1200" dirty="0"/>
              <a:t>0.5</a:t>
            </a:r>
          </a:p>
          <a:p>
            <a:pPr algn="ctr"/>
            <a:r>
              <a:rPr lang="en-US" sz="1200" dirty="0"/>
              <a:t>0.03</a:t>
            </a:r>
          </a:p>
          <a:p>
            <a:pPr algn="ctr"/>
            <a:r>
              <a:rPr lang="en-US" sz="1200" dirty="0"/>
              <a:t>0.04</a:t>
            </a:r>
          </a:p>
          <a:p>
            <a:pPr algn="ctr"/>
            <a:r>
              <a:rPr lang="en-US" sz="1200" dirty="0"/>
              <a:t>0.01</a:t>
            </a:r>
          </a:p>
          <a:p>
            <a:pPr algn="ctr"/>
            <a:r>
              <a:rPr lang="en-US" sz="1200" dirty="0"/>
              <a:t>0.02</a:t>
            </a:r>
          </a:p>
          <a:p>
            <a:pPr algn="ctr"/>
            <a:r>
              <a:rPr lang="en-US" sz="1200" dirty="0"/>
              <a:t>0.1</a:t>
            </a:r>
          </a:p>
          <a:p>
            <a:pPr algn="ctr"/>
            <a:r>
              <a:rPr lang="en-US" sz="1200" dirty="0"/>
              <a:t>0.1</a:t>
            </a:r>
            <a:endParaRPr lang="en-US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712C9C3F-687A-4448-AF13-DCAA70078098}"/>
              </a:ext>
            </a:extLst>
          </p:cNvPr>
          <p:cNvSpPr/>
          <p:nvPr/>
        </p:nvSpPr>
        <p:spPr>
          <a:xfrm>
            <a:off x="4748603" y="3245281"/>
            <a:ext cx="381702" cy="19389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4B0A1B-E1BB-4DC7-94BF-74ED238F2F5D}"/>
              </a:ext>
            </a:extLst>
          </p:cNvPr>
          <p:cNvSpPr txBox="1"/>
          <p:nvPr/>
        </p:nvSpPr>
        <p:spPr>
          <a:xfrm>
            <a:off x="4326179" y="3937778"/>
            <a:ext cx="674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/>
              <a:t>Σ</a:t>
            </a:r>
            <a:r>
              <a:rPr lang="en-US" sz="1200" dirty="0"/>
              <a:t>(p) = 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41754B-1F60-4D88-86F6-0E0418EB7E8F}"/>
              </a:ext>
            </a:extLst>
          </p:cNvPr>
          <p:cNvSpPr/>
          <p:nvPr/>
        </p:nvSpPr>
        <p:spPr>
          <a:xfrm>
            <a:off x="5759286" y="3386996"/>
            <a:ext cx="1051969" cy="2849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SoftMax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31759E-25D9-46D8-92C3-DCB5640B28C5}"/>
              </a:ext>
            </a:extLst>
          </p:cNvPr>
          <p:cNvSpPr/>
          <p:nvPr/>
        </p:nvSpPr>
        <p:spPr>
          <a:xfrm>
            <a:off x="6795165" y="5314554"/>
            <a:ext cx="1652187" cy="5002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</a:t>
            </a:r>
          </a:p>
          <a:p>
            <a:pPr algn="ctr"/>
            <a:r>
              <a:rPr lang="en-US" dirty="0"/>
              <a:t>Entropy</a:t>
            </a:r>
          </a:p>
        </p:txBody>
      </p:sp>
    </p:spTree>
    <p:extLst>
      <p:ext uri="{BB962C8B-B14F-4D97-AF65-F5344CB8AC3E}">
        <p14:creationId xmlns:p14="http://schemas.microsoft.com/office/powerpoint/2010/main" val="1891653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FCB8CD-E597-4FCF-BD33-6A2E7C805261}"/>
              </a:ext>
            </a:extLst>
          </p:cNvPr>
          <p:cNvSpPr/>
          <p:nvPr/>
        </p:nvSpPr>
        <p:spPr>
          <a:xfrm>
            <a:off x="1339273" y="1560946"/>
            <a:ext cx="9352578" cy="522778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A6628-D3EF-4F83-A731-128DB69D9A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290" t="32421" r="30131" b="16632"/>
          <a:stretch/>
        </p:blipFill>
        <p:spPr>
          <a:xfrm>
            <a:off x="2464067" y="1700021"/>
            <a:ext cx="7093819" cy="50098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3A2B7A-101D-4353-9880-0FF00B926E96}"/>
              </a:ext>
            </a:extLst>
          </p:cNvPr>
          <p:cNvSpPr txBox="1"/>
          <p:nvPr/>
        </p:nvSpPr>
        <p:spPr>
          <a:xfrm>
            <a:off x="2569938" y="5698156"/>
            <a:ext cx="2299687" cy="9233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Update the weights in a way that will reduce the Loss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3C12B2-E554-4D3A-B35C-B101825CBA11}"/>
              </a:ext>
            </a:extLst>
          </p:cNvPr>
          <p:cNvSpPr/>
          <p:nvPr/>
        </p:nvSpPr>
        <p:spPr>
          <a:xfrm>
            <a:off x="3036819" y="4693161"/>
            <a:ext cx="1095620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Hyper Params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9D8165-2F5C-45C1-AD80-5B413959A954}"/>
              </a:ext>
            </a:extLst>
          </p:cNvPr>
          <p:cNvSpPr/>
          <p:nvPr/>
        </p:nvSpPr>
        <p:spPr>
          <a:xfrm>
            <a:off x="4073929" y="2735153"/>
            <a:ext cx="1095620" cy="5541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Set Params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6F94E72F-AB47-4545-941C-3A29E8EB5D09}"/>
              </a:ext>
            </a:extLst>
          </p:cNvPr>
          <p:cNvSpPr/>
          <p:nvPr/>
        </p:nvSpPr>
        <p:spPr>
          <a:xfrm>
            <a:off x="4343533" y="412457"/>
            <a:ext cx="2969360" cy="907575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 NN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53C3A-2AD8-4818-A6E1-219F4608ECB9}"/>
              </a:ext>
            </a:extLst>
          </p:cNvPr>
          <p:cNvSpPr txBox="1"/>
          <p:nvPr/>
        </p:nvSpPr>
        <p:spPr>
          <a:xfrm>
            <a:off x="818148" y="396702"/>
            <a:ext cx="3030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Optimize</a:t>
            </a:r>
          </a:p>
        </p:txBody>
      </p:sp>
    </p:spTree>
    <p:extLst>
      <p:ext uri="{BB962C8B-B14F-4D97-AF65-F5344CB8AC3E}">
        <p14:creationId xmlns:p14="http://schemas.microsoft.com/office/powerpoint/2010/main" val="894822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4EA5-AADA-415B-B0E0-9EE81E86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868"/>
            <a:ext cx="10515600" cy="1325563"/>
          </a:xfrm>
        </p:spPr>
        <p:txBody>
          <a:bodyPr/>
          <a:lstStyle/>
          <a:p>
            <a:r>
              <a:rPr lang="en-US" dirty="0"/>
              <a:t>Training the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98BA9-9148-48A8-AE9B-38078FD0F3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39" t="34747" r="10076" b="11919"/>
          <a:stretch/>
        </p:blipFill>
        <p:spPr>
          <a:xfrm>
            <a:off x="2236535" y="3138095"/>
            <a:ext cx="2964037" cy="1662548"/>
          </a:xfrm>
          <a:prstGeom prst="rect">
            <a:avLst/>
          </a:prstGeom>
        </p:spPr>
      </p:pic>
      <p:sp>
        <p:nvSpPr>
          <p:cNvPr id="6" name="Arrow: Notched Right 5">
            <a:extLst>
              <a:ext uri="{FF2B5EF4-FFF2-40B4-BE49-F238E27FC236}">
                <a16:creationId xmlns:a16="http://schemas.microsoft.com/office/drawing/2014/main" id="{8E5A4773-E3F8-4E06-98A3-5FFE51918A52}"/>
              </a:ext>
            </a:extLst>
          </p:cNvPr>
          <p:cNvSpPr/>
          <p:nvPr/>
        </p:nvSpPr>
        <p:spPr>
          <a:xfrm>
            <a:off x="5554223" y="3812492"/>
            <a:ext cx="630440" cy="387927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 descr="Function examples - Math Insight">
            <a:extLst>
              <a:ext uri="{FF2B5EF4-FFF2-40B4-BE49-F238E27FC236}">
                <a16:creationId xmlns:a16="http://schemas.microsoft.com/office/drawing/2014/main" id="{DD6E096C-A530-424E-9DC5-751E801E5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4"/>
          <a:stretch/>
        </p:blipFill>
        <p:spPr bwMode="auto">
          <a:xfrm>
            <a:off x="6657450" y="3013570"/>
            <a:ext cx="1928668" cy="198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NIST For Machine Learning Beginners With Softmax Regression | DataScience+">
            <a:extLst>
              <a:ext uri="{FF2B5EF4-FFF2-40B4-BE49-F238E27FC236}">
                <a16:creationId xmlns:a16="http://schemas.microsoft.com/office/drawing/2014/main" id="{FD997D30-C81A-4CBA-A2D2-1F198426C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0" r="37225"/>
          <a:stretch/>
        </p:blipFill>
        <p:spPr bwMode="auto">
          <a:xfrm>
            <a:off x="5429951" y="1629556"/>
            <a:ext cx="1708149" cy="108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608AB9-BDBE-41D4-AB4C-30EBFCD172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" t="7138" r="80043" b="61857"/>
          <a:stretch/>
        </p:blipFill>
        <p:spPr>
          <a:xfrm>
            <a:off x="7248937" y="1606025"/>
            <a:ext cx="1708149" cy="1127270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01A39E4D-7BED-460A-B991-E71FF0A0C305}"/>
              </a:ext>
            </a:extLst>
          </p:cNvPr>
          <p:cNvSpPr/>
          <p:nvPr/>
        </p:nvSpPr>
        <p:spPr>
          <a:xfrm>
            <a:off x="6284025" y="2733295"/>
            <a:ext cx="556420" cy="5456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2E130A74-0152-47FD-AF33-54B5322169B4}"/>
              </a:ext>
            </a:extLst>
          </p:cNvPr>
          <p:cNvSpPr/>
          <p:nvPr/>
        </p:nvSpPr>
        <p:spPr>
          <a:xfrm>
            <a:off x="8019113" y="2698871"/>
            <a:ext cx="556420" cy="5456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FB2D9-2CEC-4767-9B76-9C1DB9F6694F}"/>
              </a:ext>
            </a:extLst>
          </p:cNvPr>
          <p:cNvSpPr txBox="1"/>
          <p:nvPr/>
        </p:nvSpPr>
        <p:spPr>
          <a:xfrm>
            <a:off x="5990699" y="1186318"/>
            <a:ext cx="849746" cy="37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6EA58D-F4E0-49C7-9B71-D1E66CB07825}"/>
              </a:ext>
            </a:extLst>
          </p:cNvPr>
          <p:cNvSpPr txBox="1"/>
          <p:nvPr/>
        </p:nvSpPr>
        <p:spPr>
          <a:xfrm>
            <a:off x="7736372" y="1186317"/>
            <a:ext cx="849746" cy="378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</a:t>
            </a:r>
          </a:p>
        </p:txBody>
      </p: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D3007490-34E8-4B40-998C-5339D72CB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360073"/>
              </p:ext>
            </p:extLst>
          </p:nvPr>
        </p:nvGraphicFramePr>
        <p:xfrm>
          <a:off x="6699880" y="5061233"/>
          <a:ext cx="774338" cy="1578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1887248366"/>
                    </a:ext>
                  </a:extLst>
                </a:gridCol>
                <a:gridCol w="423183">
                  <a:extLst>
                    <a:ext uri="{9D8B030D-6E8A-4147-A177-3AD203B41FA5}">
                      <a16:colId xmlns:a16="http://schemas.microsoft.com/office/drawing/2014/main" val="33658593"/>
                    </a:ext>
                  </a:extLst>
                </a:gridCol>
              </a:tblGrid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23370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753861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244208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821983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22988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9D68728-F4D3-40DF-9BA4-4395C641B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972657"/>
              </p:ext>
            </p:extLst>
          </p:nvPr>
        </p:nvGraphicFramePr>
        <p:xfrm>
          <a:off x="7736372" y="5061233"/>
          <a:ext cx="774338" cy="1578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55">
                  <a:extLst>
                    <a:ext uri="{9D8B030D-6E8A-4147-A177-3AD203B41FA5}">
                      <a16:colId xmlns:a16="http://schemas.microsoft.com/office/drawing/2014/main" val="1887248366"/>
                    </a:ext>
                  </a:extLst>
                </a:gridCol>
                <a:gridCol w="423183">
                  <a:extLst>
                    <a:ext uri="{9D8B030D-6E8A-4147-A177-3AD203B41FA5}">
                      <a16:colId xmlns:a16="http://schemas.microsoft.com/office/drawing/2014/main" val="33658593"/>
                    </a:ext>
                  </a:extLst>
                </a:gridCol>
              </a:tblGrid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23370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753861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244208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821983"/>
                  </a:ext>
                </a:extLst>
              </a:tr>
              <a:tr h="31563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2298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C0800D70-5368-4D47-9114-D0934705373E}"/>
              </a:ext>
            </a:extLst>
          </p:cNvPr>
          <p:cNvSpPr txBox="1"/>
          <p:nvPr/>
        </p:nvSpPr>
        <p:spPr>
          <a:xfrm>
            <a:off x="4072204" y="5689370"/>
            <a:ext cx="296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Success Criteria: Accuracy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14DBA9-27E5-444A-8A9C-397120A75FCB}"/>
              </a:ext>
            </a:extLst>
          </p:cNvPr>
          <p:cNvSpPr txBox="1"/>
          <p:nvPr/>
        </p:nvSpPr>
        <p:spPr>
          <a:xfrm>
            <a:off x="6840445" y="4800643"/>
            <a:ext cx="55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A2877D-A51A-4455-82E2-B8E9F7BACC19}"/>
              </a:ext>
            </a:extLst>
          </p:cNvPr>
          <p:cNvSpPr txBox="1"/>
          <p:nvPr/>
        </p:nvSpPr>
        <p:spPr>
          <a:xfrm>
            <a:off x="7830486" y="4799154"/>
            <a:ext cx="55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47632-6920-494C-9D4F-6D2D609C177A}"/>
              </a:ext>
            </a:extLst>
          </p:cNvPr>
          <p:cNvSpPr txBox="1"/>
          <p:nvPr/>
        </p:nvSpPr>
        <p:spPr>
          <a:xfrm>
            <a:off x="8586119" y="2561239"/>
            <a:ext cx="64177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10000</a:t>
            </a:r>
          </a:p>
        </p:txBody>
      </p:sp>
    </p:spTree>
    <p:extLst>
      <p:ext uri="{BB962C8B-B14F-4D97-AF65-F5344CB8AC3E}">
        <p14:creationId xmlns:p14="http://schemas.microsoft.com/office/powerpoint/2010/main" val="1045823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2290">
            <a:extLst>
              <a:ext uri="{FF2B5EF4-FFF2-40B4-BE49-F238E27FC236}">
                <a16:creationId xmlns:a16="http://schemas.microsoft.com/office/drawing/2014/main" id="{9EFD5E19-6E8A-4751-98C3-89C2D84A1210}"/>
              </a:ext>
            </a:extLst>
          </p:cNvPr>
          <p:cNvSpPr/>
          <p:nvPr/>
        </p:nvSpPr>
        <p:spPr>
          <a:xfrm>
            <a:off x="8125695" y="2576945"/>
            <a:ext cx="3512123" cy="19765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CCAA1E-93C9-4B2B-B5EF-238683D6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Epochs – Repeating the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48AD8-9EB6-4181-AB25-0A40EA1EC9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546" t="31111" r="5530" b="13400"/>
          <a:stretch/>
        </p:blipFill>
        <p:spPr>
          <a:xfrm>
            <a:off x="2259231" y="2683690"/>
            <a:ext cx="5390804" cy="2807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DE19A803-B4E5-47C9-A4D0-6CB393EE5A36}"/>
              </a:ext>
            </a:extLst>
          </p:cNvPr>
          <p:cNvSpPr/>
          <p:nvPr/>
        </p:nvSpPr>
        <p:spPr>
          <a:xfrm rot="8170569">
            <a:off x="921807" y="2933219"/>
            <a:ext cx="2393555" cy="415880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DE51B-DA33-4BAA-9774-39AE77D007DA}"/>
              </a:ext>
            </a:extLst>
          </p:cNvPr>
          <p:cNvSpPr txBox="1"/>
          <p:nvPr/>
        </p:nvSpPr>
        <p:spPr>
          <a:xfrm>
            <a:off x="2937163" y="15195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epoch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a term used in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and indicates the number of passes of the entire training dataset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machine learning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algorithm has completed</a:t>
            </a:r>
            <a:endParaRPr lang="en-US" dirty="0"/>
          </a:p>
        </p:txBody>
      </p:sp>
      <p:grpSp>
        <p:nvGrpSpPr>
          <p:cNvPr id="12289" name="Group 12288">
            <a:extLst>
              <a:ext uri="{FF2B5EF4-FFF2-40B4-BE49-F238E27FC236}">
                <a16:creationId xmlns:a16="http://schemas.microsoft.com/office/drawing/2014/main" id="{A3F74FD8-74BC-4557-8253-8D9E5E894859}"/>
              </a:ext>
            </a:extLst>
          </p:cNvPr>
          <p:cNvGrpSpPr/>
          <p:nvPr/>
        </p:nvGrpSpPr>
        <p:grpSpPr>
          <a:xfrm>
            <a:off x="8197291" y="2700835"/>
            <a:ext cx="3156509" cy="1414260"/>
            <a:chOff x="8197291" y="2700835"/>
            <a:chExt cx="3156509" cy="14142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A95C32-1232-425E-9EC4-FA79546FCBA4}"/>
                </a:ext>
              </a:extLst>
            </p:cNvPr>
            <p:cNvGrpSpPr/>
            <p:nvPr/>
          </p:nvGrpSpPr>
          <p:grpSpPr>
            <a:xfrm>
              <a:off x="8294254" y="3085240"/>
              <a:ext cx="1477818" cy="1029855"/>
              <a:chOff x="8432800" y="4821382"/>
              <a:chExt cx="1477818" cy="1029855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8B3D5A72-9FCB-4D84-B769-1FF37BC9B2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2800" y="5698836"/>
                <a:ext cx="14778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5B5B0C5-D727-4C13-A7F7-63EE37AA6D9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21382"/>
                <a:ext cx="0" cy="10298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E3485F7-1981-4340-9F6B-F674611490C5}"/>
                </a:ext>
              </a:extLst>
            </p:cNvPr>
            <p:cNvGrpSpPr/>
            <p:nvPr/>
          </p:nvGrpSpPr>
          <p:grpSpPr>
            <a:xfrm>
              <a:off x="9875982" y="3071911"/>
              <a:ext cx="1477818" cy="1029855"/>
              <a:chOff x="8432800" y="4821382"/>
              <a:chExt cx="1477818" cy="1029855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0B6E4CB3-001E-4FA2-A7D7-FA6B1AF98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2800" y="5698836"/>
                <a:ext cx="14778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0E63D44-BE6E-4877-B605-F0C819EC5F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21382"/>
                <a:ext cx="0" cy="10298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51C77D-C2DE-454F-AF7D-FD4588CC771E}"/>
                </a:ext>
              </a:extLst>
            </p:cNvPr>
            <p:cNvSpPr txBox="1"/>
            <p:nvPr/>
          </p:nvSpPr>
          <p:spPr>
            <a:xfrm>
              <a:off x="8197291" y="2748174"/>
              <a:ext cx="641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Loss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A75839E-3AE2-4C49-A8D0-0938C0BE2CDF}"/>
                </a:ext>
              </a:extLst>
            </p:cNvPr>
            <p:cNvSpPr txBox="1"/>
            <p:nvPr/>
          </p:nvSpPr>
          <p:spPr>
            <a:xfrm>
              <a:off x="9670477" y="2700835"/>
              <a:ext cx="1015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Accuracy</a:t>
              </a:r>
            </a:p>
          </p:txBody>
        </p:sp>
      </p:grpSp>
      <p:grpSp>
        <p:nvGrpSpPr>
          <p:cNvPr id="12288" name="Group 12287">
            <a:extLst>
              <a:ext uri="{FF2B5EF4-FFF2-40B4-BE49-F238E27FC236}">
                <a16:creationId xmlns:a16="http://schemas.microsoft.com/office/drawing/2014/main" id="{5D308FB0-B4E7-4E75-8F31-108E83E460CD}"/>
              </a:ext>
            </a:extLst>
          </p:cNvPr>
          <p:cNvGrpSpPr/>
          <p:nvPr/>
        </p:nvGrpSpPr>
        <p:grpSpPr>
          <a:xfrm>
            <a:off x="8125695" y="5004591"/>
            <a:ext cx="3228105" cy="1434201"/>
            <a:chOff x="8125695" y="4505831"/>
            <a:chExt cx="3228105" cy="143420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95C0243-4D0D-4759-9625-D4F4C4DFFF3B}"/>
                </a:ext>
              </a:extLst>
            </p:cNvPr>
            <p:cNvGrpSpPr/>
            <p:nvPr/>
          </p:nvGrpSpPr>
          <p:grpSpPr>
            <a:xfrm>
              <a:off x="8294254" y="4910177"/>
              <a:ext cx="1477818" cy="1029855"/>
              <a:chOff x="8432800" y="4821382"/>
              <a:chExt cx="1477818" cy="1029855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26037E6-E408-4CA9-8AAF-FE320CE1D8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2800" y="5698836"/>
                <a:ext cx="14778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707CCA6-D77E-4F78-90F9-42A62FA098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21382"/>
                <a:ext cx="0" cy="10298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530F112-D6AD-431F-B539-960EB528241B}"/>
                </a:ext>
              </a:extLst>
            </p:cNvPr>
            <p:cNvGrpSpPr/>
            <p:nvPr/>
          </p:nvGrpSpPr>
          <p:grpSpPr>
            <a:xfrm>
              <a:off x="9875982" y="4896848"/>
              <a:ext cx="1477818" cy="1029855"/>
              <a:chOff x="8432800" y="4821382"/>
              <a:chExt cx="1477818" cy="1029855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23BA3E5A-3CEF-4433-AE57-1A70C63E8F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2800" y="5698836"/>
                <a:ext cx="147781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9B69B71C-DABE-43A6-A7B0-70DA2BCC9F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85200" y="4821382"/>
                <a:ext cx="0" cy="10298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B5B731-B591-4571-B02F-6F3D7CE8B090}"/>
                </a:ext>
              </a:extLst>
            </p:cNvPr>
            <p:cNvSpPr txBox="1"/>
            <p:nvPr/>
          </p:nvSpPr>
          <p:spPr>
            <a:xfrm>
              <a:off x="8125695" y="4527516"/>
              <a:ext cx="6419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Loss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68EB4F1-A7A7-4C29-91E7-51282D7E4608}"/>
                </a:ext>
              </a:extLst>
            </p:cNvPr>
            <p:cNvSpPr txBox="1"/>
            <p:nvPr/>
          </p:nvSpPr>
          <p:spPr>
            <a:xfrm>
              <a:off x="9718951" y="4505831"/>
              <a:ext cx="10159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Accuracy</a:t>
              </a:r>
            </a:p>
          </p:txBody>
        </p:sp>
      </p:grpSp>
      <p:sp>
        <p:nvSpPr>
          <p:cNvPr id="12292" name="Rectangle 12291">
            <a:extLst>
              <a:ext uri="{FF2B5EF4-FFF2-40B4-BE49-F238E27FC236}">
                <a16:creationId xmlns:a16="http://schemas.microsoft.com/office/drawing/2014/main" id="{AA31FDF8-D031-4CA7-B4FD-1FA54C3EC185}"/>
              </a:ext>
            </a:extLst>
          </p:cNvPr>
          <p:cNvSpPr/>
          <p:nvPr/>
        </p:nvSpPr>
        <p:spPr>
          <a:xfrm>
            <a:off x="8139555" y="4816765"/>
            <a:ext cx="3512123" cy="19765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93" name="TextBox 12292">
            <a:extLst>
              <a:ext uri="{FF2B5EF4-FFF2-40B4-BE49-F238E27FC236}">
                <a16:creationId xmlns:a16="http://schemas.microsoft.com/office/drawing/2014/main" id="{0FCFB91B-CDC6-4911-A7F8-4B7A84BDF098}"/>
              </a:ext>
            </a:extLst>
          </p:cNvPr>
          <p:cNvSpPr txBox="1"/>
          <p:nvPr/>
        </p:nvSpPr>
        <p:spPr>
          <a:xfrm>
            <a:off x="9217891" y="4115095"/>
            <a:ext cx="146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Train</a:t>
            </a:r>
          </a:p>
        </p:txBody>
      </p:sp>
      <p:sp>
        <p:nvSpPr>
          <p:cNvPr id="12294" name="TextBox 12293">
            <a:extLst>
              <a:ext uri="{FF2B5EF4-FFF2-40B4-BE49-F238E27FC236}">
                <a16:creationId xmlns:a16="http://schemas.microsoft.com/office/drawing/2014/main" id="{4D17350F-80C7-486A-8CA1-FB0488425997}"/>
              </a:ext>
            </a:extLst>
          </p:cNvPr>
          <p:cNvSpPr txBox="1"/>
          <p:nvPr/>
        </p:nvSpPr>
        <p:spPr>
          <a:xfrm>
            <a:off x="9217890" y="6400197"/>
            <a:ext cx="1468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092264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F7F0-F942-4DDA-BE2F-47DAD7D8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B2890-409D-4A2B-B2DE-B2AD03BCC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9545" cy="4351338"/>
          </a:xfrm>
        </p:spPr>
        <p:txBody>
          <a:bodyPr>
            <a:normAutofit/>
          </a:bodyPr>
          <a:lstStyle/>
          <a:p>
            <a:pPr algn="l"/>
            <a:r>
              <a:rPr lang="en-US" sz="3300" dirty="0">
                <a:solidFill>
                  <a:srgbClr val="202122"/>
                </a:solidFill>
                <a:latin typeface="Arial" panose="020B0604020202020204" pitchFamily="34" charset="0"/>
              </a:rPr>
              <a:t>Main Developer : Francois Chollet</a:t>
            </a:r>
          </a:p>
          <a:p>
            <a:r>
              <a:rPr lang="en-US" sz="3300" dirty="0">
                <a:solidFill>
                  <a:srgbClr val="202122"/>
                </a:solidFill>
                <a:latin typeface="Arial" panose="020B0604020202020204" pitchFamily="34" charset="0"/>
              </a:rPr>
              <a:t>Designed to enable fast experimentation with deep neural networks</a:t>
            </a:r>
          </a:p>
          <a:p>
            <a:pPr algn="l"/>
            <a:r>
              <a:rPr lang="en-US" sz="3300" dirty="0">
                <a:solidFill>
                  <a:srgbClr val="202122"/>
                </a:solidFill>
                <a:latin typeface="Arial" panose="020B0604020202020204" pitchFamily="34" charset="0"/>
              </a:rPr>
              <a:t>Open-source neural-network library written in Python </a:t>
            </a:r>
          </a:p>
          <a:p>
            <a:pPr algn="l"/>
            <a:r>
              <a:rPr lang="en-US" sz="3300" dirty="0">
                <a:solidFill>
                  <a:srgbClr val="202122"/>
                </a:solidFill>
                <a:latin typeface="Arial" panose="020B0604020202020204" pitchFamily="34" charset="0"/>
              </a:rPr>
              <a:t>It is capable of running on top of TensorFlow,  Microsoft Cognitive Toolkit, R, Theano, or </a:t>
            </a:r>
            <a:r>
              <a:rPr lang="en-US" sz="3300" dirty="0" err="1">
                <a:solidFill>
                  <a:srgbClr val="202122"/>
                </a:solidFill>
                <a:latin typeface="Arial" panose="020B0604020202020204" pitchFamily="34" charset="0"/>
              </a:rPr>
              <a:t>PlaidML</a:t>
            </a:r>
            <a:endParaRPr lang="en-US" sz="33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l"/>
            <a:r>
              <a:rPr lang="en-US" sz="3300" dirty="0">
                <a:solidFill>
                  <a:srgbClr val="202122"/>
                </a:solidFill>
                <a:latin typeface="Arial" panose="020B0604020202020204" pitchFamily="34" charset="0"/>
              </a:rPr>
              <a:t>User-friendly, modular, and extensible </a:t>
            </a:r>
          </a:p>
          <a:p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E23E5C8-D328-491E-8EE8-E5A14825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690" y="365125"/>
            <a:ext cx="1392959" cy="1392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nterview with The Creator of Keras, AI Researcher: François Chollet |  Hacker Noon">
            <a:extLst>
              <a:ext uri="{FF2B5EF4-FFF2-40B4-BE49-F238E27FC236}">
                <a16:creationId xmlns:a16="http://schemas.microsoft.com/office/drawing/2014/main" id="{99C52CCE-07A2-434F-B50B-7C50817CA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730" y="365124"/>
            <a:ext cx="1359261" cy="13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F914B4-7E07-46B3-BA34-B243DBE0A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403" y="4925291"/>
            <a:ext cx="349857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7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4575-E868-41A1-B23F-BE3698816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4181"/>
            <a:ext cx="10515600" cy="3082781"/>
          </a:xfrm>
        </p:spPr>
        <p:txBody>
          <a:bodyPr>
            <a:normAutofit lnSpcReduction="10000"/>
          </a:bodyPr>
          <a:lstStyle/>
          <a:p>
            <a:r>
              <a:rPr lang="en-US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Colaboratory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or “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” for short, is a product from Google Research. </a:t>
            </a:r>
          </a:p>
          <a:p>
            <a:r>
              <a:rPr lang="en-US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allows anybody to write and execute arbitrary python code through the browser, and is especially well suited to machine learning, data analysis and education.</a:t>
            </a:r>
          </a:p>
          <a:p>
            <a:r>
              <a:rPr lang="en-US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Colab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is a hosted 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lang="en-US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notebook service that requires no setup to use, while providing free access to computing resources including GPUs.</a:t>
            </a:r>
            <a:endParaRPr lang="en-US" dirty="0"/>
          </a:p>
        </p:txBody>
      </p:sp>
      <p:pic>
        <p:nvPicPr>
          <p:cNvPr id="5" name="Picture 2" descr="How to Use Google Colab for Deep Learning and Machine Learning | LaptrinhX">
            <a:extLst>
              <a:ext uri="{FF2B5EF4-FFF2-40B4-BE49-F238E27FC236}">
                <a16:creationId xmlns:a16="http://schemas.microsoft.com/office/drawing/2014/main" id="{4FC762B9-007E-47B9-BAFD-3F2C219E7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549" y="365125"/>
            <a:ext cx="5008227" cy="2480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27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8A7C-1F86-4A83-B2B1-DF2FAC61E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8626-0316-4562-A0C3-E81DD8616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https://github.com/fchollet/deep-learning-with-python-notebooks</a:t>
            </a:r>
            <a:endParaRPr lang="en-US" dirty="0"/>
          </a:p>
          <a:p>
            <a:r>
              <a:rPr lang="en-US" dirty="0">
                <a:hlinkClick r:id="rId3"/>
              </a:rPr>
              <a:t>https://github.com/fchollet/deep-learning-with-python-notebooks/blob/master/chapter02_mathematical-building-blocks.ipynb</a:t>
            </a:r>
            <a:r>
              <a:rPr lang="en-US" dirty="0"/>
              <a:t> (second edition)</a:t>
            </a:r>
          </a:p>
          <a:p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06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AB2E-80F9-4237-A98B-1D284D1D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Class 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AB47-6FD5-428F-947F-6618ED9F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</a:t>
            </a:r>
            <a:r>
              <a:rPr lang="en-US" b="1" dirty="0"/>
              <a:t>train and test accuracy </a:t>
            </a:r>
            <a:r>
              <a:rPr lang="en-US" dirty="0"/>
              <a:t>when: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5DC5548-8DD1-4C3B-81CE-4370BF1DB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572"/>
              </p:ext>
            </p:extLst>
          </p:nvPr>
        </p:nvGraphicFramePr>
        <p:xfrm>
          <a:off x="1486715" y="2984501"/>
          <a:ext cx="67733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889">
                  <a:extLst>
                    <a:ext uri="{9D8B030D-6E8A-4147-A177-3AD203B41FA5}">
                      <a16:colId xmlns:a16="http://schemas.microsoft.com/office/drawing/2014/main" val="207274706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3456385093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417403736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4093194721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3408304926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371777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945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10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99743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6285B991-0C21-4B1B-909E-8B250D7B4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018702"/>
              </p:ext>
            </p:extLst>
          </p:nvPr>
        </p:nvGraphicFramePr>
        <p:xfrm>
          <a:off x="1486715" y="4940535"/>
          <a:ext cx="54186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4">
                  <a:extLst>
                    <a:ext uri="{9D8B030D-6E8A-4147-A177-3AD203B41FA5}">
                      <a16:colId xmlns:a16="http://schemas.microsoft.com/office/drawing/2014/main" val="3218572874"/>
                    </a:ext>
                  </a:extLst>
                </a:gridCol>
                <a:gridCol w="1083734">
                  <a:extLst>
                    <a:ext uri="{9D8B030D-6E8A-4147-A177-3AD203B41FA5}">
                      <a16:colId xmlns:a16="http://schemas.microsoft.com/office/drawing/2014/main" val="3456385093"/>
                    </a:ext>
                  </a:extLst>
                </a:gridCol>
                <a:gridCol w="1083734">
                  <a:extLst>
                    <a:ext uri="{9D8B030D-6E8A-4147-A177-3AD203B41FA5}">
                      <a16:colId xmlns:a16="http://schemas.microsoft.com/office/drawing/2014/main" val="417403736"/>
                    </a:ext>
                  </a:extLst>
                </a:gridCol>
                <a:gridCol w="1083734">
                  <a:extLst>
                    <a:ext uri="{9D8B030D-6E8A-4147-A177-3AD203B41FA5}">
                      <a16:colId xmlns:a16="http://schemas.microsoft.com/office/drawing/2014/main" val="4093194721"/>
                    </a:ext>
                  </a:extLst>
                </a:gridCol>
                <a:gridCol w="1083734">
                  <a:extLst>
                    <a:ext uri="{9D8B030D-6E8A-4147-A177-3AD203B41FA5}">
                      <a16:colId xmlns:a16="http://schemas.microsoft.com/office/drawing/2014/main" val="3408304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945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10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742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54F50C8-6882-4519-AFB7-0F1A333CEF16}"/>
              </a:ext>
            </a:extLst>
          </p:cNvPr>
          <p:cNvSpPr txBox="1"/>
          <p:nvPr/>
        </p:nvSpPr>
        <p:spPr>
          <a:xfrm>
            <a:off x="4356527" y="2562738"/>
            <a:ext cx="1033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#Epochs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C8C9D-36F3-433F-97F4-D4ED1382DDDF}"/>
              </a:ext>
            </a:extLst>
          </p:cNvPr>
          <p:cNvSpPr txBox="1"/>
          <p:nvPr/>
        </p:nvSpPr>
        <p:spPr>
          <a:xfrm>
            <a:off x="3668416" y="4447295"/>
            <a:ext cx="240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#Training samples</a:t>
            </a:r>
          </a:p>
        </p:txBody>
      </p:sp>
    </p:spTree>
    <p:extLst>
      <p:ext uri="{BB962C8B-B14F-4D97-AF65-F5344CB8AC3E}">
        <p14:creationId xmlns:p14="http://schemas.microsoft.com/office/powerpoint/2010/main" val="1195523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25957</TotalTime>
  <Words>580</Words>
  <Application>Microsoft Office PowerPoint</Application>
  <PresentationFormat>Widescreen</PresentationFormat>
  <Paragraphs>231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</vt:lpstr>
      <vt:lpstr>Calibri</vt:lpstr>
      <vt:lpstr>Calibri Light</vt:lpstr>
      <vt:lpstr>Courier New</vt:lpstr>
      <vt:lpstr>Office Theme</vt:lpstr>
      <vt:lpstr>Let’s Build a Deep Learning Network!!!!!</vt:lpstr>
      <vt:lpstr>MNIST – The “Hello World” of Deep Learning</vt:lpstr>
      <vt:lpstr>MNIST Dataset</vt:lpstr>
      <vt:lpstr>The goal – mapping an input image to a digit</vt:lpstr>
      <vt:lpstr>PowerPoint Presentation</vt:lpstr>
      <vt:lpstr>Small Steps – We’ll start with a simple network</vt:lpstr>
      <vt:lpstr>Simple Neural Network</vt:lpstr>
      <vt:lpstr>Stages</vt:lpstr>
      <vt:lpstr>Preparing the input</vt:lpstr>
      <vt:lpstr>Preparing the output</vt:lpstr>
      <vt:lpstr>Simple Neural Network</vt:lpstr>
      <vt:lpstr>General principals</vt:lpstr>
      <vt:lpstr>Back to the generic NN model</vt:lpstr>
      <vt:lpstr>Choosing an output predictions and Loss function for multiclass classification</vt:lpstr>
      <vt:lpstr>Predictions and Loss</vt:lpstr>
      <vt:lpstr>PowerPoint Presentation</vt:lpstr>
      <vt:lpstr>Training the model</vt:lpstr>
      <vt:lpstr>Epochs – Repeating the process</vt:lpstr>
      <vt:lpstr>KERAS</vt:lpstr>
      <vt:lpstr>PowerPoint Presentation</vt:lpstr>
      <vt:lpstr>The code repository</vt:lpstr>
      <vt:lpstr>Class 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benny bornfeld</dc:creator>
  <cp:lastModifiedBy>benny bornfeld</cp:lastModifiedBy>
  <cp:revision>95</cp:revision>
  <dcterms:created xsi:type="dcterms:W3CDTF">2019-09-19T08:43:48Z</dcterms:created>
  <dcterms:modified xsi:type="dcterms:W3CDTF">2023-12-30T12:39:14Z</dcterms:modified>
</cp:coreProperties>
</file>
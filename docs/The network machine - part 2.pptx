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58" r:id="rId2"/>
    <p:sldId id="334" r:id="rId3"/>
    <p:sldId id="337" r:id="rId4"/>
    <p:sldId id="335" r:id="rId5"/>
    <p:sldId id="338" r:id="rId6"/>
    <p:sldId id="339" r:id="rId7"/>
    <p:sldId id="336" r:id="rId8"/>
    <p:sldId id="340" r:id="rId9"/>
    <p:sldId id="320" r:id="rId10"/>
    <p:sldId id="321" r:id="rId11"/>
    <p:sldId id="322" r:id="rId12"/>
    <p:sldId id="323" r:id="rId13"/>
    <p:sldId id="324" r:id="rId14"/>
    <p:sldId id="327" r:id="rId15"/>
    <p:sldId id="328" r:id="rId16"/>
    <p:sldId id="325" r:id="rId17"/>
    <p:sldId id="359" r:id="rId18"/>
    <p:sldId id="341" r:id="rId19"/>
    <p:sldId id="342" r:id="rId20"/>
    <p:sldId id="343" r:id="rId21"/>
    <p:sldId id="344" r:id="rId22"/>
    <p:sldId id="36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3B65"/>
    <a:srgbClr val="1AD5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AFB248-2A58-4B39-AD12-D26A5D37A8D6}" type="datetimeFigureOut">
              <a:rPr lang="en-US" smtClean="0"/>
              <a:t>10/21/2021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0E69DA-B2B9-45EF-A334-D9E70ED35581}" type="slidenum">
              <a:rPr lang="en-US" smtClean="0"/>
              <a:t>‹#›</a:t>
            </a:fld>
            <a:endParaRPr lang="en-US"/>
          </a:p>
        </p:txBody>
      </p:sp>
    </p:spTree>
    <p:extLst>
      <p:ext uri="{BB962C8B-B14F-4D97-AF65-F5344CB8AC3E}">
        <p14:creationId xmlns:p14="http://schemas.microsoft.com/office/powerpoint/2010/main" val="498741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22A34-85FA-474D-98B0-2E1B093AEB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7363F1-A9AC-4BFF-9EC2-506303B61D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E5C48D3-F577-42D9-A0AD-6205B2785D70}"/>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D2A92984-2BC3-4EAD-9B9C-34C7F3DDC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FD9F9E-D339-40A7-AB13-9023E48F8D29}"/>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893819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5A9F8-CE3A-4080-AC0C-4274FA80AE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6B8D37-DE9E-4294-A5FE-92A2AF34AF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254F1B-BAAA-432C-91BF-AEBCB08BD908}"/>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C7189904-EF6F-4828-9476-4C323B92D9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F3841-EB6A-4070-B5E0-299E9359BE4C}"/>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1533950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5D31A-E701-4529-B72E-3D22C6CF9C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96C7E9-13B9-4A63-90CD-46161F817E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54BB43-7CD4-49D7-BA8D-56520AD854AB}"/>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18E23ABB-EED8-446E-A622-6B4DD107E4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0BFDB-ED99-457C-B7FB-A6F1B52EA7D3}"/>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3671213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F61C0-36B5-46B4-8923-39FB808C31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478E7E-3C48-41D9-A924-8E4203CB65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74DA01-3FAF-413F-A085-F530A9B26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E2E1BE-D150-47FC-956D-41E9D22C2E79}"/>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6" name="Footer Placeholder 5">
            <a:extLst>
              <a:ext uri="{FF2B5EF4-FFF2-40B4-BE49-F238E27FC236}">
                <a16:creationId xmlns:a16="http://schemas.microsoft.com/office/drawing/2014/main" id="{5392363D-AC6A-4809-A411-1C58F40168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CDB6C4-9CF6-452F-AED9-F13123C37D51}"/>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3473280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DAC51-3D90-4C9C-9FCC-38BBB84C3A8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1F9432-8714-4203-9DAD-BC2A340D0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D82BFD-6B6F-4F2A-A3C9-C16F6BDEF3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8797129-598A-4C59-ACCE-138355E0C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04ADE9-D642-49C0-916D-9BD2F0C9B1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01BDD6-14BF-4E78-8426-DA0DB5EA2819}"/>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8" name="Footer Placeholder 7">
            <a:extLst>
              <a:ext uri="{FF2B5EF4-FFF2-40B4-BE49-F238E27FC236}">
                <a16:creationId xmlns:a16="http://schemas.microsoft.com/office/drawing/2014/main" id="{5BAE2DA2-0B2C-4DA6-AAC2-9A40B5EFA9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A21240-E0C6-4608-BE63-43501FD970C4}"/>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914517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1AE6B-DCE6-4F4A-9D73-4BFEC79DD0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424C96D-88E5-4A95-BD68-1A57B975F07F}"/>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4" name="Footer Placeholder 3">
            <a:extLst>
              <a:ext uri="{FF2B5EF4-FFF2-40B4-BE49-F238E27FC236}">
                <a16:creationId xmlns:a16="http://schemas.microsoft.com/office/drawing/2014/main" id="{9CBCCCB4-EEF0-455E-A4B1-90AD88758E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BEDE34-C848-4AB6-BBA3-4F7C7BF85BF8}"/>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504419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60A7ED-0316-4E8A-8A5F-08F4445CA9B0}"/>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3" name="Footer Placeholder 2">
            <a:extLst>
              <a:ext uri="{FF2B5EF4-FFF2-40B4-BE49-F238E27FC236}">
                <a16:creationId xmlns:a16="http://schemas.microsoft.com/office/drawing/2014/main" id="{8419920D-260C-47FA-A968-3A148B0600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03E9CC-CEAD-47A4-AF6A-A01D296F5189}"/>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3327213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80973-52E0-4C20-B8D2-E3626A94EC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28B9FE-04A9-49BC-A6F9-363425455A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2AAD22-2F19-4E13-A956-28C94BF8B4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EE9C6E-FA13-4E59-8495-2E5F1F230A44}"/>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6" name="Footer Placeholder 5">
            <a:extLst>
              <a:ext uri="{FF2B5EF4-FFF2-40B4-BE49-F238E27FC236}">
                <a16:creationId xmlns:a16="http://schemas.microsoft.com/office/drawing/2014/main" id="{F012254B-180F-4129-923D-23581699C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04E88-79A6-4469-90CE-DE8AB96D0754}"/>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3374143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D3ABD-F6A0-4686-B3D2-945E356997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5AF3501-3FFC-4776-8577-4DB87C2963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74C62C-8D82-4D99-AFFA-7B37A36515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E177DB-905C-446B-BE72-45E9CEB1C116}"/>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6" name="Footer Placeholder 5">
            <a:extLst>
              <a:ext uri="{FF2B5EF4-FFF2-40B4-BE49-F238E27FC236}">
                <a16:creationId xmlns:a16="http://schemas.microsoft.com/office/drawing/2014/main" id="{F1BD367C-DC64-4A02-8F83-33AA74AB6A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2CF32E-F53E-4D1E-8C13-39979B696C59}"/>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2369374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B807D-2B25-4765-A309-D208487D0B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EACB1D-B44F-450B-B8EB-35BCBAF101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3D47F-4411-43FB-A178-EA9B0BA7DA15}"/>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4946001F-BFD0-402F-BEC4-5DF2929FAA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98C2CE-CF8D-4871-A137-D0877B82FB42}"/>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3855375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C53047-71EA-4A41-BA03-6C19F5248E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E8F77E-A429-4669-88EE-744346BEE7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A59A0F-3CB6-4A43-A05E-03D390E33B1F}"/>
              </a:ext>
            </a:extLst>
          </p:cNvPr>
          <p:cNvSpPr>
            <a:spLocks noGrp="1"/>
          </p:cNvSpPr>
          <p:nvPr>
            <p:ph type="dt" sz="half" idx="10"/>
          </p:nvPr>
        </p:nvSpPr>
        <p:spPr/>
        <p:txBody>
          <a:body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AA1FEC47-595E-4FA0-93E3-CE0B55F7F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116D9-208D-459C-B07D-260433D1FB23}"/>
              </a:ext>
            </a:extLst>
          </p:cNvPr>
          <p:cNvSpPr>
            <a:spLocks noGrp="1"/>
          </p:cNvSpPr>
          <p:nvPr>
            <p:ph type="sldNum" sz="quarter" idx="12"/>
          </p:nvPr>
        </p:nvSpPr>
        <p:spPr/>
        <p:txBody>
          <a:bodyPr/>
          <a:lstStyle/>
          <a:p>
            <a:fld id="{2C89DA11-AA74-4D88-9724-8233F8E1836B}" type="slidenum">
              <a:rPr lang="en-US" smtClean="0"/>
              <a:t>‹#›</a:t>
            </a:fld>
            <a:endParaRPr lang="en-US"/>
          </a:p>
        </p:txBody>
      </p:sp>
    </p:spTree>
    <p:extLst>
      <p:ext uri="{BB962C8B-B14F-4D97-AF65-F5344CB8AC3E}">
        <p14:creationId xmlns:p14="http://schemas.microsoft.com/office/powerpoint/2010/main" val="1600953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9ADF67-FADC-461C-9E6B-A3D7BBDC4E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80DF12-2709-41BE-8473-50EAC1D53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626AE-A9D2-4FA5-B994-2B4D937190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5E524-32E3-48E9-B1FB-C22C3A46817E}" type="datetimeFigureOut">
              <a:rPr lang="en-US" smtClean="0"/>
              <a:t>10/21/2021</a:t>
            </a:fld>
            <a:endParaRPr lang="en-US"/>
          </a:p>
        </p:txBody>
      </p:sp>
      <p:sp>
        <p:nvSpPr>
          <p:cNvPr id="5" name="Footer Placeholder 4">
            <a:extLst>
              <a:ext uri="{FF2B5EF4-FFF2-40B4-BE49-F238E27FC236}">
                <a16:creationId xmlns:a16="http://schemas.microsoft.com/office/drawing/2014/main" id="{362AFC95-276A-46F7-AE11-C7D024B843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594897-AB13-4E3D-8E1B-683E1FFED0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89DA11-AA74-4D88-9724-8233F8E1836B}" type="slidenum">
              <a:rPr lang="en-US" smtClean="0"/>
              <a:t>‹#›</a:t>
            </a:fld>
            <a:endParaRPr lang="en-US"/>
          </a:p>
        </p:txBody>
      </p:sp>
    </p:spTree>
    <p:extLst>
      <p:ext uri="{BB962C8B-B14F-4D97-AF65-F5344CB8AC3E}">
        <p14:creationId xmlns:p14="http://schemas.microsoft.com/office/powerpoint/2010/main" val="2854784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gif"/><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hyperlink" Target="https://en.wikipedia.org/wiki/Functional_completeness" TargetMode="External"/><Relationship Id="rId2" Type="http://schemas.openxmlformats.org/officeDocument/2006/relationships/hyperlink" Target="https://en.wikipedia.org/wiki/Sheffer_stroke" TargetMode="Externa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en.wikipedia.org/wiki/Truth_table" TargetMode="External"/><Relationship Id="rId4" Type="http://schemas.openxmlformats.org/officeDocument/2006/relationships/hyperlink" Target="https://en.wikipedia.org/wiki/Equivalence_relation"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F24828C0-A3DD-41B3-97AB-DE385C40E05E}"/>
              </a:ext>
            </a:extLst>
          </p:cNvPr>
          <p:cNvSpPr/>
          <p:nvPr/>
        </p:nvSpPr>
        <p:spPr>
          <a:xfrm>
            <a:off x="2319553" y="3740607"/>
            <a:ext cx="2718033" cy="1770961"/>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ADF326-F464-44A9-9706-5B0CCBDD7506}"/>
              </a:ext>
            </a:extLst>
          </p:cNvPr>
          <p:cNvSpPr/>
          <p:nvPr/>
        </p:nvSpPr>
        <p:spPr>
          <a:xfrm>
            <a:off x="3579471" y="1851599"/>
            <a:ext cx="4647171"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rPr>
              <a:t>Neural Network</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6" name="Rectangle 5">
            <a:extLst>
              <a:ext uri="{FF2B5EF4-FFF2-40B4-BE49-F238E27FC236}">
                <a16:creationId xmlns:a16="http://schemas.microsoft.com/office/drawing/2014/main" id="{F0D8E38E-5596-4C38-886E-83C3108891D2}"/>
              </a:ext>
            </a:extLst>
          </p:cNvPr>
          <p:cNvSpPr/>
          <p:nvPr/>
        </p:nvSpPr>
        <p:spPr>
          <a:xfrm>
            <a:off x="2649154" y="4083072"/>
            <a:ext cx="2058832"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rPr>
              <a:t>Neural</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8" name="Rectangle 7">
            <a:extLst>
              <a:ext uri="{FF2B5EF4-FFF2-40B4-BE49-F238E27FC236}">
                <a16:creationId xmlns:a16="http://schemas.microsoft.com/office/drawing/2014/main" id="{8231AB80-4E53-4763-BA12-0F5CDFC813DF}"/>
              </a:ext>
            </a:extLst>
          </p:cNvPr>
          <p:cNvSpPr/>
          <p:nvPr/>
        </p:nvSpPr>
        <p:spPr>
          <a:xfrm>
            <a:off x="7205475" y="4083072"/>
            <a:ext cx="2615908" cy="923330"/>
          </a:xfrm>
          <a:prstGeom prst="rect">
            <a:avLst/>
          </a:prstGeom>
          <a:noFill/>
        </p:spPr>
        <p:txBody>
          <a:bodyPr wrap="none" lIns="91440" tIns="45720" rIns="91440" bIns="45720">
            <a:spAutoFit/>
          </a:bodyPr>
          <a:lstStyle/>
          <a:p>
            <a:pPr algn="ctr"/>
            <a:r>
              <a:rPr lang="en-US" sz="5400" dirty="0">
                <a:ln w="0"/>
                <a:solidFill>
                  <a:schemeClr val="accent1"/>
                </a:solidFill>
                <a:effectLst>
                  <a:outerShdw blurRad="38100" dist="25400" dir="5400000" algn="ctr" rotWithShape="0">
                    <a:srgbClr val="6E747A">
                      <a:alpha val="43000"/>
                    </a:srgbClr>
                  </a:outerShdw>
                </a:effectLst>
              </a:rPr>
              <a:t>Network</a:t>
            </a:r>
            <a:endParaRPr lang="en-US" sz="5400" b="0" cap="none" spc="0" dirty="0">
              <a:ln w="0"/>
              <a:solidFill>
                <a:schemeClr val="accent1"/>
              </a:solidFill>
              <a:effectLst>
                <a:outerShdw blurRad="38100" dist="25400" dir="5400000" algn="ctr" rotWithShape="0">
                  <a:srgbClr val="6E747A">
                    <a:alpha val="43000"/>
                  </a:srgbClr>
                </a:outerShdw>
              </a:effectLst>
            </a:endParaRPr>
          </a:p>
        </p:txBody>
      </p:sp>
      <p:sp>
        <p:nvSpPr>
          <p:cNvPr id="9" name="Arrow: Down 8">
            <a:extLst>
              <a:ext uri="{FF2B5EF4-FFF2-40B4-BE49-F238E27FC236}">
                <a16:creationId xmlns:a16="http://schemas.microsoft.com/office/drawing/2014/main" id="{C98F0B75-52CE-4930-88AD-62C03B1E0978}"/>
              </a:ext>
            </a:extLst>
          </p:cNvPr>
          <p:cNvSpPr/>
          <p:nvPr/>
        </p:nvSpPr>
        <p:spPr>
          <a:xfrm rot="2396803">
            <a:off x="4269996" y="2902591"/>
            <a:ext cx="184558" cy="10905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A3DC1377-2F39-4EA7-9E4E-F2EE20A01B67}"/>
              </a:ext>
            </a:extLst>
          </p:cNvPr>
          <p:cNvSpPr/>
          <p:nvPr/>
        </p:nvSpPr>
        <p:spPr>
          <a:xfrm rot="18956195">
            <a:off x="8134362" y="2984387"/>
            <a:ext cx="184558" cy="109056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6714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41EA-AFC5-403D-8699-4771ADC236EC}"/>
              </a:ext>
            </a:extLst>
          </p:cNvPr>
          <p:cNvSpPr>
            <a:spLocks noGrp="1"/>
          </p:cNvSpPr>
          <p:nvPr>
            <p:ph type="title"/>
          </p:nvPr>
        </p:nvSpPr>
        <p:spPr/>
        <p:txBody>
          <a:bodyPr/>
          <a:lstStyle/>
          <a:p>
            <a:r>
              <a:rPr lang="en-US" dirty="0"/>
              <a:t>Embedding non-linearity</a:t>
            </a:r>
          </a:p>
        </p:txBody>
      </p:sp>
      <p:sp>
        <p:nvSpPr>
          <p:cNvPr id="3" name="Content Placeholder 2">
            <a:extLst>
              <a:ext uri="{FF2B5EF4-FFF2-40B4-BE49-F238E27FC236}">
                <a16:creationId xmlns:a16="http://schemas.microsoft.com/office/drawing/2014/main" id="{E93DDEBE-17DA-4C63-92F3-938C99344692}"/>
              </a:ext>
            </a:extLst>
          </p:cNvPr>
          <p:cNvSpPr>
            <a:spLocks noGrp="1"/>
          </p:cNvSpPr>
          <p:nvPr>
            <p:ph idx="1"/>
          </p:nvPr>
        </p:nvSpPr>
        <p:spPr>
          <a:xfrm>
            <a:off x="838200" y="3354153"/>
            <a:ext cx="10515600" cy="2822809"/>
          </a:xfrm>
        </p:spPr>
        <p:txBody>
          <a:bodyPr>
            <a:normAutofit/>
          </a:bodyPr>
          <a:lstStyle/>
          <a:p>
            <a:r>
              <a:rPr lang="en-US" sz="2000" b="0" i="0" dirty="0">
                <a:solidFill>
                  <a:srgbClr val="202122"/>
                </a:solidFill>
                <a:effectLst/>
                <a:latin typeface="Arial" panose="020B0604020202020204" pitchFamily="34" charset="0"/>
              </a:rPr>
              <a:t>Rosenblatt was best known for the </a:t>
            </a:r>
            <a:r>
              <a:rPr lang="en-US" sz="2000" b="1" i="0" u="sng" dirty="0">
                <a:solidFill>
                  <a:srgbClr val="202122"/>
                </a:solidFill>
                <a:effectLst/>
                <a:latin typeface="Arial" panose="020B0604020202020204" pitchFamily="34" charset="0"/>
              </a:rPr>
              <a:t>Perceptron</a:t>
            </a:r>
            <a:r>
              <a:rPr lang="en-US" sz="2000" b="0" i="0" dirty="0">
                <a:solidFill>
                  <a:srgbClr val="202122"/>
                </a:solidFill>
                <a:effectLst/>
                <a:latin typeface="Arial" panose="020B0604020202020204" pitchFamily="34" charset="0"/>
              </a:rPr>
              <a:t>, an electronic device which was </a:t>
            </a:r>
            <a:r>
              <a:rPr lang="en-US" sz="2000" b="1" i="0" dirty="0">
                <a:solidFill>
                  <a:srgbClr val="202122"/>
                </a:solidFill>
                <a:effectLst/>
                <a:latin typeface="Arial" panose="020B0604020202020204" pitchFamily="34" charset="0"/>
              </a:rPr>
              <a:t>constructed in accordance with biological principles and showed an ability to learn</a:t>
            </a:r>
            <a:endParaRPr lang="en-US" sz="2000" b="1" dirty="0"/>
          </a:p>
          <a:p>
            <a:r>
              <a:rPr lang="en-US" sz="2000" dirty="0">
                <a:solidFill>
                  <a:srgbClr val="202122"/>
                </a:solidFill>
                <a:latin typeface="Arial" panose="020B0604020202020204" pitchFamily="34" charset="0"/>
              </a:rPr>
              <a:t>Warren Sturgis McCulloch (November 16, 1898 – September 24, 1969) was an American neurophysiologist and cybernetician, known for his work on the foundation for certain brain theories and his contribution to the cybernetics movement. Along with Walter Pitts, McCulloch created </a:t>
            </a:r>
            <a:r>
              <a:rPr lang="en-US" sz="2000" b="1" dirty="0">
                <a:solidFill>
                  <a:srgbClr val="202122"/>
                </a:solidFill>
                <a:latin typeface="Arial" panose="020B0604020202020204" pitchFamily="34" charset="0"/>
              </a:rPr>
              <a:t>computational models based on mathematical algorithms called </a:t>
            </a:r>
            <a:r>
              <a:rPr lang="en-US" sz="2000" b="1" u="sng" dirty="0">
                <a:solidFill>
                  <a:srgbClr val="202122"/>
                </a:solidFill>
                <a:latin typeface="Arial" panose="020B0604020202020204" pitchFamily="34" charset="0"/>
              </a:rPr>
              <a:t>threshold logic </a:t>
            </a:r>
            <a:r>
              <a:rPr lang="en-US" sz="2000" dirty="0">
                <a:solidFill>
                  <a:srgbClr val="202122"/>
                </a:solidFill>
                <a:latin typeface="Arial" panose="020B0604020202020204" pitchFamily="34" charset="0"/>
              </a:rPr>
              <a:t>which split the inquiry into two distinct approaches, one approach focused on biological processes in the brain and the other focused on the </a:t>
            </a:r>
            <a:r>
              <a:rPr lang="en-US" sz="2000" b="1" dirty="0">
                <a:solidFill>
                  <a:srgbClr val="202122"/>
                </a:solidFill>
                <a:latin typeface="Arial" panose="020B0604020202020204" pitchFamily="34" charset="0"/>
              </a:rPr>
              <a:t>application of neural networks to artificial intelligence</a:t>
            </a:r>
          </a:p>
          <a:p>
            <a:endParaRPr lang="en-US" dirty="0"/>
          </a:p>
        </p:txBody>
      </p:sp>
      <p:pic>
        <p:nvPicPr>
          <p:cNvPr id="35842" name="Picture 2" descr="Frank Rosenblatt">
            <a:extLst>
              <a:ext uri="{FF2B5EF4-FFF2-40B4-BE49-F238E27FC236}">
                <a16:creationId xmlns:a16="http://schemas.microsoft.com/office/drawing/2014/main" id="{174505FE-9A17-4129-B3D3-CB058BDED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9697" y="365125"/>
            <a:ext cx="1647213" cy="2133890"/>
          </a:xfrm>
          <a:prstGeom prst="rect">
            <a:avLst/>
          </a:prstGeom>
          <a:noFill/>
          <a:extLst>
            <a:ext uri="{909E8E84-426E-40DD-AFC4-6F175D3DCCD1}">
              <a14:hiddenFill xmlns:a14="http://schemas.microsoft.com/office/drawing/2010/main">
                <a:solidFill>
                  <a:srgbClr val="FFFFFF"/>
                </a:solidFill>
              </a14:hiddenFill>
            </a:ext>
          </a:extLst>
        </p:spPr>
      </p:pic>
      <p:pic>
        <p:nvPicPr>
          <p:cNvPr id="35844" name="Picture 4" descr="Psychon and McCulloch Pitts Neurons">
            <a:extLst>
              <a:ext uri="{FF2B5EF4-FFF2-40B4-BE49-F238E27FC236}">
                <a16:creationId xmlns:a16="http://schemas.microsoft.com/office/drawing/2014/main" id="{36D1F101-B5C7-40F3-B725-5E8ECD3AC0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708" y="365125"/>
            <a:ext cx="3360383" cy="213389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0D8F968B-8556-4913-8CFB-E3F663BADEB0}"/>
              </a:ext>
            </a:extLst>
          </p:cNvPr>
          <p:cNvGrpSpPr/>
          <p:nvPr/>
        </p:nvGrpSpPr>
        <p:grpSpPr>
          <a:xfrm>
            <a:off x="8360787" y="2492555"/>
            <a:ext cx="3610304" cy="523220"/>
            <a:chOff x="8360787" y="2492555"/>
            <a:chExt cx="3610304" cy="523220"/>
          </a:xfrm>
        </p:grpSpPr>
        <p:sp>
          <p:nvSpPr>
            <p:cNvPr id="6" name="TextBox 5">
              <a:extLst>
                <a:ext uri="{FF2B5EF4-FFF2-40B4-BE49-F238E27FC236}">
                  <a16:creationId xmlns:a16="http://schemas.microsoft.com/office/drawing/2014/main" id="{9E1470CC-5CC5-4727-AB41-707F5D63F80D}"/>
                </a:ext>
              </a:extLst>
            </p:cNvPr>
            <p:cNvSpPr txBox="1"/>
            <p:nvPr/>
          </p:nvSpPr>
          <p:spPr>
            <a:xfrm>
              <a:off x="10547060" y="2492555"/>
              <a:ext cx="1424031" cy="307777"/>
            </a:xfrm>
            <a:prstGeom prst="rect">
              <a:avLst/>
            </a:prstGeom>
            <a:noFill/>
          </p:spPr>
          <p:txBody>
            <a:bodyPr wrap="square">
              <a:spAutoFit/>
            </a:bodyPr>
            <a:lstStyle/>
            <a:p>
              <a:pPr algn="ctr"/>
              <a:r>
                <a:rPr lang="en-US" sz="1400" b="1" dirty="0">
                  <a:solidFill>
                    <a:srgbClr val="202122"/>
                  </a:solidFill>
                  <a:latin typeface="Arial" panose="020B0604020202020204" pitchFamily="34" charset="0"/>
                </a:rPr>
                <a:t>Walter Pitts</a:t>
              </a:r>
            </a:p>
          </p:txBody>
        </p:sp>
        <p:sp>
          <p:nvSpPr>
            <p:cNvPr id="9" name="TextBox 8">
              <a:extLst>
                <a:ext uri="{FF2B5EF4-FFF2-40B4-BE49-F238E27FC236}">
                  <a16:creationId xmlns:a16="http://schemas.microsoft.com/office/drawing/2014/main" id="{CA4DAF32-D67E-4792-BDA6-AF65EFE42CFA}"/>
                </a:ext>
              </a:extLst>
            </p:cNvPr>
            <p:cNvSpPr txBox="1"/>
            <p:nvPr/>
          </p:nvSpPr>
          <p:spPr>
            <a:xfrm>
              <a:off x="8360787" y="2492555"/>
              <a:ext cx="2410148" cy="523220"/>
            </a:xfrm>
            <a:prstGeom prst="rect">
              <a:avLst/>
            </a:prstGeom>
            <a:noFill/>
          </p:spPr>
          <p:txBody>
            <a:bodyPr wrap="square">
              <a:spAutoFit/>
            </a:bodyPr>
            <a:lstStyle/>
            <a:p>
              <a:pPr algn="ctr"/>
              <a:r>
                <a:rPr lang="en-US" sz="1400" b="1" i="0" dirty="0">
                  <a:solidFill>
                    <a:srgbClr val="202122"/>
                  </a:solidFill>
                  <a:effectLst/>
                  <a:latin typeface="Arial" panose="020B0604020202020204" pitchFamily="34" charset="0"/>
                </a:rPr>
                <a:t>Warren Sturgis McCulloch</a:t>
              </a:r>
              <a:r>
                <a:rPr lang="en-US" sz="1400" b="0" i="0" dirty="0">
                  <a:solidFill>
                    <a:srgbClr val="202122"/>
                  </a:solidFill>
                  <a:effectLst/>
                  <a:latin typeface="Arial" panose="020B0604020202020204" pitchFamily="34" charset="0"/>
                </a:rPr>
                <a:t> </a:t>
              </a:r>
              <a:endParaRPr lang="en-US" sz="1400" dirty="0"/>
            </a:p>
          </p:txBody>
        </p:sp>
      </p:grpSp>
      <p:sp>
        <p:nvSpPr>
          <p:cNvPr id="13" name="TextBox 12">
            <a:extLst>
              <a:ext uri="{FF2B5EF4-FFF2-40B4-BE49-F238E27FC236}">
                <a16:creationId xmlns:a16="http://schemas.microsoft.com/office/drawing/2014/main" id="{13F0F64F-594E-44ED-98BF-4BE187814F71}"/>
              </a:ext>
            </a:extLst>
          </p:cNvPr>
          <p:cNvSpPr txBox="1"/>
          <p:nvPr/>
        </p:nvSpPr>
        <p:spPr>
          <a:xfrm>
            <a:off x="7163149" y="2437459"/>
            <a:ext cx="1659033" cy="584775"/>
          </a:xfrm>
          <a:prstGeom prst="rect">
            <a:avLst/>
          </a:prstGeom>
          <a:noFill/>
        </p:spPr>
        <p:txBody>
          <a:bodyPr wrap="square">
            <a:spAutoFit/>
          </a:bodyPr>
          <a:lstStyle/>
          <a:p>
            <a:pPr algn="ctr"/>
            <a:r>
              <a:rPr lang="en-US" sz="1400" b="1" dirty="0">
                <a:solidFill>
                  <a:srgbClr val="202122"/>
                </a:solidFill>
                <a:latin typeface="Arial" panose="020B0604020202020204" pitchFamily="34" charset="0"/>
              </a:rPr>
              <a:t>Frank</a:t>
            </a:r>
            <a:r>
              <a:rPr lang="en-US" b="0" i="0" dirty="0">
                <a:solidFill>
                  <a:srgbClr val="000000"/>
                </a:solidFill>
                <a:effectLst/>
                <a:latin typeface="Linux Libertine"/>
              </a:rPr>
              <a:t> </a:t>
            </a:r>
          </a:p>
          <a:p>
            <a:pPr algn="ctr"/>
            <a:r>
              <a:rPr lang="en-US" sz="1400" b="1" dirty="0">
                <a:solidFill>
                  <a:srgbClr val="202122"/>
                </a:solidFill>
                <a:latin typeface="Arial" panose="020B0604020202020204" pitchFamily="34" charset="0"/>
              </a:rPr>
              <a:t>Rosenblatt</a:t>
            </a:r>
          </a:p>
        </p:txBody>
      </p:sp>
    </p:spTree>
    <p:extLst>
      <p:ext uri="{BB962C8B-B14F-4D97-AF65-F5344CB8AC3E}">
        <p14:creationId xmlns:p14="http://schemas.microsoft.com/office/powerpoint/2010/main" val="2215249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5844"/>
                                        </p:tgtEl>
                                        <p:attrNameLst>
                                          <p:attrName>style.visibility</p:attrName>
                                        </p:attrNameLst>
                                      </p:cBhvr>
                                      <p:to>
                                        <p:strVal val="visible"/>
                                      </p:to>
                                    </p:set>
                                    <p:anim calcmode="lin" valueType="num">
                                      <p:cBhvr additive="base">
                                        <p:cTn id="17" dur="500" fill="hold"/>
                                        <p:tgtEl>
                                          <p:spTgt spid="35844"/>
                                        </p:tgtEl>
                                        <p:attrNameLst>
                                          <p:attrName>ppt_x</p:attrName>
                                        </p:attrNameLst>
                                      </p:cBhvr>
                                      <p:tavLst>
                                        <p:tav tm="0">
                                          <p:val>
                                            <p:strVal val="#ppt_x"/>
                                          </p:val>
                                        </p:tav>
                                        <p:tav tm="100000">
                                          <p:val>
                                            <p:strVal val="#ppt_x"/>
                                          </p:val>
                                        </p:tav>
                                      </p:tavLst>
                                    </p:anim>
                                    <p:anim calcmode="lin" valueType="num">
                                      <p:cBhvr additive="base">
                                        <p:cTn id="18" dur="500" fill="hold"/>
                                        <p:tgtEl>
                                          <p:spTgt spid="3584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3F22-0C87-4FC3-8F7F-D3A32F8F6FE2}"/>
              </a:ext>
            </a:extLst>
          </p:cNvPr>
          <p:cNvSpPr>
            <a:spLocks noGrp="1"/>
          </p:cNvSpPr>
          <p:nvPr>
            <p:ph type="title"/>
          </p:nvPr>
        </p:nvSpPr>
        <p:spPr/>
        <p:txBody>
          <a:bodyPr/>
          <a:lstStyle/>
          <a:p>
            <a:r>
              <a:rPr lang="en-US" dirty="0"/>
              <a:t>Neurons and Perceptrons</a:t>
            </a:r>
          </a:p>
        </p:txBody>
      </p:sp>
      <p:sp>
        <p:nvSpPr>
          <p:cNvPr id="3" name="Content Placeholder 2">
            <a:extLst>
              <a:ext uri="{FF2B5EF4-FFF2-40B4-BE49-F238E27FC236}">
                <a16:creationId xmlns:a16="http://schemas.microsoft.com/office/drawing/2014/main" id="{ECDB439A-DA0D-4B91-AD10-DD943F7AF5C5}"/>
              </a:ext>
            </a:extLst>
          </p:cNvPr>
          <p:cNvSpPr>
            <a:spLocks noGrp="1"/>
          </p:cNvSpPr>
          <p:nvPr>
            <p:ph idx="1"/>
          </p:nvPr>
        </p:nvSpPr>
        <p:spPr/>
        <p:txBody>
          <a:bodyPr/>
          <a:lstStyle/>
          <a:p>
            <a:r>
              <a:rPr lang="en-US" b="0" i="0" dirty="0">
                <a:effectLst/>
                <a:latin typeface="Helvetica" panose="020B0604020202020204" pitchFamily="34" charset="0"/>
              </a:rPr>
              <a:t>a design based on the functioning of brain neurons, which receive signals through their dendrites and, in response to certain combinations of them, emit signals through the synapses</a:t>
            </a:r>
            <a:r>
              <a:rPr lang="en-US" b="0" i="0" dirty="0">
                <a:solidFill>
                  <a:srgbClr val="747682"/>
                </a:solidFill>
                <a:effectLst/>
                <a:latin typeface="Helvetica" panose="020B0604020202020204" pitchFamily="34" charset="0"/>
              </a:rPr>
              <a:t>.</a:t>
            </a:r>
            <a:endParaRPr lang="en-US" dirty="0"/>
          </a:p>
          <a:p>
            <a:endParaRPr lang="en-US" dirty="0"/>
          </a:p>
        </p:txBody>
      </p:sp>
      <p:pic>
        <p:nvPicPr>
          <p:cNvPr id="38914" name="Picture 2" descr="Perceptron_enpng">
            <a:extLst>
              <a:ext uri="{FF2B5EF4-FFF2-40B4-BE49-F238E27FC236}">
                <a16:creationId xmlns:a16="http://schemas.microsoft.com/office/drawing/2014/main" id="{045F10A6-F16B-49C0-AAB1-E9BE6B49A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6584" y="3694003"/>
            <a:ext cx="8287318" cy="3163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56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11067-C96C-45A5-9CC9-9F6B5D4401F1}"/>
              </a:ext>
            </a:extLst>
          </p:cNvPr>
          <p:cNvSpPr>
            <a:spLocks noGrp="1"/>
          </p:cNvSpPr>
          <p:nvPr>
            <p:ph type="title"/>
          </p:nvPr>
        </p:nvSpPr>
        <p:spPr/>
        <p:txBody>
          <a:bodyPr/>
          <a:lstStyle/>
          <a:p>
            <a:r>
              <a:rPr lang="en-US" dirty="0"/>
              <a:t>Perceptron</a:t>
            </a:r>
          </a:p>
        </p:txBody>
      </p:sp>
      <p:pic>
        <p:nvPicPr>
          <p:cNvPr id="36866" name="Picture 2" descr="What's the difference between &quot;Artificial neuron&quot; and &quot;Perceptron&quot;? - Cross  Validated">
            <a:extLst>
              <a:ext uri="{FF2B5EF4-FFF2-40B4-BE49-F238E27FC236}">
                <a16:creationId xmlns:a16="http://schemas.microsoft.com/office/drawing/2014/main" id="{32297F43-3151-4D6E-B8A0-590736C0BE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887" y="1895388"/>
            <a:ext cx="7701530" cy="4471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5868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070A6-BB20-4980-AE8D-A4AEDF8B7BA5}"/>
              </a:ext>
            </a:extLst>
          </p:cNvPr>
          <p:cNvSpPr>
            <a:spLocks noGrp="1"/>
          </p:cNvSpPr>
          <p:nvPr>
            <p:ph type="title"/>
          </p:nvPr>
        </p:nvSpPr>
        <p:spPr/>
        <p:txBody>
          <a:bodyPr/>
          <a:lstStyle/>
          <a:p>
            <a:r>
              <a:rPr lang="en-US" dirty="0"/>
              <a:t>Perceptron Numeric Example</a:t>
            </a:r>
          </a:p>
        </p:txBody>
      </p:sp>
      <p:graphicFrame>
        <p:nvGraphicFramePr>
          <p:cNvPr id="5" name="Table 4">
            <a:extLst>
              <a:ext uri="{FF2B5EF4-FFF2-40B4-BE49-F238E27FC236}">
                <a16:creationId xmlns:a16="http://schemas.microsoft.com/office/drawing/2014/main" id="{7AC4E361-9FC5-4897-B294-8886D80879F0}"/>
              </a:ext>
            </a:extLst>
          </p:cNvPr>
          <p:cNvGraphicFramePr>
            <a:graphicFrameLocks noGrp="1"/>
          </p:cNvGraphicFramePr>
          <p:nvPr>
            <p:extLst>
              <p:ext uri="{D42A27DB-BD31-4B8C-83A1-F6EECF244321}">
                <p14:modId xmlns:p14="http://schemas.microsoft.com/office/powerpoint/2010/main" val="1420670662"/>
              </p:ext>
            </p:extLst>
          </p:nvPr>
        </p:nvGraphicFramePr>
        <p:xfrm>
          <a:off x="1398165" y="1917932"/>
          <a:ext cx="2662107" cy="1991340"/>
        </p:xfrm>
        <a:graphic>
          <a:graphicData uri="http://schemas.openxmlformats.org/drawingml/2006/table">
            <a:tbl>
              <a:tblPr>
                <a:tableStyleId>{5C22544A-7EE6-4342-B048-85BDC9FD1C3A}</a:tableStyleId>
              </a:tblPr>
              <a:tblGrid>
                <a:gridCol w="887369">
                  <a:extLst>
                    <a:ext uri="{9D8B030D-6E8A-4147-A177-3AD203B41FA5}">
                      <a16:colId xmlns:a16="http://schemas.microsoft.com/office/drawing/2014/main" val="3061944849"/>
                    </a:ext>
                  </a:extLst>
                </a:gridCol>
                <a:gridCol w="887369">
                  <a:extLst>
                    <a:ext uri="{9D8B030D-6E8A-4147-A177-3AD203B41FA5}">
                      <a16:colId xmlns:a16="http://schemas.microsoft.com/office/drawing/2014/main" val="2523878685"/>
                    </a:ext>
                  </a:extLst>
                </a:gridCol>
                <a:gridCol w="887369">
                  <a:extLst>
                    <a:ext uri="{9D8B030D-6E8A-4147-A177-3AD203B41FA5}">
                      <a16:colId xmlns:a16="http://schemas.microsoft.com/office/drawing/2014/main" val="2002818998"/>
                    </a:ext>
                  </a:extLst>
                </a:gridCol>
              </a:tblGrid>
              <a:tr h="331890">
                <a:tc>
                  <a:txBody>
                    <a:bodyPr/>
                    <a:lstStyle/>
                    <a:p>
                      <a:pPr algn="ctr" fontAlgn="b"/>
                      <a:r>
                        <a:rPr lang="en-US" sz="1600" u="none" strike="noStrike" dirty="0">
                          <a:effectLst/>
                        </a:rPr>
                        <a:t>Weights</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Input (X)</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0" i="0" u="none" strike="noStrike" dirty="0">
                          <a:solidFill>
                            <a:srgbClr val="000000"/>
                          </a:solidFill>
                          <a:effectLst/>
                          <a:latin typeface="Calibri" panose="020F0502020204030204" pitchFamily="34" charset="0"/>
                        </a:rPr>
                        <a:t>W * X</a:t>
                      </a:r>
                    </a:p>
                  </a:txBody>
                  <a:tcPr marL="9525" marR="9525" marT="9525" marB="0" anchor="b"/>
                </a:tc>
                <a:extLst>
                  <a:ext uri="{0D108BD9-81ED-4DB2-BD59-A6C34878D82A}">
                    <a16:rowId xmlns:a16="http://schemas.microsoft.com/office/drawing/2014/main" val="431990398"/>
                  </a:ext>
                </a:extLst>
              </a:tr>
              <a:tr h="331890">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a:effectLst/>
                        </a:rPr>
                        <a:t>0.8</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0.4</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81027782"/>
                  </a:ext>
                </a:extLst>
              </a:tr>
              <a:tr h="331890">
                <a:tc>
                  <a:txBody>
                    <a:bodyPr/>
                    <a:lstStyle/>
                    <a:p>
                      <a:pPr algn="ctr" fontAlgn="b"/>
                      <a:r>
                        <a:rPr lang="en-US" sz="1600" u="none" strike="noStrike">
                          <a:effectLst/>
                        </a:rPr>
                        <a:t>0.4</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a:effectLst/>
                        </a:rPr>
                        <a:t>-0.5</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-0.2</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94259376"/>
                  </a:ext>
                </a:extLst>
              </a:tr>
              <a:tr h="331890">
                <a:tc>
                  <a:txBody>
                    <a:bodyPr/>
                    <a:lstStyle/>
                    <a:p>
                      <a:pPr algn="ctr" fontAlgn="b"/>
                      <a:r>
                        <a:rPr lang="en-US" sz="1600" u="none" strike="noStrike">
                          <a:effectLst/>
                        </a:rPr>
                        <a:t>0.9</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a:effectLst/>
                        </a:rPr>
                        <a:t>0.1</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0.09</a:t>
                      </a:r>
                      <a:endParaRPr lang="en-US" sz="16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34284629"/>
                  </a:ext>
                </a:extLst>
              </a:tr>
              <a:tr h="331890">
                <a:tc>
                  <a:txBody>
                    <a:bodyPr/>
                    <a:lstStyle/>
                    <a:p>
                      <a:pPr algn="ctr" fontAlgn="b"/>
                      <a:r>
                        <a:rPr lang="el-GR" sz="1600" b="0" i="0" u="none" strike="noStrike" dirty="0">
                          <a:solidFill>
                            <a:srgbClr val="000000"/>
                          </a:solidFill>
                          <a:effectLst/>
                          <a:latin typeface="Calibri" panose="020F0502020204030204" pitchFamily="34" charset="0"/>
                        </a:rPr>
                        <a:t>Σ</a:t>
                      </a:r>
                      <a:endParaRPr lang="en-US" sz="16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b="1" u="none" strike="noStrike" dirty="0">
                          <a:effectLst/>
                        </a:rPr>
                        <a:t>0.29</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76740494"/>
                  </a:ext>
                </a:extLst>
              </a:tr>
              <a:tr h="331890">
                <a:tc>
                  <a:txBody>
                    <a:bodyPr/>
                    <a:lstStyle/>
                    <a:p>
                      <a:pPr algn="ctr" fontAlgn="b"/>
                      <a:r>
                        <a:rPr lang="en-US" sz="1600" u="none" strike="noStrike">
                          <a:effectLst/>
                        </a:rPr>
                        <a:t>Output</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a:effectLst/>
                        </a:rPr>
                        <a:t> </a:t>
                      </a:r>
                      <a:endParaRPr lang="en-US" sz="16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600" u="none" strike="noStrike" dirty="0">
                          <a:effectLst/>
                        </a:rPr>
                        <a:t>1</a:t>
                      </a:r>
                      <a:endParaRPr lang="en-US" sz="16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54962058"/>
                  </a:ext>
                </a:extLst>
              </a:tr>
            </a:tbl>
          </a:graphicData>
        </a:graphic>
      </p:graphicFrame>
      <p:graphicFrame>
        <p:nvGraphicFramePr>
          <p:cNvPr id="6" name="Table 5">
            <a:extLst>
              <a:ext uri="{FF2B5EF4-FFF2-40B4-BE49-F238E27FC236}">
                <a16:creationId xmlns:a16="http://schemas.microsoft.com/office/drawing/2014/main" id="{C15F44C2-7D3E-49A5-B341-DA69C12CF85D}"/>
              </a:ext>
            </a:extLst>
          </p:cNvPr>
          <p:cNvGraphicFramePr>
            <a:graphicFrameLocks noGrp="1"/>
          </p:cNvGraphicFramePr>
          <p:nvPr>
            <p:extLst>
              <p:ext uri="{D42A27DB-BD31-4B8C-83A1-F6EECF244321}">
                <p14:modId xmlns:p14="http://schemas.microsoft.com/office/powerpoint/2010/main" val="2443846921"/>
              </p:ext>
            </p:extLst>
          </p:nvPr>
        </p:nvGraphicFramePr>
        <p:xfrm>
          <a:off x="4781725" y="1917932"/>
          <a:ext cx="2785143" cy="1991338"/>
        </p:xfrm>
        <a:graphic>
          <a:graphicData uri="http://schemas.openxmlformats.org/drawingml/2006/table">
            <a:tbl>
              <a:tblPr>
                <a:tableStyleId>{5C22544A-7EE6-4342-B048-85BDC9FD1C3A}</a:tableStyleId>
              </a:tblPr>
              <a:tblGrid>
                <a:gridCol w="928381">
                  <a:extLst>
                    <a:ext uri="{9D8B030D-6E8A-4147-A177-3AD203B41FA5}">
                      <a16:colId xmlns:a16="http://schemas.microsoft.com/office/drawing/2014/main" val="3593407617"/>
                    </a:ext>
                  </a:extLst>
                </a:gridCol>
                <a:gridCol w="928381">
                  <a:extLst>
                    <a:ext uri="{9D8B030D-6E8A-4147-A177-3AD203B41FA5}">
                      <a16:colId xmlns:a16="http://schemas.microsoft.com/office/drawing/2014/main" val="2574540487"/>
                    </a:ext>
                  </a:extLst>
                </a:gridCol>
                <a:gridCol w="928381">
                  <a:extLst>
                    <a:ext uri="{9D8B030D-6E8A-4147-A177-3AD203B41FA5}">
                      <a16:colId xmlns:a16="http://schemas.microsoft.com/office/drawing/2014/main" val="1111154854"/>
                    </a:ext>
                  </a:extLst>
                </a:gridCol>
              </a:tblGrid>
              <a:tr h="365908">
                <a:tc>
                  <a:txBody>
                    <a:bodyPr/>
                    <a:lstStyle/>
                    <a:p>
                      <a:pPr algn="ctr" fontAlgn="b"/>
                      <a:r>
                        <a:rPr lang="en-US" sz="1600" u="none" strike="noStrike" kern="1200" dirty="0">
                          <a:solidFill>
                            <a:schemeClr val="dk1"/>
                          </a:solidFill>
                          <a:effectLst/>
                          <a:latin typeface="+mn-lt"/>
                          <a:ea typeface="+mn-ea"/>
                          <a:cs typeface="+mn-cs"/>
                        </a:rPr>
                        <a:t>Weights</a:t>
                      </a:r>
                    </a:p>
                  </a:txBody>
                  <a:tcPr marL="9525" marR="9525" marT="9525" marB="0" anchor="b"/>
                </a:tc>
                <a:tc>
                  <a:txBody>
                    <a:bodyPr/>
                    <a:lstStyle/>
                    <a:p>
                      <a:pPr algn="ctr" fontAlgn="b"/>
                      <a:r>
                        <a:rPr lang="en-US" sz="1600" u="none" strike="noStrike" kern="1200" dirty="0">
                          <a:solidFill>
                            <a:schemeClr val="dk1"/>
                          </a:solidFill>
                          <a:effectLst/>
                          <a:latin typeface="+mn-lt"/>
                          <a:ea typeface="+mn-ea"/>
                          <a:cs typeface="+mn-cs"/>
                        </a:rPr>
                        <a:t>input</a:t>
                      </a:r>
                    </a:p>
                  </a:txBody>
                  <a:tcPr marL="9525" marR="9525" marT="9525" marB="0" anchor="b"/>
                </a:tc>
                <a:tc>
                  <a:txBody>
                    <a:bodyPr/>
                    <a:lstStyle/>
                    <a:p>
                      <a:pPr algn="ctr" fontAlgn="b"/>
                      <a:r>
                        <a:rPr lang="en-US" sz="1600" u="none" strike="noStrike" kern="1200" dirty="0">
                          <a:solidFill>
                            <a:schemeClr val="dk1"/>
                          </a:solidFill>
                          <a:effectLst/>
                          <a:latin typeface="+mn-lt"/>
                          <a:ea typeface="+mn-ea"/>
                          <a:cs typeface="+mn-cs"/>
                        </a:rPr>
                        <a:t>Product</a:t>
                      </a:r>
                    </a:p>
                  </a:txBody>
                  <a:tcPr marL="9525" marR="9525" marT="9525" marB="0" anchor="b"/>
                </a:tc>
                <a:extLst>
                  <a:ext uri="{0D108BD9-81ED-4DB2-BD59-A6C34878D82A}">
                    <a16:rowId xmlns:a16="http://schemas.microsoft.com/office/drawing/2014/main" val="1895170447"/>
                  </a:ext>
                </a:extLst>
              </a:tr>
              <a:tr h="325086">
                <a:tc>
                  <a:txBody>
                    <a:bodyPr/>
                    <a:lstStyle/>
                    <a:p>
                      <a:pPr algn="ctr" fontAlgn="b"/>
                      <a:r>
                        <a:rPr lang="en-US" sz="1600" u="none" strike="noStrike" kern="1200" dirty="0">
                          <a:solidFill>
                            <a:schemeClr val="dk1"/>
                          </a:solidFill>
                          <a:effectLst/>
                          <a:latin typeface="+mn-lt"/>
                          <a:ea typeface="+mn-ea"/>
                          <a:cs typeface="+mn-cs"/>
                        </a:rPr>
                        <a:t>0.3</a:t>
                      </a:r>
                    </a:p>
                  </a:txBody>
                  <a:tcPr marL="9525" marR="9525" marT="9525" marB="0" anchor="b"/>
                </a:tc>
                <a:tc>
                  <a:txBody>
                    <a:bodyPr/>
                    <a:lstStyle/>
                    <a:p>
                      <a:pPr algn="ctr" fontAlgn="b"/>
                      <a:r>
                        <a:rPr lang="en-US" sz="1600" u="none" strike="noStrike" kern="1200">
                          <a:solidFill>
                            <a:schemeClr val="dk1"/>
                          </a:solidFill>
                          <a:effectLst/>
                          <a:latin typeface="+mn-lt"/>
                          <a:ea typeface="+mn-ea"/>
                          <a:cs typeface="+mn-cs"/>
                        </a:rPr>
                        <a:t>0.8</a:t>
                      </a:r>
                    </a:p>
                  </a:txBody>
                  <a:tcPr marL="9525" marR="9525" marT="9525" marB="0" anchor="b"/>
                </a:tc>
                <a:tc>
                  <a:txBody>
                    <a:bodyPr/>
                    <a:lstStyle/>
                    <a:p>
                      <a:pPr algn="ctr" fontAlgn="b"/>
                      <a:r>
                        <a:rPr lang="en-US" sz="1600" u="none" strike="noStrike" kern="1200">
                          <a:solidFill>
                            <a:schemeClr val="dk1"/>
                          </a:solidFill>
                          <a:effectLst/>
                          <a:latin typeface="+mn-lt"/>
                          <a:ea typeface="+mn-ea"/>
                          <a:cs typeface="+mn-cs"/>
                        </a:rPr>
                        <a:t>0.24</a:t>
                      </a:r>
                    </a:p>
                  </a:txBody>
                  <a:tcPr marL="9525" marR="9525" marT="9525" marB="0" anchor="b"/>
                </a:tc>
                <a:extLst>
                  <a:ext uri="{0D108BD9-81ED-4DB2-BD59-A6C34878D82A}">
                    <a16:rowId xmlns:a16="http://schemas.microsoft.com/office/drawing/2014/main" val="2001209567"/>
                  </a:ext>
                </a:extLst>
              </a:tr>
              <a:tr h="325086">
                <a:tc>
                  <a:txBody>
                    <a:bodyPr/>
                    <a:lstStyle/>
                    <a:p>
                      <a:pPr algn="ctr" fontAlgn="b"/>
                      <a:r>
                        <a:rPr lang="en-US" sz="1600" u="none" strike="noStrike" kern="1200" dirty="0">
                          <a:solidFill>
                            <a:schemeClr val="dk1"/>
                          </a:solidFill>
                          <a:effectLst/>
                          <a:latin typeface="+mn-lt"/>
                          <a:ea typeface="+mn-ea"/>
                          <a:cs typeface="+mn-cs"/>
                        </a:rPr>
                        <a:t>0.4</a:t>
                      </a:r>
                    </a:p>
                  </a:txBody>
                  <a:tcPr marL="9525" marR="9525" marT="9525" marB="0" anchor="b"/>
                </a:tc>
                <a:tc>
                  <a:txBody>
                    <a:bodyPr/>
                    <a:lstStyle/>
                    <a:p>
                      <a:pPr algn="ctr" fontAlgn="b"/>
                      <a:r>
                        <a:rPr lang="en-US" sz="1600" u="none" strike="noStrike" kern="1200">
                          <a:solidFill>
                            <a:schemeClr val="dk1"/>
                          </a:solidFill>
                          <a:effectLst/>
                          <a:latin typeface="+mn-lt"/>
                          <a:ea typeface="+mn-ea"/>
                          <a:cs typeface="+mn-cs"/>
                        </a:rPr>
                        <a:t>-0.5</a:t>
                      </a:r>
                    </a:p>
                  </a:txBody>
                  <a:tcPr marL="9525" marR="9525" marT="9525" marB="0" anchor="b"/>
                </a:tc>
                <a:tc>
                  <a:txBody>
                    <a:bodyPr/>
                    <a:lstStyle/>
                    <a:p>
                      <a:pPr algn="ctr" fontAlgn="b"/>
                      <a:r>
                        <a:rPr lang="en-US" sz="1600" u="none" strike="noStrike" kern="1200">
                          <a:solidFill>
                            <a:schemeClr val="dk1"/>
                          </a:solidFill>
                          <a:effectLst/>
                          <a:latin typeface="+mn-lt"/>
                          <a:ea typeface="+mn-ea"/>
                          <a:cs typeface="+mn-cs"/>
                        </a:rPr>
                        <a:t>-0.2</a:t>
                      </a:r>
                    </a:p>
                  </a:txBody>
                  <a:tcPr marL="9525" marR="9525" marT="9525" marB="0" anchor="b"/>
                </a:tc>
                <a:extLst>
                  <a:ext uri="{0D108BD9-81ED-4DB2-BD59-A6C34878D82A}">
                    <a16:rowId xmlns:a16="http://schemas.microsoft.com/office/drawing/2014/main" val="2139697280"/>
                  </a:ext>
                </a:extLst>
              </a:tr>
              <a:tr h="325086">
                <a:tc>
                  <a:txBody>
                    <a:bodyPr/>
                    <a:lstStyle/>
                    <a:p>
                      <a:pPr algn="ctr" fontAlgn="b"/>
                      <a:r>
                        <a:rPr lang="en-US" sz="1600" u="none" strike="noStrike" kern="1200">
                          <a:solidFill>
                            <a:schemeClr val="dk1"/>
                          </a:solidFill>
                          <a:effectLst/>
                          <a:latin typeface="+mn-lt"/>
                          <a:ea typeface="+mn-ea"/>
                          <a:cs typeface="+mn-cs"/>
                        </a:rPr>
                        <a:t>-0.9</a:t>
                      </a:r>
                    </a:p>
                  </a:txBody>
                  <a:tcPr marL="9525" marR="9525" marT="9525" marB="0" anchor="b"/>
                </a:tc>
                <a:tc>
                  <a:txBody>
                    <a:bodyPr/>
                    <a:lstStyle/>
                    <a:p>
                      <a:pPr algn="ctr" fontAlgn="b"/>
                      <a:r>
                        <a:rPr lang="en-US" sz="1600" u="none" strike="noStrike" kern="1200" dirty="0">
                          <a:solidFill>
                            <a:schemeClr val="dk1"/>
                          </a:solidFill>
                          <a:effectLst/>
                          <a:latin typeface="+mn-lt"/>
                          <a:ea typeface="+mn-ea"/>
                          <a:cs typeface="+mn-cs"/>
                        </a:rPr>
                        <a:t>0.1</a:t>
                      </a:r>
                    </a:p>
                  </a:txBody>
                  <a:tcPr marL="9525" marR="9525" marT="9525" marB="0" anchor="b"/>
                </a:tc>
                <a:tc>
                  <a:txBody>
                    <a:bodyPr/>
                    <a:lstStyle/>
                    <a:p>
                      <a:pPr algn="ctr" fontAlgn="b"/>
                      <a:r>
                        <a:rPr lang="en-US" sz="1600" u="none" strike="noStrike" kern="1200">
                          <a:solidFill>
                            <a:schemeClr val="dk1"/>
                          </a:solidFill>
                          <a:effectLst/>
                          <a:latin typeface="+mn-lt"/>
                          <a:ea typeface="+mn-ea"/>
                          <a:cs typeface="+mn-cs"/>
                        </a:rPr>
                        <a:t>-0.09</a:t>
                      </a:r>
                    </a:p>
                  </a:txBody>
                  <a:tcPr marL="9525" marR="9525" marT="9525" marB="0" anchor="b"/>
                </a:tc>
                <a:extLst>
                  <a:ext uri="{0D108BD9-81ED-4DB2-BD59-A6C34878D82A}">
                    <a16:rowId xmlns:a16="http://schemas.microsoft.com/office/drawing/2014/main" val="275033307"/>
                  </a:ext>
                </a:extLst>
              </a:tr>
              <a:tr h="32508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l-GR" sz="1600" b="0" i="0" u="none" strike="noStrike" dirty="0">
                          <a:solidFill>
                            <a:srgbClr val="000000"/>
                          </a:solidFill>
                          <a:effectLst/>
                          <a:latin typeface="Calibri" panose="020F0502020204030204" pitchFamily="34" charset="0"/>
                        </a:rPr>
                        <a:t>Σ</a:t>
                      </a:r>
                      <a:endParaRPr lang="en-US" sz="1600" u="none" strike="noStrike" kern="1200" dirty="0">
                        <a:solidFill>
                          <a:schemeClr val="dk1"/>
                        </a:solidFill>
                        <a:effectLst/>
                        <a:latin typeface="+mn-lt"/>
                        <a:ea typeface="+mn-ea"/>
                        <a:cs typeface="+mn-cs"/>
                      </a:endParaRPr>
                    </a:p>
                  </a:txBody>
                  <a:tcPr marL="9525" marR="9525" marT="9525" marB="0" anchor="b"/>
                </a:tc>
                <a:tc>
                  <a:txBody>
                    <a:bodyPr/>
                    <a:lstStyle/>
                    <a:p>
                      <a:pPr algn="ctr" fontAlgn="b"/>
                      <a:endParaRPr lang="en-US" sz="1600" u="none" strike="noStrike" kern="1200" dirty="0">
                        <a:solidFill>
                          <a:schemeClr val="dk1"/>
                        </a:solidFill>
                        <a:effectLst/>
                        <a:latin typeface="+mn-lt"/>
                        <a:ea typeface="+mn-ea"/>
                        <a:cs typeface="+mn-cs"/>
                      </a:endParaRPr>
                    </a:p>
                  </a:txBody>
                  <a:tcPr marL="9525" marR="9525" marT="9525" marB="0" anchor="b"/>
                </a:tc>
                <a:tc>
                  <a:txBody>
                    <a:bodyPr/>
                    <a:lstStyle/>
                    <a:p>
                      <a:pPr algn="ctr" fontAlgn="b"/>
                      <a:r>
                        <a:rPr lang="en-US" sz="1600" b="1" u="none" strike="noStrike" kern="1200" dirty="0">
                          <a:solidFill>
                            <a:schemeClr val="dk1"/>
                          </a:solidFill>
                          <a:effectLst/>
                          <a:latin typeface="+mn-lt"/>
                          <a:ea typeface="+mn-ea"/>
                          <a:cs typeface="+mn-cs"/>
                        </a:rPr>
                        <a:t>-0.05</a:t>
                      </a:r>
                    </a:p>
                  </a:txBody>
                  <a:tcPr marL="9525" marR="9525" marT="9525" marB="0" anchor="b"/>
                </a:tc>
                <a:extLst>
                  <a:ext uri="{0D108BD9-81ED-4DB2-BD59-A6C34878D82A}">
                    <a16:rowId xmlns:a16="http://schemas.microsoft.com/office/drawing/2014/main" val="3998848464"/>
                  </a:ext>
                </a:extLst>
              </a:tr>
              <a:tr h="325086">
                <a:tc>
                  <a:txBody>
                    <a:bodyPr/>
                    <a:lstStyle/>
                    <a:p>
                      <a:pPr algn="ctr" fontAlgn="b"/>
                      <a:r>
                        <a:rPr lang="en-US" sz="1600" u="none" strike="noStrike" kern="1200">
                          <a:solidFill>
                            <a:schemeClr val="dk1"/>
                          </a:solidFill>
                          <a:effectLst/>
                          <a:latin typeface="+mn-lt"/>
                          <a:ea typeface="+mn-ea"/>
                          <a:cs typeface="+mn-cs"/>
                        </a:rPr>
                        <a:t>Output</a:t>
                      </a:r>
                    </a:p>
                  </a:txBody>
                  <a:tcPr marL="9525" marR="9525" marT="9525" marB="0" anchor="b"/>
                </a:tc>
                <a:tc>
                  <a:txBody>
                    <a:bodyPr/>
                    <a:lstStyle/>
                    <a:p>
                      <a:pPr algn="ctr" fontAlgn="b"/>
                      <a:endParaRPr lang="en-US" sz="1600" u="none" strike="noStrike" kern="1200" dirty="0">
                        <a:solidFill>
                          <a:schemeClr val="dk1"/>
                        </a:solidFill>
                        <a:effectLst/>
                        <a:latin typeface="+mn-lt"/>
                        <a:ea typeface="+mn-ea"/>
                        <a:cs typeface="+mn-cs"/>
                      </a:endParaRPr>
                    </a:p>
                  </a:txBody>
                  <a:tcPr marL="9525" marR="9525" marT="9525" marB="0" anchor="b"/>
                </a:tc>
                <a:tc>
                  <a:txBody>
                    <a:bodyPr/>
                    <a:lstStyle/>
                    <a:p>
                      <a:pPr algn="ctr" fontAlgn="b"/>
                      <a:r>
                        <a:rPr lang="en-US" sz="1600" u="none" strike="noStrike" kern="1200" dirty="0">
                          <a:solidFill>
                            <a:schemeClr val="dk1"/>
                          </a:solidFill>
                          <a:effectLst/>
                          <a:latin typeface="+mn-lt"/>
                          <a:ea typeface="+mn-ea"/>
                          <a:cs typeface="+mn-cs"/>
                        </a:rPr>
                        <a:t>0</a:t>
                      </a:r>
                    </a:p>
                  </a:txBody>
                  <a:tcPr marL="9525" marR="9525" marT="9525" marB="0" anchor="b"/>
                </a:tc>
                <a:extLst>
                  <a:ext uri="{0D108BD9-81ED-4DB2-BD59-A6C34878D82A}">
                    <a16:rowId xmlns:a16="http://schemas.microsoft.com/office/drawing/2014/main" val="3031071631"/>
                  </a:ext>
                </a:extLst>
              </a:tr>
            </a:tbl>
          </a:graphicData>
        </a:graphic>
      </p:graphicFrame>
    </p:spTree>
    <p:extLst>
      <p:ext uri="{BB962C8B-B14F-4D97-AF65-F5344CB8AC3E}">
        <p14:creationId xmlns:p14="http://schemas.microsoft.com/office/powerpoint/2010/main" val="1672924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607ED-CC2D-4A6C-A017-BF61B8910AAE}"/>
              </a:ext>
            </a:extLst>
          </p:cNvPr>
          <p:cNvSpPr>
            <a:spLocks noGrp="1"/>
          </p:cNvSpPr>
          <p:nvPr>
            <p:ph type="title"/>
          </p:nvPr>
        </p:nvSpPr>
        <p:spPr/>
        <p:txBody>
          <a:bodyPr/>
          <a:lstStyle/>
          <a:p>
            <a:r>
              <a:rPr lang="en-US" dirty="0"/>
              <a:t>Class Ex.</a:t>
            </a:r>
          </a:p>
        </p:txBody>
      </p:sp>
      <p:grpSp>
        <p:nvGrpSpPr>
          <p:cNvPr id="19" name="Group 18">
            <a:extLst>
              <a:ext uri="{FF2B5EF4-FFF2-40B4-BE49-F238E27FC236}">
                <a16:creationId xmlns:a16="http://schemas.microsoft.com/office/drawing/2014/main" id="{A9934398-2EEB-40A9-A821-8549EE578790}"/>
              </a:ext>
            </a:extLst>
          </p:cNvPr>
          <p:cNvGrpSpPr/>
          <p:nvPr/>
        </p:nvGrpSpPr>
        <p:grpSpPr>
          <a:xfrm>
            <a:off x="3370627" y="528507"/>
            <a:ext cx="7107223" cy="4031740"/>
            <a:chOff x="1860608" y="1690688"/>
            <a:chExt cx="7701530" cy="4471856"/>
          </a:xfrm>
        </p:grpSpPr>
        <p:pic>
          <p:nvPicPr>
            <p:cNvPr id="5" name="Picture 2" descr="What's the difference between &quot;Artificial neuron&quot; and &quot;Perceptron&quot;? - Cross  Validated">
              <a:extLst>
                <a:ext uri="{FF2B5EF4-FFF2-40B4-BE49-F238E27FC236}">
                  <a16:creationId xmlns:a16="http://schemas.microsoft.com/office/drawing/2014/main" id="{3E5EFBF9-3FC9-4CBF-85CE-E7D68217E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0608" y="1690688"/>
              <a:ext cx="7701530" cy="447185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6B42AA2-D54F-4886-A19C-1925BE30096E}"/>
                </a:ext>
              </a:extLst>
            </p:cNvPr>
            <p:cNvSpPr txBox="1"/>
            <p:nvPr/>
          </p:nvSpPr>
          <p:spPr>
            <a:xfrm>
              <a:off x="4941116" y="2709644"/>
              <a:ext cx="369115" cy="369332"/>
            </a:xfrm>
            <a:prstGeom prst="rect">
              <a:avLst/>
            </a:prstGeom>
            <a:solidFill>
              <a:schemeClr val="bg1"/>
            </a:solidFill>
          </p:spPr>
          <p:txBody>
            <a:bodyPr wrap="square" rtlCol="0">
              <a:spAutoFit/>
            </a:bodyPr>
            <a:lstStyle/>
            <a:p>
              <a:r>
                <a:rPr lang="en-US" dirty="0"/>
                <a:t>0</a:t>
              </a:r>
            </a:p>
          </p:txBody>
        </p:sp>
        <p:sp>
          <p:nvSpPr>
            <p:cNvPr id="8" name="TextBox 7">
              <a:extLst>
                <a:ext uri="{FF2B5EF4-FFF2-40B4-BE49-F238E27FC236}">
                  <a16:creationId xmlns:a16="http://schemas.microsoft.com/office/drawing/2014/main" id="{78875485-4A63-4685-87BC-A91F1940A68B}"/>
                </a:ext>
              </a:extLst>
            </p:cNvPr>
            <p:cNvSpPr txBox="1"/>
            <p:nvPr/>
          </p:nvSpPr>
          <p:spPr>
            <a:xfrm>
              <a:off x="4781725" y="3491219"/>
              <a:ext cx="645952" cy="369332"/>
            </a:xfrm>
            <a:prstGeom prst="rect">
              <a:avLst/>
            </a:prstGeom>
            <a:solidFill>
              <a:schemeClr val="bg1"/>
            </a:solidFill>
          </p:spPr>
          <p:txBody>
            <a:bodyPr wrap="square" rtlCol="0">
              <a:spAutoFit/>
            </a:bodyPr>
            <a:lstStyle/>
            <a:p>
              <a:pPr algn="ctr"/>
              <a:r>
                <a:rPr lang="en-US" dirty="0"/>
                <a:t>0.3</a:t>
              </a:r>
            </a:p>
          </p:txBody>
        </p:sp>
        <p:sp>
          <p:nvSpPr>
            <p:cNvPr id="10" name="TextBox 9">
              <a:extLst>
                <a:ext uri="{FF2B5EF4-FFF2-40B4-BE49-F238E27FC236}">
                  <a16:creationId xmlns:a16="http://schemas.microsoft.com/office/drawing/2014/main" id="{A79DEE09-1FC0-45BF-BD2C-BE805A8A6BD0}"/>
                </a:ext>
              </a:extLst>
            </p:cNvPr>
            <p:cNvSpPr txBox="1"/>
            <p:nvPr/>
          </p:nvSpPr>
          <p:spPr>
            <a:xfrm>
              <a:off x="4781724" y="4510175"/>
              <a:ext cx="721453" cy="369332"/>
            </a:xfrm>
            <a:prstGeom prst="rect">
              <a:avLst/>
            </a:prstGeom>
            <a:solidFill>
              <a:schemeClr val="bg1"/>
            </a:solidFill>
          </p:spPr>
          <p:txBody>
            <a:bodyPr wrap="square" rtlCol="0">
              <a:spAutoFit/>
            </a:bodyPr>
            <a:lstStyle/>
            <a:p>
              <a:pPr algn="ctr"/>
              <a:r>
                <a:rPr lang="en-US" dirty="0"/>
                <a:t>-0.4</a:t>
              </a:r>
            </a:p>
          </p:txBody>
        </p:sp>
        <p:sp>
          <p:nvSpPr>
            <p:cNvPr id="12" name="TextBox 11">
              <a:extLst>
                <a:ext uri="{FF2B5EF4-FFF2-40B4-BE49-F238E27FC236}">
                  <a16:creationId xmlns:a16="http://schemas.microsoft.com/office/drawing/2014/main" id="{F2D33B53-AD48-4896-AC34-FB555D1590A8}"/>
                </a:ext>
              </a:extLst>
            </p:cNvPr>
            <p:cNvSpPr txBox="1"/>
            <p:nvPr/>
          </p:nvSpPr>
          <p:spPr>
            <a:xfrm>
              <a:off x="4739779" y="5344465"/>
              <a:ext cx="721453" cy="409649"/>
            </a:xfrm>
            <a:prstGeom prst="rect">
              <a:avLst/>
            </a:prstGeom>
            <a:solidFill>
              <a:schemeClr val="bg1"/>
            </a:solidFill>
          </p:spPr>
          <p:txBody>
            <a:bodyPr wrap="square" rtlCol="0">
              <a:spAutoFit/>
            </a:bodyPr>
            <a:lstStyle/>
            <a:p>
              <a:pPr algn="ctr"/>
              <a:r>
                <a:rPr lang="en-US" dirty="0"/>
                <a:t>0</a:t>
              </a:r>
            </a:p>
          </p:txBody>
        </p:sp>
        <p:sp>
          <p:nvSpPr>
            <p:cNvPr id="14" name="TextBox 13">
              <a:extLst>
                <a:ext uri="{FF2B5EF4-FFF2-40B4-BE49-F238E27FC236}">
                  <a16:creationId xmlns:a16="http://schemas.microsoft.com/office/drawing/2014/main" id="{AA24A619-812E-4C09-AD3B-7E731F826C75}"/>
                </a:ext>
              </a:extLst>
            </p:cNvPr>
            <p:cNvSpPr txBox="1"/>
            <p:nvPr/>
          </p:nvSpPr>
          <p:spPr>
            <a:xfrm>
              <a:off x="3073951" y="4675960"/>
              <a:ext cx="516537" cy="369332"/>
            </a:xfrm>
            <a:prstGeom prst="rect">
              <a:avLst/>
            </a:prstGeom>
            <a:solidFill>
              <a:schemeClr val="bg1"/>
            </a:solidFill>
          </p:spPr>
          <p:txBody>
            <a:bodyPr wrap="square" rtlCol="0">
              <a:spAutoFit/>
            </a:bodyPr>
            <a:lstStyle/>
            <a:p>
              <a:pPr algn="ctr"/>
              <a:r>
                <a:rPr lang="en-US" dirty="0"/>
                <a:t>0.4</a:t>
              </a:r>
            </a:p>
          </p:txBody>
        </p:sp>
        <p:sp>
          <p:nvSpPr>
            <p:cNvPr id="16" name="TextBox 15">
              <a:extLst>
                <a:ext uri="{FF2B5EF4-FFF2-40B4-BE49-F238E27FC236}">
                  <a16:creationId xmlns:a16="http://schemas.microsoft.com/office/drawing/2014/main" id="{EBFBACD9-8007-4B83-B6B0-435A201F5DF5}"/>
                </a:ext>
              </a:extLst>
            </p:cNvPr>
            <p:cNvSpPr txBox="1"/>
            <p:nvPr/>
          </p:nvSpPr>
          <p:spPr>
            <a:xfrm>
              <a:off x="3073951" y="3244334"/>
              <a:ext cx="516537" cy="369332"/>
            </a:xfrm>
            <a:prstGeom prst="rect">
              <a:avLst/>
            </a:prstGeom>
            <a:solidFill>
              <a:schemeClr val="bg1"/>
            </a:solidFill>
          </p:spPr>
          <p:txBody>
            <a:bodyPr wrap="square" rtlCol="0">
              <a:spAutoFit/>
            </a:bodyPr>
            <a:lstStyle/>
            <a:p>
              <a:pPr algn="ctr"/>
              <a:r>
                <a:rPr lang="en-US" dirty="0"/>
                <a:t>1</a:t>
              </a:r>
            </a:p>
          </p:txBody>
        </p:sp>
        <p:sp>
          <p:nvSpPr>
            <p:cNvPr id="18" name="TextBox 17">
              <a:extLst>
                <a:ext uri="{FF2B5EF4-FFF2-40B4-BE49-F238E27FC236}">
                  <a16:creationId xmlns:a16="http://schemas.microsoft.com/office/drawing/2014/main" id="{21246A40-EC96-4292-A423-E206727902CE}"/>
                </a:ext>
              </a:extLst>
            </p:cNvPr>
            <p:cNvSpPr txBox="1"/>
            <p:nvPr/>
          </p:nvSpPr>
          <p:spPr>
            <a:xfrm>
              <a:off x="2989183" y="5535564"/>
              <a:ext cx="622021" cy="409649"/>
            </a:xfrm>
            <a:prstGeom prst="rect">
              <a:avLst/>
            </a:prstGeom>
            <a:solidFill>
              <a:schemeClr val="bg1"/>
            </a:solidFill>
          </p:spPr>
          <p:txBody>
            <a:bodyPr wrap="square" rtlCol="0">
              <a:spAutoFit/>
            </a:bodyPr>
            <a:lstStyle/>
            <a:p>
              <a:pPr algn="ctr"/>
              <a:r>
                <a:rPr lang="en-US" dirty="0"/>
                <a:t>-0.6</a:t>
              </a:r>
            </a:p>
          </p:txBody>
        </p:sp>
      </p:grpSp>
      <p:sp>
        <p:nvSpPr>
          <p:cNvPr id="20" name="TextBox 19">
            <a:extLst>
              <a:ext uri="{FF2B5EF4-FFF2-40B4-BE49-F238E27FC236}">
                <a16:creationId xmlns:a16="http://schemas.microsoft.com/office/drawing/2014/main" id="{2D7B6CEC-25E6-443A-961C-F80E2FC747EF}"/>
              </a:ext>
            </a:extLst>
          </p:cNvPr>
          <p:cNvSpPr txBox="1"/>
          <p:nvPr/>
        </p:nvSpPr>
        <p:spPr>
          <a:xfrm>
            <a:off x="1124124" y="5232002"/>
            <a:ext cx="6207853" cy="923330"/>
          </a:xfrm>
          <a:prstGeom prst="rect">
            <a:avLst/>
          </a:prstGeom>
          <a:noFill/>
        </p:spPr>
        <p:txBody>
          <a:bodyPr wrap="square" rtlCol="0">
            <a:spAutoFit/>
          </a:bodyPr>
          <a:lstStyle/>
          <a:p>
            <a:pPr marL="342900" indent="-342900">
              <a:buAutoNum type="arabicPeriod"/>
            </a:pPr>
            <a:r>
              <a:rPr lang="en-US" dirty="0"/>
              <a:t>what is the output of this network?</a:t>
            </a:r>
          </a:p>
          <a:p>
            <a:pPr marL="342900" indent="-342900">
              <a:buFontTx/>
              <a:buAutoNum type="arabicPeriod"/>
            </a:pPr>
            <a:r>
              <a:rPr lang="en-US" dirty="0"/>
              <a:t>How will the output change if X3 will be 0.6 instead of -0.6</a:t>
            </a:r>
          </a:p>
          <a:p>
            <a:pPr marL="342900" indent="-342900">
              <a:buAutoNum type="arabicPeriod"/>
            </a:pPr>
            <a:r>
              <a:rPr lang="en-US" dirty="0"/>
              <a:t>How can you change one weight to flip the output?</a:t>
            </a:r>
          </a:p>
        </p:txBody>
      </p:sp>
    </p:spTree>
    <p:extLst>
      <p:ext uri="{BB962C8B-B14F-4D97-AF65-F5344CB8AC3E}">
        <p14:creationId xmlns:p14="http://schemas.microsoft.com/office/powerpoint/2010/main" val="1330359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D1395-AD09-4911-9D89-6C8BEA544048}"/>
              </a:ext>
            </a:extLst>
          </p:cNvPr>
          <p:cNvSpPr>
            <a:spLocks noGrp="1"/>
          </p:cNvSpPr>
          <p:nvPr>
            <p:ph type="title"/>
          </p:nvPr>
        </p:nvSpPr>
        <p:spPr>
          <a:xfrm>
            <a:off x="411061" y="365125"/>
            <a:ext cx="11450971" cy="1325563"/>
          </a:xfrm>
        </p:spPr>
        <p:txBody>
          <a:bodyPr>
            <a:normAutofit/>
          </a:bodyPr>
          <a:lstStyle/>
          <a:p>
            <a:r>
              <a:rPr lang="en-US" sz="4000" dirty="0"/>
              <a:t>Different schemes presenting the exact same thing</a:t>
            </a:r>
          </a:p>
        </p:txBody>
      </p:sp>
      <p:pic>
        <p:nvPicPr>
          <p:cNvPr id="37890" name="Picture 2" descr="Perceptron: The Artificial Neuron – mc.ai">
            <a:extLst>
              <a:ext uri="{FF2B5EF4-FFF2-40B4-BE49-F238E27FC236}">
                <a16:creationId xmlns:a16="http://schemas.microsoft.com/office/drawing/2014/main" id="{02FF8E7B-1C59-401B-9E43-2827724963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7591" y="4148164"/>
            <a:ext cx="3518832" cy="25972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033DE73-2645-40BD-ABFD-D5127A109E96}"/>
              </a:ext>
            </a:extLst>
          </p:cNvPr>
          <p:cNvPicPr>
            <a:picLocks noChangeAspect="1"/>
          </p:cNvPicPr>
          <p:nvPr/>
        </p:nvPicPr>
        <p:blipFill>
          <a:blip r:embed="rId3"/>
          <a:stretch>
            <a:fillRect/>
          </a:stretch>
        </p:blipFill>
        <p:spPr>
          <a:xfrm>
            <a:off x="5315037" y="1783570"/>
            <a:ext cx="4086224" cy="2271712"/>
          </a:xfrm>
          <a:prstGeom prst="rect">
            <a:avLst/>
          </a:prstGeom>
        </p:spPr>
      </p:pic>
      <p:pic>
        <p:nvPicPr>
          <p:cNvPr id="37894" name="Picture 6" descr="Neural Network | Big Data Mining &amp; Machine Learning">
            <a:extLst>
              <a:ext uri="{FF2B5EF4-FFF2-40B4-BE49-F238E27FC236}">
                <a16:creationId xmlns:a16="http://schemas.microsoft.com/office/drawing/2014/main" id="{23F1DE25-84D3-431A-8318-F3332798D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7627" y="4055282"/>
            <a:ext cx="4086224" cy="238629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What's the difference between &quot;Artificial neuron&quot; and &quot;Perceptron&quot;? - Cross  Validated">
            <a:extLst>
              <a:ext uri="{FF2B5EF4-FFF2-40B4-BE49-F238E27FC236}">
                <a16:creationId xmlns:a16="http://schemas.microsoft.com/office/drawing/2014/main" id="{3A8E85FC-55F9-4E96-86F9-3489E9BD1B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204" y="1783570"/>
            <a:ext cx="3818739" cy="2217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69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19AE7-BB72-4ADB-AACC-A50DC4E3480F}"/>
              </a:ext>
            </a:extLst>
          </p:cNvPr>
          <p:cNvSpPr>
            <a:spLocks noGrp="1"/>
          </p:cNvSpPr>
          <p:nvPr>
            <p:ph type="title"/>
          </p:nvPr>
        </p:nvSpPr>
        <p:spPr/>
        <p:txBody>
          <a:bodyPr/>
          <a:lstStyle/>
          <a:p>
            <a:r>
              <a:rPr lang="en-US" dirty="0"/>
              <a:t>What can we build with Perceptron?</a:t>
            </a:r>
          </a:p>
        </p:txBody>
      </p:sp>
      <p:sp>
        <p:nvSpPr>
          <p:cNvPr id="3" name="Content Placeholder 2">
            <a:extLst>
              <a:ext uri="{FF2B5EF4-FFF2-40B4-BE49-F238E27FC236}">
                <a16:creationId xmlns:a16="http://schemas.microsoft.com/office/drawing/2014/main" id="{787AFE21-0A4C-4C57-A2DE-485CEC1D5DE3}"/>
              </a:ext>
            </a:extLst>
          </p:cNvPr>
          <p:cNvSpPr>
            <a:spLocks noGrp="1"/>
          </p:cNvSpPr>
          <p:nvPr>
            <p:ph idx="1"/>
          </p:nvPr>
        </p:nvSpPr>
        <p:spPr/>
        <p:txBody>
          <a:bodyPr/>
          <a:lstStyle/>
          <a:p>
            <a:r>
              <a:rPr lang="en-US" dirty="0"/>
              <a:t>What is the solution space when using a perceptron as the building block?</a:t>
            </a:r>
          </a:p>
        </p:txBody>
      </p:sp>
      <p:pic>
        <p:nvPicPr>
          <p:cNvPr id="40962" name="Picture 2" descr="Universal Creative Concepts | Promotional Products &amp; Apparel">
            <a:extLst>
              <a:ext uri="{FF2B5EF4-FFF2-40B4-BE49-F238E27FC236}">
                <a16:creationId xmlns:a16="http://schemas.microsoft.com/office/drawing/2014/main" id="{93893641-69A6-410B-A41B-776D8B2A51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2553" y="2682875"/>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3483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182BA-C606-4B24-A041-111B460B9309}"/>
              </a:ext>
            </a:extLst>
          </p:cNvPr>
          <p:cNvSpPr>
            <a:spLocks noGrp="1"/>
          </p:cNvSpPr>
          <p:nvPr>
            <p:ph type="title"/>
          </p:nvPr>
        </p:nvSpPr>
        <p:spPr/>
        <p:txBody>
          <a:bodyPr/>
          <a:lstStyle/>
          <a:p>
            <a:r>
              <a:rPr lang="en-US" dirty="0"/>
              <a:t>Perceptron </a:t>
            </a:r>
            <a:r>
              <a:rPr lang="en-US" b="1" dirty="0"/>
              <a:t>AND</a:t>
            </a:r>
            <a:r>
              <a:rPr lang="en-US" dirty="0"/>
              <a:t> Logic gate</a:t>
            </a:r>
          </a:p>
        </p:txBody>
      </p:sp>
      <p:pic>
        <p:nvPicPr>
          <p:cNvPr id="20482" name="Picture 2" descr="Image for post">
            <a:extLst>
              <a:ext uri="{FF2B5EF4-FFF2-40B4-BE49-F238E27FC236}">
                <a16:creationId xmlns:a16="http://schemas.microsoft.com/office/drawing/2014/main" id="{2B93674B-B6AF-4CCB-9ADA-2E80CDA66E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1617" y="614363"/>
            <a:ext cx="2847975" cy="2152650"/>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Image for post">
            <a:extLst>
              <a:ext uri="{FF2B5EF4-FFF2-40B4-BE49-F238E27FC236}">
                <a16:creationId xmlns:a16="http://schemas.microsoft.com/office/drawing/2014/main" id="{D71F4659-E82C-49B5-AE00-9CF790C8DD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42957"/>
            <a:ext cx="4581525" cy="35337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08DF47-00FE-457C-9388-C114D5BEC935}"/>
              </a:ext>
            </a:extLst>
          </p:cNvPr>
          <p:cNvSpPr txBox="1"/>
          <p:nvPr/>
        </p:nvSpPr>
        <p:spPr>
          <a:xfrm>
            <a:off x="5384990" y="5569545"/>
            <a:ext cx="6094602" cy="923330"/>
          </a:xfrm>
          <a:prstGeom prst="rect">
            <a:avLst/>
          </a:prstGeom>
          <a:noFill/>
        </p:spPr>
        <p:txBody>
          <a:bodyPr wrap="square">
            <a:spAutoFit/>
          </a:bodyPr>
          <a:lstStyle/>
          <a:p>
            <a:r>
              <a:rPr lang="en-US" dirty="0"/>
              <a:t>https://medium.com/@stanleydukor/neural-representation-of-and-or-not-xor-and-xnor-logic-gates-perceptron-algorithm-b0275375fea1</a:t>
            </a:r>
          </a:p>
        </p:txBody>
      </p:sp>
    </p:spTree>
    <p:extLst>
      <p:ext uri="{BB962C8B-B14F-4D97-AF65-F5344CB8AC3E}">
        <p14:creationId xmlns:p14="http://schemas.microsoft.com/office/powerpoint/2010/main" val="30491770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26280-9F7A-41D0-A2C0-FED5C84B5FAB}"/>
              </a:ext>
            </a:extLst>
          </p:cNvPr>
          <p:cNvSpPr>
            <a:spLocks noGrp="1"/>
          </p:cNvSpPr>
          <p:nvPr>
            <p:ph type="title"/>
          </p:nvPr>
        </p:nvSpPr>
        <p:spPr/>
        <p:txBody>
          <a:bodyPr/>
          <a:lstStyle/>
          <a:p>
            <a:r>
              <a:rPr lang="en-US" dirty="0"/>
              <a:t>Perceptron </a:t>
            </a:r>
            <a:r>
              <a:rPr lang="en-US" b="1" dirty="0"/>
              <a:t>OR</a:t>
            </a:r>
            <a:r>
              <a:rPr lang="en-US" dirty="0"/>
              <a:t> Logic gate</a:t>
            </a:r>
          </a:p>
        </p:txBody>
      </p:sp>
      <p:pic>
        <p:nvPicPr>
          <p:cNvPr id="21506" name="Picture 2" descr="Image for post">
            <a:extLst>
              <a:ext uri="{FF2B5EF4-FFF2-40B4-BE49-F238E27FC236}">
                <a16:creationId xmlns:a16="http://schemas.microsoft.com/office/drawing/2014/main" id="{6DE38BE8-FF6E-4530-A200-D13404F962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5982" y="754005"/>
            <a:ext cx="2867025" cy="2162175"/>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Image for post">
            <a:extLst>
              <a:ext uri="{FF2B5EF4-FFF2-40B4-BE49-F238E27FC236}">
                <a16:creationId xmlns:a16="http://schemas.microsoft.com/office/drawing/2014/main" id="{2B570661-A975-4647-9163-AEB275A4E0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593" y="2916180"/>
            <a:ext cx="4581525"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3521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9E991-9461-4B50-828B-00404F52698D}"/>
              </a:ext>
            </a:extLst>
          </p:cNvPr>
          <p:cNvSpPr>
            <a:spLocks noGrp="1"/>
          </p:cNvSpPr>
          <p:nvPr>
            <p:ph type="title"/>
          </p:nvPr>
        </p:nvSpPr>
        <p:spPr/>
        <p:txBody>
          <a:bodyPr/>
          <a:lstStyle/>
          <a:p>
            <a:r>
              <a:rPr lang="en-US" dirty="0"/>
              <a:t>Perceptron </a:t>
            </a:r>
            <a:r>
              <a:rPr lang="en-US" b="1" dirty="0"/>
              <a:t>NOR</a:t>
            </a:r>
            <a:r>
              <a:rPr lang="en-US" dirty="0"/>
              <a:t> Logic gate</a:t>
            </a:r>
          </a:p>
        </p:txBody>
      </p:sp>
      <p:pic>
        <p:nvPicPr>
          <p:cNvPr id="22530" name="Picture 2" descr="Image for post">
            <a:extLst>
              <a:ext uri="{FF2B5EF4-FFF2-40B4-BE49-F238E27FC236}">
                <a16:creationId xmlns:a16="http://schemas.microsoft.com/office/drawing/2014/main" id="{47439F4B-DC0C-4BAE-BF56-2C3D416B03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0807" y="677069"/>
            <a:ext cx="2828925" cy="2162175"/>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Image for post">
            <a:extLst>
              <a:ext uri="{FF2B5EF4-FFF2-40B4-BE49-F238E27FC236}">
                <a16:creationId xmlns:a16="http://schemas.microsoft.com/office/drawing/2014/main" id="{B4869422-CBD4-4551-A68E-95DE70518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3982" y="2668792"/>
            <a:ext cx="4581525" cy="353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40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F978F-0D87-4248-A743-407CBE8DBEA8}"/>
              </a:ext>
            </a:extLst>
          </p:cNvPr>
          <p:cNvSpPr>
            <a:spLocks noGrp="1"/>
          </p:cNvSpPr>
          <p:nvPr>
            <p:ph type="title"/>
          </p:nvPr>
        </p:nvSpPr>
        <p:spPr/>
        <p:txBody>
          <a:bodyPr/>
          <a:lstStyle/>
          <a:p>
            <a:r>
              <a:rPr lang="en-US" dirty="0"/>
              <a:t>Perceptron </a:t>
            </a:r>
            <a:r>
              <a:rPr lang="en-US" b="1" dirty="0"/>
              <a:t>NAND</a:t>
            </a:r>
            <a:r>
              <a:rPr lang="en-US" dirty="0"/>
              <a:t> Logic gate</a:t>
            </a:r>
          </a:p>
        </p:txBody>
      </p:sp>
      <p:pic>
        <p:nvPicPr>
          <p:cNvPr id="23554" name="Picture 2" descr="Image for post">
            <a:extLst>
              <a:ext uri="{FF2B5EF4-FFF2-40B4-BE49-F238E27FC236}">
                <a16:creationId xmlns:a16="http://schemas.microsoft.com/office/drawing/2014/main" id="{40944E9A-1755-468D-A38F-AFAE0D52F4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6775" y="758766"/>
            <a:ext cx="2867025" cy="215265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Image for post">
            <a:extLst>
              <a:ext uri="{FF2B5EF4-FFF2-40B4-BE49-F238E27FC236}">
                <a16:creationId xmlns:a16="http://schemas.microsoft.com/office/drawing/2014/main" id="{EEAA2453-5042-4B68-A7EB-98E00415F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3649" y="2548156"/>
            <a:ext cx="4581525" cy="35337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EED9F50-B9A1-4679-9283-A6E3EFD015E1}"/>
              </a:ext>
            </a:extLst>
          </p:cNvPr>
          <p:cNvSpPr/>
          <p:nvPr/>
        </p:nvSpPr>
        <p:spPr>
          <a:xfrm>
            <a:off x="6955792" y="3853378"/>
            <a:ext cx="2380781"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Class Ex</a:t>
            </a:r>
          </a:p>
        </p:txBody>
      </p:sp>
    </p:spTree>
    <p:extLst>
      <p:ext uri="{BB962C8B-B14F-4D97-AF65-F5344CB8AC3E}">
        <p14:creationId xmlns:p14="http://schemas.microsoft.com/office/powerpoint/2010/main" val="3917917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3556"/>
                                        </p:tgtEl>
                                        <p:attrNameLst>
                                          <p:attrName>style.visibility</p:attrName>
                                        </p:attrNameLst>
                                      </p:cBhvr>
                                      <p:to>
                                        <p:strVal val="visible"/>
                                      </p:to>
                                    </p:set>
                                    <p:anim calcmode="lin" valueType="num">
                                      <p:cBhvr additive="base">
                                        <p:cTn id="13" dur="500" fill="hold"/>
                                        <p:tgtEl>
                                          <p:spTgt spid="23556"/>
                                        </p:tgtEl>
                                        <p:attrNameLst>
                                          <p:attrName>ppt_x</p:attrName>
                                        </p:attrNameLst>
                                      </p:cBhvr>
                                      <p:tavLst>
                                        <p:tav tm="0">
                                          <p:val>
                                            <p:strVal val="#ppt_x"/>
                                          </p:val>
                                        </p:tav>
                                        <p:tav tm="100000">
                                          <p:val>
                                            <p:strVal val="#ppt_x"/>
                                          </p:val>
                                        </p:tav>
                                      </p:tavLst>
                                    </p:anim>
                                    <p:anim calcmode="lin" valueType="num">
                                      <p:cBhvr additive="base">
                                        <p:cTn id="14" dur="500" fill="hold"/>
                                        <p:tgtEl>
                                          <p:spTgt spid="23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0B628-B870-4170-8341-25BCF12DA4D5}"/>
              </a:ext>
            </a:extLst>
          </p:cNvPr>
          <p:cNvSpPr>
            <a:spLocks noGrp="1"/>
          </p:cNvSpPr>
          <p:nvPr>
            <p:ph type="title"/>
          </p:nvPr>
        </p:nvSpPr>
        <p:spPr/>
        <p:txBody>
          <a:bodyPr/>
          <a:lstStyle/>
          <a:p>
            <a:r>
              <a:rPr lang="en-US" dirty="0"/>
              <a:t>Perceptron </a:t>
            </a:r>
            <a:r>
              <a:rPr lang="en-US" b="1" dirty="0"/>
              <a:t>XOR</a:t>
            </a:r>
            <a:r>
              <a:rPr lang="en-US" dirty="0"/>
              <a:t> Logic gate</a:t>
            </a:r>
          </a:p>
        </p:txBody>
      </p:sp>
      <p:sp>
        <p:nvSpPr>
          <p:cNvPr id="3" name="Content Placeholder 2">
            <a:extLst>
              <a:ext uri="{FF2B5EF4-FFF2-40B4-BE49-F238E27FC236}">
                <a16:creationId xmlns:a16="http://schemas.microsoft.com/office/drawing/2014/main" id="{2439EBB5-D322-46CD-BB05-498382D58362}"/>
              </a:ext>
            </a:extLst>
          </p:cNvPr>
          <p:cNvSpPr>
            <a:spLocks noGrp="1"/>
          </p:cNvSpPr>
          <p:nvPr>
            <p:ph idx="1"/>
          </p:nvPr>
        </p:nvSpPr>
        <p:spPr/>
        <p:txBody>
          <a:bodyPr/>
          <a:lstStyle/>
          <a:p>
            <a:endParaRPr lang="en-US" dirty="0"/>
          </a:p>
        </p:txBody>
      </p:sp>
      <p:pic>
        <p:nvPicPr>
          <p:cNvPr id="24578" name="Picture 2" descr="Image for post">
            <a:extLst>
              <a:ext uri="{FF2B5EF4-FFF2-40B4-BE49-F238E27FC236}">
                <a16:creationId xmlns:a16="http://schemas.microsoft.com/office/drawing/2014/main" id="{663BEEE0-43A2-40BD-9B88-F9ECFA5192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283" y="365125"/>
            <a:ext cx="2847975" cy="2162175"/>
          </a:xfrm>
          <a:prstGeom prst="rect">
            <a:avLst/>
          </a:prstGeom>
          <a:noFill/>
          <a:extLst>
            <a:ext uri="{909E8E84-426E-40DD-AFC4-6F175D3DCCD1}">
              <a14:hiddenFill xmlns:a14="http://schemas.microsoft.com/office/drawing/2010/main">
                <a:solidFill>
                  <a:srgbClr val="FFFFFF"/>
                </a:solidFill>
              </a14:hiddenFill>
            </a:ext>
          </a:extLst>
        </p:spPr>
      </p:pic>
      <p:pic>
        <p:nvPicPr>
          <p:cNvPr id="24580" name="Picture 4" descr="Image for post">
            <a:extLst>
              <a:ext uri="{FF2B5EF4-FFF2-40B4-BE49-F238E27FC236}">
                <a16:creationId xmlns:a16="http://schemas.microsoft.com/office/drawing/2014/main" id="{A7B73B12-46CB-4B53-A16A-2F614F52C8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205" y="2338388"/>
            <a:ext cx="5153025" cy="38385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AI Winter. How Canadians contributed to end it? — Pavan Mirla">
            <a:extLst>
              <a:ext uri="{FF2B5EF4-FFF2-40B4-BE49-F238E27FC236}">
                <a16:creationId xmlns:a16="http://schemas.microsoft.com/office/drawing/2014/main" id="{C41A7C27-1860-4B9B-864D-1B6C7F66D0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6838" y="3371811"/>
            <a:ext cx="2572133" cy="1917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81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4580"/>
                                        </p:tgtEl>
                                        <p:attrNameLst>
                                          <p:attrName>style.visibility</p:attrName>
                                        </p:attrNameLst>
                                      </p:cBhvr>
                                      <p:to>
                                        <p:strVal val="visible"/>
                                      </p:to>
                                    </p:set>
                                    <p:anim calcmode="lin" valueType="num">
                                      <p:cBhvr additive="base">
                                        <p:cTn id="19" dur="500" fill="hold"/>
                                        <p:tgtEl>
                                          <p:spTgt spid="24580"/>
                                        </p:tgtEl>
                                        <p:attrNameLst>
                                          <p:attrName>ppt_x</p:attrName>
                                        </p:attrNameLst>
                                      </p:cBhvr>
                                      <p:tavLst>
                                        <p:tav tm="0">
                                          <p:val>
                                            <p:strVal val="#ppt_x"/>
                                          </p:val>
                                        </p:tav>
                                        <p:tav tm="100000">
                                          <p:val>
                                            <p:strVal val="#ppt_x"/>
                                          </p:val>
                                        </p:tav>
                                      </p:tavLst>
                                    </p:anim>
                                    <p:anim calcmode="lin" valueType="num">
                                      <p:cBhvr additive="base">
                                        <p:cTn id="20" dur="500" fill="hold"/>
                                        <p:tgtEl>
                                          <p:spTgt spid="245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E62BD-28BA-4FAC-AB38-56135741A372}"/>
              </a:ext>
            </a:extLst>
          </p:cNvPr>
          <p:cNvSpPr>
            <a:spLocks noGrp="1"/>
          </p:cNvSpPr>
          <p:nvPr>
            <p:ph type="title"/>
          </p:nvPr>
        </p:nvSpPr>
        <p:spPr/>
        <p:txBody>
          <a:bodyPr/>
          <a:lstStyle/>
          <a:p>
            <a:r>
              <a:rPr lang="en-US" dirty="0"/>
              <a:t>Image Classifier</a:t>
            </a:r>
          </a:p>
        </p:txBody>
      </p:sp>
      <p:grpSp>
        <p:nvGrpSpPr>
          <p:cNvPr id="3" name="Group 2">
            <a:extLst>
              <a:ext uri="{FF2B5EF4-FFF2-40B4-BE49-F238E27FC236}">
                <a16:creationId xmlns:a16="http://schemas.microsoft.com/office/drawing/2014/main" id="{805F07EE-70A1-46F2-9AE8-68011258BAC7}"/>
              </a:ext>
            </a:extLst>
          </p:cNvPr>
          <p:cNvGrpSpPr/>
          <p:nvPr/>
        </p:nvGrpSpPr>
        <p:grpSpPr>
          <a:xfrm>
            <a:off x="1141859" y="3827532"/>
            <a:ext cx="8929615" cy="3030468"/>
            <a:chOff x="1141859" y="3827532"/>
            <a:chExt cx="8929615" cy="3030468"/>
          </a:xfrm>
        </p:grpSpPr>
        <p:grpSp>
          <p:nvGrpSpPr>
            <p:cNvPr id="12" name="Group 11">
              <a:extLst>
                <a:ext uri="{FF2B5EF4-FFF2-40B4-BE49-F238E27FC236}">
                  <a16:creationId xmlns:a16="http://schemas.microsoft.com/office/drawing/2014/main" id="{1DEF7E3D-A06E-497A-B56F-0662B31A0867}"/>
                </a:ext>
              </a:extLst>
            </p:cNvPr>
            <p:cNvGrpSpPr/>
            <p:nvPr/>
          </p:nvGrpSpPr>
          <p:grpSpPr>
            <a:xfrm>
              <a:off x="1141859" y="4656559"/>
              <a:ext cx="612398" cy="1321266"/>
              <a:chOff x="1543573" y="2768367"/>
              <a:chExt cx="612398" cy="1321266"/>
            </a:xfrm>
          </p:grpSpPr>
          <p:sp>
            <p:nvSpPr>
              <p:cNvPr id="4" name="Rectangle 3">
                <a:extLst>
                  <a:ext uri="{FF2B5EF4-FFF2-40B4-BE49-F238E27FC236}">
                    <a16:creationId xmlns:a16="http://schemas.microsoft.com/office/drawing/2014/main" id="{FF5C608C-C194-4986-8977-2C33066EEBC3}"/>
                  </a:ext>
                </a:extLst>
              </p:cNvPr>
              <p:cNvSpPr/>
              <p:nvPr/>
            </p:nvSpPr>
            <p:spPr>
              <a:xfrm>
                <a:off x="1543574" y="2768367"/>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CC85E7A-C2D6-4263-8A2D-1C4041C41585}"/>
                  </a:ext>
                </a:extLst>
              </p:cNvPr>
              <p:cNvSpPr/>
              <p:nvPr/>
            </p:nvSpPr>
            <p:spPr>
              <a:xfrm>
                <a:off x="1543573" y="3429000"/>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68F42355-8A7A-4B3E-82D2-B7218E6AA988}"/>
                </a:ext>
              </a:extLst>
            </p:cNvPr>
            <p:cNvSpPr/>
            <p:nvPr/>
          </p:nvSpPr>
          <p:spPr>
            <a:xfrm>
              <a:off x="6442916" y="4986875"/>
              <a:ext cx="362855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Same color?</a:t>
              </a:r>
            </a:p>
          </p:txBody>
        </p:sp>
        <p:grpSp>
          <p:nvGrpSpPr>
            <p:cNvPr id="13" name="Group 12">
              <a:extLst>
                <a:ext uri="{FF2B5EF4-FFF2-40B4-BE49-F238E27FC236}">
                  <a16:creationId xmlns:a16="http://schemas.microsoft.com/office/drawing/2014/main" id="{3A53326E-0650-433A-8F61-CDD1975D316F}"/>
                </a:ext>
              </a:extLst>
            </p:cNvPr>
            <p:cNvGrpSpPr/>
            <p:nvPr/>
          </p:nvGrpSpPr>
          <p:grpSpPr>
            <a:xfrm>
              <a:off x="2825209" y="3827532"/>
              <a:ext cx="3214864" cy="3030468"/>
              <a:chOff x="3002449" y="1774383"/>
              <a:chExt cx="4110857" cy="4232564"/>
            </a:xfrm>
          </p:grpSpPr>
          <p:pic>
            <p:nvPicPr>
              <p:cNvPr id="10" name="Picture 4" descr="Function examples - Math Insight">
                <a:extLst>
                  <a:ext uri="{FF2B5EF4-FFF2-40B4-BE49-F238E27FC236}">
                    <a16:creationId xmlns:a16="http://schemas.microsoft.com/office/drawing/2014/main" id="{6808559B-5833-450B-86F4-C92C9DB76AE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134"/>
              <a:stretch/>
            </p:blipFill>
            <p:spPr bwMode="auto">
              <a:xfrm>
                <a:off x="3002449" y="1774383"/>
                <a:ext cx="4110857" cy="423256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Neural network math and information | Computer learning, Artificial neural  network, Machine learning deep learning">
                <a:extLst>
                  <a:ext uri="{FF2B5EF4-FFF2-40B4-BE49-F238E27FC236}">
                    <a16:creationId xmlns:a16="http://schemas.microsoft.com/office/drawing/2014/main" id="{A01C80EC-5720-4FE0-B953-88EA18D4A7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028" r="4299"/>
              <a:stretch/>
            </p:blipFill>
            <p:spPr bwMode="auto">
              <a:xfrm>
                <a:off x="3221961" y="3224655"/>
                <a:ext cx="2424670" cy="1989974"/>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4" name="TextBox 13">
            <a:extLst>
              <a:ext uri="{FF2B5EF4-FFF2-40B4-BE49-F238E27FC236}">
                <a16:creationId xmlns:a16="http://schemas.microsoft.com/office/drawing/2014/main" id="{D188E141-0F15-4D3C-A785-11635B3B0C7D}"/>
              </a:ext>
            </a:extLst>
          </p:cNvPr>
          <p:cNvSpPr txBox="1"/>
          <p:nvPr/>
        </p:nvSpPr>
        <p:spPr>
          <a:xfrm>
            <a:off x="1098958" y="1753299"/>
            <a:ext cx="9882231" cy="923330"/>
          </a:xfrm>
          <a:prstGeom prst="rect">
            <a:avLst/>
          </a:prstGeom>
          <a:noFill/>
        </p:spPr>
        <p:txBody>
          <a:bodyPr wrap="square" rtlCol="0">
            <a:spAutoFit/>
          </a:bodyPr>
          <a:lstStyle/>
          <a:p>
            <a:r>
              <a:rPr lang="en-US" dirty="0"/>
              <a:t>Given images that have only 2 pixels that can be black or white, We want to build a classifier which can tell if both cells have the </a:t>
            </a:r>
            <a:r>
              <a:rPr lang="en-US" b="1" u="sng" dirty="0"/>
              <a:t>same color </a:t>
            </a:r>
            <a:r>
              <a:rPr lang="en-US" dirty="0"/>
              <a:t>or not.</a:t>
            </a:r>
          </a:p>
          <a:p>
            <a:r>
              <a:rPr lang="en-US" dirty="0"/>
              <a:t>Can you come up with a NN that will solve the classification?</a:t>
            </a:r>
          </a:p>
        </p:txBody>
      </p:sp>
      <p:grpSp>
        <p:nvGrpSpPr>
          <p:cNvPr id="33" name="Group 32">
            <a:extLst>
              <a:ext uri="{FF2B5EF4-FFF2-40B4-BE49-F238E27FC236}">
                <a16:creationId xmlns:a16="http://schemas.microsoft.com/office/drawing/2014/main" id="{6A35BA94-DC00-4771-9645-2B34E5230A38}"/>
              </a:ext>
            </a:extLst>
          </p:cNvPr>
          <p:cNvGrpSpPr/>
          <p:nvPr/>
        </p:nvGrpSpPr>
        <p:grpSpPr>
          <a:xfrm>
            <a:off x="7369724" y="2460557"/>
            <a:ext cx="2762778" cy="1794497"/>
            <a:chOff x="7369724" y="2460557"/>
            <a:chExt cx="2762778" cy="1794497"/>
          </a:xfrm>
        </p:grpSpPr>
        <p:grpSp>
          <p:nvGrpSpPr>
            <p:cNvPr id="28" name="Group 27">
              <a:extLst>
                <a:ext uri="{FF2B5EF4-FFF2-40B4-BE49-F238E27FC236}">
                  <a16:creationId xmlns:a16="http://schemas.microsoft.com/office/drawing/2014/main" id="{A29D7AF5-DE8E-4C3C-AE4A-299F3158533B}"/>
                </a:ext>
              </a:extLst>
            </p:cNvPr>
            <p:cNvGrpSpPr/>
            <p:nvPr/>
          </p:nvGrpSpPr>
          <p:grpSpPr>
            <a:xfrm>
              <a:off x="7369724" y="2460557"/>
              <a:ext cx="2762778" cy="1332587"/>
              <a:chOff x="7369724" y="2460557"/>
              <a:chExt cx="2762778" cy="1332587"/>
            </a:xfrm>
          </p:grpSpPr>
          <p:grpSp>
            <p:nvGrpSpPr>
              <p:cNvPr id="15" name="Group 14">
                <a:extLst>
                  <a:ext uri="{FF2B5EF4-FFF2-40B4-BE49-F238E27FC236}">
                    <a16:creationId xmlns:a16="http://schemas.microsoft.com/office/drawing/2014/main" id="{0CA4B17C-9F12-473F-BCA5-62929509FBCF}"/>
                  </a:ext>
                </a:extLst>
              </p:cNvPr>
              <p:cNvGrpSpPr/>
              <p:nvPr/>
            </p:nvGrpSpPr>
            <p:grpSpPr>
              <a:xfrm>
                <a:off x="8788055" y="2471878"/>
                <a:ext cx="612398" cy="1321266"/>
                <a:chOff x="1543573" y="2768367"/>
                <a:chExt cx="612398" cy="1321266"/>
              </a:xfrm>
            </p:grpSpPr>
            <p:sp>
              <p:nvSpPr>
                <p:cNvPr id="16" name="Rectangle 15">
                  <a:extLst>
                    <a:ext uri="{FF2B5EF4-FFF2-40B4-BE49-F238E27FC236}">
                      <a16:creationId xmlns:a16="http://schemas.microsoft.com/office/drawing/2014/main" id="{C1993D37-3967-4114-BCF0-2A6DE7640B00}"/>
                    </a:ext>
                  </a:extLst>
                </p:cNvPr>
                <p:cNvSpPr/>
                <p:nvPr/>
              </p:nvSpPr>
              <p:spPr>
                <a:xfrm>
                  <a:off x="1543574" y="2768367"/>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D6ED99B-77EB-4C09-AB35-A2E8ECF10701}"/>
                    </a:ext>
                  </a:extLst>
                </p:cNvPr>
                <p:cNvSpPr/>
                <p:nvPr/>
              </p:nvSpPr>
              <p:spPr>
                <a:xfrm>
                  <a:off x="1543573" y="3429000"/>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D8CCF769-CB7E-415C-8AEA-AB0697F5B8C4}"/>
                  </a:ext>
                </a:extLst>
              </p:cNvPr>
              <p:cNvGrpSpPr/>
              <p:nvPr/>
            </p:nvGrpSpPr>
            <p:grpSpPr>
              <a:xfrm>
                <a:off x="9520104" y="2467548"/>
                <a:ext cx="612398" cy="1321266"/>
                <a:chOff x="1543573" y="2768367"/>
                <a:chExt cx="612398" cy="1321266"/>
              </a:xfrm>
            </p:grpSpPr>
            <p:sp>
              <p:nvSpPr>
                <p:cNvPr id="19" name="Rectangle 18">
                  <a:extLst>
                    <a:ext uri="{FF2B5EF4-FFF2-40B4-BE49-F238E27FC236}">
                      <a16:creationId xmlns:a16="http://schemas.microsoft.com/office/drawing/2014/main" id="{BABA48BD-CA01-4004-ACED-5B2FC21E8E16}"/>
                    </a:ext>
                  </a:extLst>
                </p:cNvPr>
                <p:cNvSpPr/>
                <p:nvPr/>
              </p:nvSpPr>
              <p:spPr>
                <a:xfrm>
                  <a:off x="1543574" y="2768367"/>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06930B9-8BE8-4C57-9303-426D33288A3B}"/>
                    </a:ext>
                  </a:extLst>
                </p:cNvPr>
                <p:cNvSpPr/>
                <p:nvPr/>
              </p:nvSpPr>
              <p:spPr>
                <a:xfrm>
                  <a:off x="1543573" y="3429000"/>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7D7C9209-505C-4154-A2C8-71F155085196}"/>
                  </a:ext>
                </a:extLst>
              </p:cNvPr>
              <p:cNvSpPr/>
              <p:nvPr/>
            </p:nvSpPr>
            <p:spPr>
              <a:xfrm>
                <a:off x="8081392" y="2467548"/>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E13F652-39B1-4C1D-B261-E2DD3DF11F81}"/>
                  </a:ext>
                </a:extLst>
              </p:cNvPr>
              <p:cNvSpPr/>
              <p:nvPr/>
            </p:nvSpPr>
            <p:spPr>
              <a:xfrm>
                <a:off x="8081391" y="3128181"/>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p>
            </p:txBody>
          </p:sp>
          <p:sp>
            <p:nvSpPr>
              <p:cNvPr id="25" name="Rectangle 24">
                <a:extLst>
                  <a:ext uri="{FF2B5EF4-FFF2-40B4-BE49-F238E27FC236}">
                    <a16:creationId xmlns:a16="http://schemas.microsoft.com/office/drawing/2014/main" id="{4C0EDFEE-F894-40E5-B6A4-EE32940C4EFB}"/>
                  </a:ext>
                </a:extLst>
              </p:cNvPr>
              <p:cNvSpPr/>
              <p:nvPr/>
            </p:nvSpPr>
            <p:spPr>
              <a:xfrm>
                <a:off x="7369725" y="2460557"/>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412EDFA-28E3-44E8-98A9-BA7D498037F6}"/>
                  </a:ext>
                </a:extLst>
              </p:cNvPr>
              <p:cNvSpPr/>
              <p:nvPr/>
            </p:nvSpPr>
            <p:spPr>
              <a:xfrm>
                <a:off x="7369724" y="3121190"/>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u="sng" dirty="0"/>
              </a:p>
            </p:txBody>
          </p:sp>
        </p:grpSp>
        <p:pic>
          <p:nvPicPr>
            <p:cNvPr id="27652" name="Picture 4">
              <a:extLst>
                <a:ext uri="{FF2B5EF4-FFF2-40B4-BE49-F238E27FC236}">
                  <a16:creationId xmlns:a16="http://schemas.microsoft.com/office/drawing/2014/main" id="{7CB6871C-7EAB-46A1-A298-69E945E9AC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0013" y="3885369"/>
              <a:ext cx="311818" cy="30350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a:extLst>
                <a:ext uri="{FF2B5EF4-FFF2-40B4-BE49-F238E27FC236}">
                  <a16:creationId xmlns:a16="http://schemas.microsoft.com/office/drawing/2014/main" id="{BFAD7EEA-E28A-4ADB-86AC-2E5CC35028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0393" y="3877869"/>
              <a:ext cx="311818" cy="303503"/>
            </a:xfrm>
            <a:prstGeom prst="rect">
              <a:avLst/>
            </a:prstGeom>
            <a:noFill/>
            <a:extLst>
              <a:ext uri="{909E8E84-426E-40DD-AFC4-6F175D3DCCD1}">
                <a14:hiddenFill xmlns:a14="http://schemas.microsoft.com/office/drawing/2010/main">
                  <a:solidFill>
                    <a:srgbClr val="FFFFFF"/>
                  </a:solidFill>
                </a14:hiddenFill>
              </a:ext>
            </a:extLst>
          </p:spPr>
        </p:pic>
        <p:pic>
          <p:nvPicPr>
            <p:cNvPr id="27654" name="Picture 6" descr="X Png Icon #99297 - Free Icons Library">
              <a:extLst>
                <a:ext uri="{FF2B5EF4-FFF2-40B4-BE49-F238E27FC236}">
                  <a16:creationId xmlns:a16="http://schemas.microsoft.com/office/drawing/2014/main" id="{DC188E4F-E5BA-44C6-B1D8-33AB58C055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57195" y="3915427"/>
              <a:ext cx="260787" cy="33529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X Png Icon #99297 - Free Icons Library">
              <a:extLst>
                <a:ext uri="{FF2B5EF4-FFF2-40B4-BE49-F238E27FC236}">
                  <a16:creationId xmlns:a16="http://schemas.microsoft.com/office/drawing/2014/main" id="{4B21FC2B-8F83-4C62-AB57-B803C3B416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3794" y="3919757"/>
              <a:ext cx="260787" cy="335297"/>
            </a:xfrm>
            <a:prstGeom prst="rect">
              <a:avLst/>
            </a:prstGeom>
            <a:noFill/>
            <a:extLst>
              <a:ext uri="{909E8E84-426E-40DD-AFC4-6F175D3DCCD1}">
                <a14:hiddenFill xmlns:a14="http://schemas.microsoft.com/office/drawing/2010/main">
                  <a:solidFill>
                    <a:srgbClr val="FFFFFF"/>
                  </a:solidFill>
                </a14:hiddenFill>
              </a:ext>
            </a:extLst>
          </p:spPr>
        </p:pic>
      </p:grpSp>
      <p:sp>
        <p:nvSpPr>
          <p:cNvPr id="29" name="Rectangle 28">
            <a:extLst>
              <a:ext uri="{FF2B5EF4-FFF2-40B4-BE49-F238E27FC236}">
                <a16:creationId xmlns:a16="http://schemas.microsoft.com/office/drawing/2014/main" id="{F06D2B30-39DA-4205-8050-2071921599CA}"/>
              </a:ext>
            </a:extLst>
          </p:cNvPr>
          <p:cNvSpPr/>
          <p:nvPr/>
        </p:nvSpPr>
        <p:spPr>
          <a:xfrm>
            <a:off x="2754583" y="2858493"/>
            <a:ext cx="2380781"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Class Ex</a:t>
            </a:r>
          </a:p>
        </p:txBody>
      </p:sp>
    </p:spTree>
    <p:extLst>
      <p:ext uri="{BB962C8B-B14F-4D97-AF65-F5344CB8AC3E}">
        <p14:creationId xmlns:p14="http://schemas.microsoft.com/office/powerpoint/2010/main" val="237061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6083B-AFD1-4502-81BF-2E20E8C89DFF}"/>
              </a:ext>
            </a:extLst>
          </p:cNvPr>
          <p:cNvSpPr>
            <a:spLocks noGrp="1"/>
          </p:cNvSpPr>
          <p:nvPr>
            <p:ph type="title"/>
          </p:nvPr>
        </p:nvSpPr>
        <p:spPr/>
        <p:txBody>
          <a:bodyPr/>
          <a:lstStyle/>
          <a:p>
            <a:r>
              <a:rPr lang="en-US" dirty="0"/>
              <a:t>Same color classifier solution</a:t>
            </a:r>
          </a:p>
        </p:txBody>
      </p:sp>
      <p:pic>
        <p:nvPicPr>
          <p:cNvPr id="5" name="Picture 4" descr="Image for post">
            <a:extLst>
              <a:ext uri="{FF2B5EF4-FFF2-40B4-BE49-F238E27FC236}">
                <a16:creationId xmlns:a16="http://schemas.microsoft.com/office/drawing/2014/main" id="{AE0BCA9F-9CE9-45A6-9E3C-60F8C6EA71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3647" y="3352637"/>
            <a:ext cx="2531116" cy="1885471"/>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27902A1-B7B4-466F-8B71-B65D3F806FAD}"/>
              </a:ext>
            </a:extLst>
          </p:cNvPr>
          <p:cNvGrpSpPr/>
          <p:nvPr/>
        </p:nvGrpSpPr>
        <p:grpSpPr>
          <a:xfrm>
            <a:off x="838200" y="3936743"/>
            <a:ext cx="612398" cy="1321266"/>
            <a:chOff x="1543573" y="2768367"/>
            <a:chExt cx="612398" cy="1321266"/>
          </a:xfrm>
        </p:grpSpPr>
        <p:sp>
          <p:nvSpPr>
            <p:cNvPr id="7" name="Rectangle 6">
              <a:extLst>
                <a:ext uri="{FF2B5EF4-FFF2-40B4-BE49-F238E27FC236}">
                  <a16:creationId xmlns:a16="http://schemas.microsoft.com/office/drawing/2014/main" id="{FE84747C-720B-4556-8834-AC738EDB4E3A}"/>
                </a:ext>
              </a:extLst>
            </p:cNvPr>
            <p:cNvSpPr/>
            <p:nvPr/>
          </p:nvSpPr>
          <p:spPr>
            <a:xfrm>
              <a:off x="1543574" y="2768367"/>
              <a:ext cx="612397" cy="660633"/>
            </a:xfrm>
            <a:prstGeom prst="rect">
              <a:avLst/>
            </a:prstGeom>
            <a:solidFill>
              <a:schemeClr val="tx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AC43EFF-63D9-4F6D-B6B6-642D6D7639A6}"/>
                </a:ext>
              </a:extLst>
            </p:cNvPr>
            <p:cNvSpPr/>
            <p:nvPr/>
          </p:nvSpPr>
          <p:spPr>
            <a:xfrm>
              <a:off x="1543573" y="3429000"/>
              <a:ext cx="612397" cy="660633"/>
            </a:xfrm>
            <a:prstGeom prst="rect">
              <a:avLst/>
            </a:prstGeom>
            <a:solidFill>
              <a:schemeClr val="bg1"/>
            </a:solid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8CED7D3-B2C2-4DC3-ADC1-535714D3CA28}"/>
              </a:ext>
            </a:extLst>
          </p:cNvPr>
          <p:cNvSpPr/>
          <p:nvPr/>
        </p:nvSpPr>
        <p:spPr>
          <a:xfrm>
            <a:off x="8095549" y="3820804"/>
            <a:ext cx="3628558" cy="923330"/>
          </a:xfrm>
          <a:prstGeom prst="rect">
            <a:avLst/>
          </a:prstGeom>
          <a:noFill/>
        </p:spPr>
        <p:txBody>
          <a:bodyPr wrap="none" lIns="91440" tIns="45720" rIns="91440" bIns="45720">
            <a:spAutoFit/>
          </a:bodyPr>
          <a:lstStyle/>
          <a:p>
            <a:pPr algn="ctr"/>
            <a:r>
              <a:rPr lang="en-US" sz="5400" b="0" cap="none" spc="0" dirty="0">
                <a:ln w="0"/>
                <a:solidFill>
                  <a:schemeClr val="accent1"/>
                </a:solidFill>
                <a:effectLst>
                  <a:outerShdw blurRad="38100" dist="25400" dir="5400000" algn="ctr" rotWithShape="0">
                    <a:srgbClr val="6E747A">
                      <a:alpha val="43000"/>
                    </a:srgbClr>
                  </a:outerShdw>
                </a:effectLst>
              </a:rPr>
              <a:t>Same color?</a:t>
            </a:r>
          </a:p>
        </p:txBody>
      </p:sp>
      <p:sp>
        <p:nvSpPr>
          <p:cNvPr id="10" name="Double Bracket 9">
            <a:extLst>
              <a:ext uri="{FF2B5EF4-FFF2-40B4-BE49-F238E27FC236}">
                <a16:creationId xmlns:a16="http://schemas.microsoft.com/office/drawing/2014/main" id="{6C1E9C1B-3603-41DA-8339-F3D1231B4999}"/>
              </a:ext>
            </a:extLst>
          </p:cNvPr>
          <p:cNvSpPr/>
          <p:nvPr/>
        </p:nvSpPr>
        <p:spPr>
          <a:xfrm rot="5400000">
            <a:off x="2893253" y="4303554"/>
            <a:ext cx="1006678" cy="478173"/>
          </a:xfrm>
          <a:prstGeom prst="bracketPair">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5D72B75E-B39D-42F6-BA3A-CE75274ADC6D}"/>
              </a:ext>
            </a:extLst>
          </p:cNvPr>
          <p:cNvSpPr txBox="1"/>
          <p:nvPr/>
        </p:nvSpPr>
        <p:spPr>
          <a:xfrm>
            <a:off x="3253979" y="4110706"/>
            <a:ext cx="251670" cy="369332"/>
          </a:xfrm>
          <a:prstGeom prst="rect">
            <a:avLst/>
          </a:prstGeom>
          <a:noFill/>
        </p:spPr>
        <p:txBody>
          <a:bodyPr wrap="square" rtlCol="0">
            <a:spAutoFit/>
          </a:bodyPr>
          <a:lstStyle/>
          <a:p>
            <a:r>
              <a:rPr lang="en-US" dirty="0"/>
              <a:t>0</a:t>
            </a:r>
          </a:p>
        </p:txBody>
      </p:sp>
      <p:sp>
        <p:nvSpPr>
          <p:cNvPr id="13" name="TextBox 12">
            <a:extLst>
              <a:ext uri="{FF2B5EF4-FFF2-40B4-BE49-F238E27FC236}">
                <a16:creationId xmlns:a16="http://schemas.microsoft.com/office/drawing/2014/main" id="{706EAE2C-842F-4C16-9CFA-140F7EB19F74}"/>
              </a:ext>
            </a:extLst>
          </p:cNvPr>
          <p:cNvSpPr txBox="1"/>
          <p:nvPr/>
        </p:nvSpPr>
        <p:spPr>
          <a:xfrm>
            <a:off x="3261445" y="4618913"/>
            <a:ext cx="251670" cy="369332"/>
          </a:xfrm>
          <a:prstGeom prst="rect">
            <a:avLst/>
          </a:prstGeom>
          <a:noFill/>
        </p:spPr>
        <p:txBody>
          <a:bodyPr wrap="square" rtlCol="0">
            <a:spAutoFit/>
          </a:bodyPr>
          <a:lstStyle/>
          <a:p>
            <a:r>
              <a:rPr lang="en-US" dirty="0"/>
              <a:t>1</a:t>
            </a:r>
          </a:p>
        </p:txBody>
      </p:sp>
      <p:sp>
        <p:nvSpPr>
          <p:cNvPr id="14" name="Arrow: Right 13">
            <a:extLst>
              <a:ext uri="{FF2B5EF4-FFF2-40B4-BE49-F238E27FC236}">
                <a16:creationId xmlns:a16="http://schemas.microsoft.com/office/drawing/2014/main" id="{37D54C80-9E3D-47D2-9442-61AD89CEA244}"/>
              </a:ext>
            </a:extLst>
          </p:cNvPr>
          <p:cNvSpPr/>
          <p:nvPr/>
        </p:nvSpPr>
        <p:spPr>
          <a:xfrm>
            <a:off x="1803633" y="4480038"/>
            <a:ext cx="998290" cy="3563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1254553-7696-4144-A82D-7CA20FECE64C}"/>
              </a:ext>
            </a:extLst>
          </p:cNvPr>
          <p:cNvSpPr txBox="1"/>
          <p:nvPr/>
        </p:nvSpPr>
        <p:spPr>
          <a:xfrm>
            <a:off x="6733564" y="3914505"/>
            <a:ext cx="411061" cy="369332"/>
          </a:xfrm>
          <a:prstGeom prst="rect">
            <a:avLst/>
          </a:prstGeom>
          <a:noFill/>
        </p:spPr>
        <p:txBody>
          <a:bodyPr wrap="square" rtlCol="0">
            <a:spAutoFit/>
          </a:bodyPr>
          <a:lstStyle/>
          <a:p>
            <a:r>
              <a:rPr lang="en-US" dirty="0"/>
              <a:t>0</a:t>
            </a:r>
          </a:p>
        </p:txBody>
      </p:sp>
      <p:sp>
        <p:nvSpPr>
          <p:cNvPr id="19" name="TextBox 18">
            <a:extLst>
              <a:ext uri="{FF2B5EF4-FFF2-40B4-BE49-F238E27FC236}">
                <a16:creationId xmlns:a16="http://schemas.microsoft.com/office/drawing/2014/main" id="{52704F8F-D00A-49D8-988A-9A1CD5FB5A62}"/>
              </a:ext>
            </a:extLst>
          </p:cNvPr>
          <p:cNvSpPr txBox="1"/>
          <p:nvPr/>
        </p:nvSpPr>
        <p:spPr>
          <a:xfrm>
            <a:off x="6733563" y="4295372"/>
            <a:ext cx="411061" cy="369332"/>
          </a:xfrm>
          <a:prstGeom prst="rect">
            <a:avLst/>
          </a:prstGeom>
          <a:noFill/>
        </p:spPr>
        <p:txBody>
          <a:bodyPr wrap="square" rtlCol="0">
            <a:spAutoFit/>
          </a:bodyPr>
          <a:lstStyle/>
          <a:p>
            <a:r>
              <a:rPr lang="en-US" dirty="0"/>
              <a:t>1</a:t>
            </a:r>
          </a:p>
        </p:txBody>
      </p:sp>
      <p:pic>
        <p:nvPicPr>
          <p:cNvPr id="21" name="Picture 4">
            <a:extLst>
              <a:ext uri="{FF2B5EF4-FFF2-40B4-BE49-F238E27FC236}">
                <a16:creationId xmlns:a16="http://schemas.microsoft.com/office/drawing/2014/main" id="{012000EE-B5E6-4318-BA30-19B231E28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2731" y="3902970"/>
            <a:ext cx="311818" cy="30350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X Png Icon #99297 - Free Icons Library">
            <a:extLst>
              <a:ext uri="{FF2B5EF4-FFF2-40B4-BE49-F238E27FC236}">
                <a16:creationId xmlns:a16="http://schemas.microsoft.com/office/drawing/2014/main" id="{CFB260F1-F4EB-443C-967F-75F923DE03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2731" y="4312389"/>
            <a:ext cx="260787" cy="335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141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5A1A-37DB-4F28-ADA8-403F6D4EC9F6}"/>
              </a:ext>
            </a:extLst>
          </p:cNvPr>
          <p:cNvSpPr>
            <a:spLocks noGrp="1"/>
          </p:cNvSpPr>
          <p:nvPr>
            <p:ph type="title"/>
          </p:nvPr>
        </p:nvSpPr>
        <p:spPr/>
        <p:txBody>
          <a:bodyPr/>
          <a:lstStyle/>
          <a:p>
            <a:r>
              <a:rPr lang="en-US" b="1" i="0" dirty="0">
                <a:solidFill>
                  <a:srgbClr val="202122"/>
                </a:solidFill>
                <a:effectLst/>
                <a:latin typeface="Arial" panose="020B0604020202020204" pitchFamily="34" charset="0"/>
              </a:rPr>
              <a:t>functionally complete</a:t>
            </a:r>
            <a:r>
              <a:rPr lang="en-US" b="0" i="0" dirty="0">
                <a:solidFill>
                  <a:srgbClr val="202122"/>
                </a:solidFill>
                <a:effectLst/>
                <a:latin typeface="Arial" panose="020B0604020202020204" pitchFamily="34" charset="0"/>
              </a:rPr>
              <a:t> </a:t>
            </a:r>
            <a:endParaRPr lang="en-US" dirty="0"/>
          </a:p>
        </p:txBody>
      </p:sp>
      <p:sp>
        <p:nvSpPr>
          <p:cNvPr id="3" name="Content Placeholder 2">
            <a:extLst>
              <a:ext uri="{FF2B5EF4-FFF2-40B4-BE49-F238E27FC236}">
                <a16:creationId xmlns:a16="http://schemas.microsoft.com/office/drawing/2014/main" id="{B6149010-E86E-498B-A5FB-C7D3F5BA6A1A}"/>
              </a:ext>
            </a:extLst>
          </p:cNvPr>
          <p:cNvSpPr>
            <a:spLocks noGrp="1"/>
          </p:cNvSpPr>
          <p:nvPr>
            <p:ph idx="1"/>
          </p:nvPr>
        </p:nvSpPr>
        <p:spPr/>
        <p:txBody>
          <a:bodyPr/>
          <a:lstStyle/>
          <a:p>
            <a:r>
              <a:rPr lang="en-US" b="0" i="0" dirty="0">
                <a:solidFill>
                  <a:srgbClr val="202122"/>
                </a:solidFill>
                <a:effectLst/>
                <a:latin typeface="Arial" panose="020B0604020202020204" pitchFamily="34" charset="0"/>
              </a:rPr>
              <a:t>The </a:t>
            </a:r>
            <a:r>
              <a:rPr lang="en-US" b="0" i="0" u="none" strike="noStrike" dirty="0">
                <a:solidFill>
                  <a:srgbClr val="0B0080"/>
                </a:solidFill>
                <a:effectLst/>
                <a:latin typeface="Arial" panose="020B0604020202020204" pitchFamily="34" charset="0"/>
                <a:hlinkClick r:id="rId2" tooltip="Sheffer stroke"/>
              </a:rPr>
              <a:t>NAND Boolean function</a:t>
            </a:r>
            <a:r>
              <a:rPr lang="en-US" b="0" i="0" dirty="0">
                <a:solidFill>
                  <a:srgbClr val="202122"/>
                </a:solidFill>
                <a:effectLst/>
                <a:latin typeface="Arial" panose="020B0604020202020204" pitchFamily="34" charset="0"/>
              </a:rPr>
              <a:t> (and also NOR) has the property of </a:t>
            </a:r>
            <a:r>
              <a:rPr lang="en-US" b="0" i="0" u="none" strike="noStrike" dirty="0">
                <a:solidFill>
                  <a:srgbClr val="0B0080"/>
                </a:solidFill>
                <a:effectLst/>
                <a:latin typeface="Arial" panose="020B0604020202020204" pitchFamily="34" charset="0"/>
                <a:hlinkClick r:id="rId3" tooltip="Functional completeness"/>
              </a:rPr>
              <a:t>functional completeness</a:t>
            </a:r>
            <a:r>
              <a:rPr lang="en-US" b="0" i="0" dirty="0">
                <a:solidFill>
                  <a:srgbClr val="202122"/>
                </a:solidFill>
                <a:effectLst/>
                <a:latin typeface="Arial" panose="020B0604020202020204" pitchFamily="34" charset="0"/>
              </a:rPr>
              <a:t>. This means, any Boolean expression can be </a:t>
            </a:r>
            <a:r>
              <a:rPr lang="en-US" dirty="0">
                <a:solidFill>
                  <a:srgbClr val="202122"/>
                </a:solidFill>
                <a:latin typeface="Arial" panose="020B0604020202020204" pitchFamily="34" charset="0"/>
              </a:rPr>
              <a:t>re-expressed</a:t>
            </a:r>
            <a:r>
              <a:rPr lang="en-US" b="0" i="0" dirty="0">
                <a:solidFill>
                  <a:srgbClr val="202122"/>
                </a:solidFill>
                <a:effectLst/>
                <a:latin typeface="Arial" panose="020B0604020202020204" pitchFamily="34" charset="0"/>
              </a:rPr>
              <a:t> by an </a:t>
            </a:r>
            <a:r>
              <a:rPr lang="en-US" b="0" i="0" u="none" strike="noStrike" dirty="0">
                <a:solidFill>
                  <a:srgbClr val="0B0080"/>
                </a:solidFill>
                <a:effectLst/>
                <a:latin typeface="Arial" panose="020B0604020202020204" pitchFamily="34" charset="0"/>
                <a:hlinkClick r:id="rId4" tooltip="Equivalence relation"/>
              </a:rPr>
              <a:t>equivalent</a:t>
            </a:r>
            <a:r>
              <a:rPr lang="en-US" b="0" i="0" dirty="0">
                <a:solidFill>
                  <a:srgbClr val="202122"/>
                </a:solidFill>
                <a:effectLst/>
                <a:latin typeface="Arial" panose="020B0604020202020204" pitchFamily="34" charset="0"/>
              </a:rPr>
              <a:t> expression utilizing </a:t>
            </a:r>
            <a:r>
              <a:rPr lang="en-US" b="0" i="1" dirty="0">
                <a:solidFill>
                  <a:srgbClr val="202122"/>
                </a:solidFill>
                <a:effectLst/>
                <a:latin typeface="Arial" panose="020B0604020202020204" pitchFamily="34" charset="0"/>
              </a:rPr>
              <a:t>only</a:t>
            </a:r>
            <a:r>
              <a:rPr lang="en-US" b="0" i="0" dirty="0">
                <a:solidFill>
                  <a:srgbClr val="202122"/>
                </a:solidFill>
                <a:effectLst/>
                <a:latin typeface="Arial" panose="020B0604020202020204" pitchFamily="34" charset="0"/>
              </a:rPr>
              <a:t> </a:t>
            </a:r>
            <a:r>
              <a:rPr lang="en-US" b="0" i="0" u="none" strike="noStrike" dirty="0">
                <a:solidFill>
                  <a:srgbClr val="0B0080"/>
                </a:solidFill>
                <a:effectLst/>
                <a:latin typeface="Arial" panose="020B0604020202020204" pitchFamily="34" charset="0"/>
                <a:hlinkClick r:id="rId2" tooltip="Sheffer stroke"/>
              </a:rPr>
              <a:t>NAND</a:t>
            </a:r>
            <a:r>
              <a:rPr lang="en-US" b="0" i="0" dirty="0">
                <a:solidFill>
                  <a:srgbClr val="202122"/>
                </a:solidFill>
                <a:effectLst/>
                <a:latin typeface="Arial" panose="020B0604020202020204" pitchFamily="34" charset="0"/>
              </a:rPr>
              <a:t> operations</a:t>
            </a:r>
          </a:p>
          <a:p>
            <a:r>
              <a:rPr lang="en-US" b="0" i="0" dirty="0">
                <a:solidFill>
                  <a:srgbClr val="202122"/>
                </a:solidFill>
                <a:effectLst/>
                <a:latin typeface="Arial" panose="020B0604020202020204" pitchFamily="34" charset="0"/>
              </a:rPr>
              <a:t>In</a:t>
            </a:r>
            <a:r>
              <a:rPr lang="en-US" dirty="0">
                <a:solidFill>
                  <a:srgbClr val="202122"/>
                </a:solidFill>
                <a:latin typeface="Arial" panose="020B0604020202020204" pitchFamily="34" charset="0"/>
              </a:rPr>
              <a:t> logic</a:t>
            </a:r>
            <a:r>
              <a:rPr lang="en-US" b="0" i="0" dirty="0">
                <a:solidFill>
                  <a:srgbClr val="202122"/>
                </a:solidFill>
                <a:effectLst/>
                <a:latin typeface="Arial" panose="020B0604020202020204" pitchFamily="34" charset="0"/>
              </a:rPr>
              <a:t>, a </a:t>
            </a:r>
            <a:r>
              <a:rPr lang="en-US" b="1" dirty="0">
                <a:solidFill>
                  <a:srgbClr val="202122"/>
                </a:solidFill>
                <a:latin typeface="Arial" panose="020B0604020202020204" pitchFamily="34" charset="0"/>
              </a:rPr>
              <a:t>functionally</a:t>
            </a:r>
            <a:r>
              <a:rPr lang="en-US" b="1" i="0" dirty="0">
                <a:solidFill>
                  <a:srgbClr val="202122"/>
                </a:solidFill>
                <a:effectLst/>
                <a:latin typeface="Arial" panose="020B0604020202020204" pitchFamily="34" charset="0"/>
              </a:rPr>
              <a:t> complete</a:t>
            </a:r>
            <a:r>
              <a:rPr lang="en-US" b="0" i="0" dirty="0">
                <a:solidFill>
                  <a:srgbClr val="202122"/>
                </a:solidFill>
                <a:effectLst/>
                <a:latin typeface="Arial" panose="020B0604020202020204" pitchFamily="34" charset="0"/>
              </a:rPr>
              <a:t> set of </a:t>
            </a:r>
            <a:r>
              <a:rPr lang="en-US" dirty="0">
                <a:solidFill>
                  <a:srgbClr val="202122"/>
                </a:solidFill>
                <a:latin typeface="Arial" panose="020B0604020202020204" pitchFamily="34" charset="0"/>
              </a:rPr>
              <a:t>logical connectives or Boolean operators </a:t>
            </a:r>
            <a:r>
              <a:rPr lang="en-US" b="0" i="0" dirty="0">
                <a:solidFill>
                  <a:srgbClr val="202122"/>
                </a:solidFill>
                <a:effectLst/>
                <a:latin typeface="Arial" panose="020B0604020202020204" pitchFamily="34" charset="0"/>
              </a:rPr>
              <a:t>is one which can be used to express all </a:t>
            </a:r>
            <a:r>
              <a:rPr lang="en-US" dirty="0">
                <a:solidFill>
                  <a:srgbClr val="202122"/>
                </a:solidFill>
                <a:latin typeface="Arial" panose="020B0604020202020204" pitchFamily="34" charset="0"/>
              </a:rPr>
              <a:t>possible</a:t>
            </a:r>
            <a:r>
              <a:rPr lang="en-US" b="0" i="0" dirty="0">
                <a:solidFill>
                  <a:srgbClr val="202122"/>
                </a:solidFill>
                <a:effectLst/>
                <a:latin typeface="Arial" panose="020B0604020202020204" pitchFamily="34" charset="0"/>
              </a:rPr>
              <a:t> </a:t>
            </a:r>
            <a:r>
              <a:rPr lang="en-US" dirty="0">
                <a:solidFill>
                  <a:srgbClr val="202122"/>
                </a:solidFill>
                <a:latin typeface="Arial" panose="020B0604020202020204" pitchFamily="34" charset="0"/>
                <a:hlinkClick r:id="rId5" tooltip="Truth table">
                  <a:extLst>
                    <a:ext uri="{A12FA001-AC4F-418D-AE19-62706E023703}">
                      <ahyp:hlinkClr xmlns:ahyp="http://schemas.microsoft.com/office/drawing/2018/hyperlinkcolor" val="tx"/>
                    </a:ext>
                  </a:extLst>
                </a:hlinkClick>
              </a:rPr>
              <a:t>truth tables</a:t>
            </a:r>
            <a:r>
              <a:rPr lang="en-US" dirty="0">
                <a:solidFill>
                  <a:srgbClr val="202122"/>
                </a:solidFill>
                <a:latin typeface="Arial" panose="020B0604020202020204" pitchFamily="34" charset="0"/>
              </a:rPr>
              <a:t> </a:t>
            </a:r>
            <a:r>
              <a:rPr lang="en-US" b="0" i="0" dirty="0">
                <a:solidFill>
                  <a:srgbClr val="202122"/>
                </a:solidFill>
                <a:effectLst/>
                <a:latin typeface="Arial" panose="020B0604020202020204" pitchFamily="34" charset="0"/>
              </a:rPr>
              <a:t>by </a:t>
            </a:r>
            <a:r>
              <a:rPr lang="en-US" dirty="0">
                <a:solidFill>
                  <a:srgbClr val="202122"/>
                </a:solidFill>
                <a:latin typeface="Arial" panose="020B0604020202020204" pitchFamily="34" charset="0"/>
              </a:rPr>
              <a:t>combining</a:t>
            </a:r>
            <a:r>
              <a:rPr lang="en-US" b="0" i="0" dirty="0">
                <a:solidFill>
                  <a:srgbClr val="202122"/>
                </a:solidFill>
                <a:effectLst/>
                <a:latin typeface="Arial" panose="020B0604020202020204" pitchFamily="34" charset="0"/>
              </a:rPr>
              <a:t> members of the </a:t>
            </a:r>
            <a:r>
              <a:rPr lang="en-US" dirty="0">
                <a:solidFill>
                  <a:srgbClr val="202122"/>
                </a:solidFill>
                <a:latin typeface="Arial" panose="020B0604020202020204" pitchFamily="34" charset="0"/>
              </a:rPr>
              <a:t>set into a Boolean expression</a:t>
            </a:r>
          </a:p>
          <a:p>
            <a:r>
              <a:rPr lang="en-US" dirty="0">
                <a:solidFill>
                  <a:srgbClr val="0B0080"/>
                </a:solidFill>
                <a:latin typeface="Arial" panose="020B0604020202020204" pitchFamily="34" charset="0"/>
              </a:rPr>
              <a:t>Visual proof by Nielsen : http://neuralnetworksanddeeplearning.com/chap4.html</a:t>
            </a:r>
            <a:endParaRPr lang="en-US" dirty="0"/>
          </a:p>
        </p:txBody>
      </p:sp>
      <p:pic>
        <p:nvPicPr>
          <p:cNvPr id="25602" name="Picture 2">
            <a:extLst>
              <a:ext uri="{FF2B5EF4-FFF2-40B4-BE49-F238E27FC236}">
                <a16:creationId xmlns:a16="http://schemas.microsoft.com/office/drawing/2014/main" id="{E62BFE9C-813E-4EC0-B77A-F4A7E1BD26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2124" y="4826408"/>
            <a:ext cx="1817964" cy="1666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72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31B71-1E41-49D9-BEE9-172CEE609CAE}"/>
              </a:ext>
            </a:extLst>
          </p:cNvPr>
          <p:cNvSpPr>
            <a:spLocks noGrp="1"/>
          </p:cNvSpPr>
          <p:nvPr>
            <p:ph type="title"/>
          </p:nvPr>
        </p:nvSpPr>
        <p:spPr/>
        <p:txBody>
          <a:bodyPr/>
          <a:lstStyle/>
          <a:p>
            <a:r>
              <a:rPr lang="en-US" b="1" i="0" dirty="0">
                <a:solidFill>
                  <a:srgbClr val="202122"/>
                </a:solidFill>
                <a:effectLst/>
                <a:latin typeface="Arial" panose="020B0604020202020204" pitchFamily="34" charset="0"/>
              </a:rPr>
              <a:t>Perceptron functionally complete</a:t>
            </a:r>
            <a:r>
              <a:rPr lang="en-US" b="0" i="0" dirty="0">
                <a:solidFill>
                  <a:srgbClr val="202122"/>
                </a:solidFill>
                <a:effectLst/>
                <a:latin typeface="Arial" panose="020B0604020202020204" pitchFamily="34" charset="0"/>
              </a:rPr>
              <a:t> - </a:t>
            </a:r>
            <a:r>
              <a:rPr lang="en-US" b="1" dirty="0"/>
              <a:t>Visual Proof Intuition</a:t>
            </a:r>
          </a:p>
        </p:txBody>
      </p:sp>
      <p:cxnSp>
        <p:nvCxnSpPr>
          <p:cNvPr id="17" name="Straight Connector 16">
            <a:extLst>
              <a:ext uri="{FF2B5EF4-FFF2-40B4-BE49-F238E27FC236}">
                <a16:creationId xmlns:a16="http://schemas.microsoft.com/office/drawing/2014/main" id="{9CCF92F8-35D8-4418-8473-293A6CD77A28}"/>
              </a:ext>
            </a:extLst>
          </p:cNvPr>
          <p:cNvCxnSpPr/>
          <p:nvPr/>
        </p:nvCxnSpPr>
        <p:spPr>
          <a:xfrm>
            <a:off x="1333850" y="3540154"/>
            <a:ext cx="366598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CF195CA-F580-4972-92F1-80765617D3B4}"/>
              </a:ext>
            </a:extLst>
          </p:cNvPr>
          <p:cNvSpPr txBox="1"/>
          <p:nvPr/>
        </p:nvSpPr>
        <p:spPr>
          <a:xfrm>
            <a:off x="729841" y="3355488"/>
            <a:ext cx="411061" cy="369332"/>
          </a:xfrm>
          <a:prstGeom prst="rect">
            <a:avLst/>
          </a:prstGeom>
          <a:noFill/>
        </p:spPr>
        <p:txBody>
          <a:bodyPr wrap="square" rtlCol="0">
            <a:spAutoFit/>
          </a:bodyPr>
          <a:lstStyle/>
          <a:p>
            <a:r>
              <a:rPr lang="en-US" dirty="0"/>
              <a:t>0</a:t>
            </a:r>
          </a:p>
        </p:txBody>
      </p:sp>
      <p:grpSp>
        <p:nvGrpSpPr>
          <p:cNvPr id="3" name="Group 2">
            <a:extLst>
              <a:ext uri="{FF2B5EF4-FFF2-40B4-BE49-F238E27FC236}">
                <a16:creationId xmlns:a16="http://schemas.microsoft.com/office/drawing/2014/main" id="{89B2A5D2-AAE7-424A-884E-151733AB3688}"/>
              </a:ext>
            </a:extLst>
          </p:cNvPr>
          <p:cNvGrpSpPr/>
          <p:nvPr/>
        </p:nvGrpSpPr>
        <p:grpSpPr>
          <a:xfrm>
            <a:off x="1535185" y="2428703"/>
            <a:ext cx="1459685" cy="1111451"/>
            <a:chOff x="1535185" y="2428703"/>
            <a:chExt cx="1459685" cy="1111451"/>
          </a:xfrm>
        </p:grpSpPr>
        <p:sp>
          <p:nvSpPr>
            <p:cNvPr id="13" name="TextBox 12">
              <a:extLst>
                <a:ext uri="{FF2B5EF4-FFF2-40B4-BE49-F238E27FC236}">
                  <a16:creationId xmlns:a16="http://schemas.microsoft.com/office/drawing/2014/main" id="{6F71DD86-BE29-46AF-B66D-77C8D8EC7974}"/>
                </a:ext>
              </a:extLst>
            </p:cNvPr>
            <p:cNvSpPr txBox="1"/>
            <p:nvPr/>
          </p:nvSpPr>
          <p:spPr>
            <a:xfrm>
              <a:off x="1887522" y="2428703"/>
              <a:ext cx="377505" cy="369332"/>
            </a:xfrm>
            <a:prstGeom prst="rect">
              <a:avLst/>
            </a:prstGeom>
            <a:noFill/>
          </p:spPr>
          <p:txBody>
            <a:bodyPr wrap="square" rtlCol="0">
              <a:spAutoFit/>
            </a:bodyPr>
            <a:lstStyle/>
            <a:p>
              <a:r>
                <a:rPr lang="en-US" dirty="0"/>
                <a:t>f1</a:t>
              </a:r>
            </a:p>
          </p:txBody>
        </p:sp>
        <p:cxnSp>
          <p:nvCxnSpPr>
            <p:cNvPr id="5" name="Connector: Elbow 4">
              <a:extLst>
                <a:ext uri="{FF2B5EF4-FFF2-40B4-BE49-F238E27FC236}">
                  <a16:creationId xmlns:a16="http://schemas.microsoft.com/office/drawing/2014/main" id="{9CDEABC9-C4A9-4B80-B621-4D02CE566F73}"/>
                </a:ext>
              </a:extLst>
            </p:cNvPr>
            <p:cNvCxnSpPr>
              <a:cxnSpLocks/>
            </p:cNvCxnSpPr>
            <p:nvPr/>
          </p:nvCxnSpPr>
          <p:spPr>
            <a:xfrm flipV="1">
              <a:off x="1535185" y="2541864"/>
              <a:ext cx="1459685" cy="998290"/>
            </a:xfrm>
            <a:prstGeom prst="bentConnector3">
              <a:avLst/>
            </a:prstGeom>
            <a:ln w="38100"/>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4FC9D591-EC10-490D-9D22-33783F4D36EC}"/>
              </a:ext>
            </a:extLst>
          </p:cNvPr>
          <p:cNvGrpSpPr/>
          <p:nvPr/>
        </p:nvGrpSpPr>
        <p:grpSpPr>
          <a:xfrm>
            <a:off x="1753296" y="3540154"/>
            <a:ext cx="1342240" cy="1107347"/>
            <a:chOff x="1753296" y="3540154"/>
            <a:chExt cx="1342240" cy="1107347"/>
          </a:xfrm>
        </p:grpSpPr>
        <p:sp>
          <p:nvSpPr>
            <p:cNvPr id="15" name="TextBox 14">
              <a:extLst>
                <a:ext uri="{FF2B5EF4-FFF2-40B4-BE49-F238E27FC236}">
                  <a16:creationId xmlns:a16="http://schemas.microsoft.com/office/drawing/2014/main" id="{0F3226A4-5AAC-431B-AC71-D87BB9530FFC}"/>
                </a:ext>
              </a:extLst>
            </p:cNvPr>
            <p:cNvSpPr txBox="1"/>
            <p:nvPr/>
          </p:nvSpPr>
          <p:spPr>
            <a:xfrm>
              <a:off x="1937855" y="4278169"/>
              <a:ext cx="377505" cy="369332"/>
            </a:xfrm>
            <a:prstGeom prst="rect">
              <a:avLst/>
            </a:prstGeom>
            <a:noFill/>
          </p:spPr>
          <p:txBody>
            <a:bodyPr wrap="square" rtlCol="0">
              <a:spAutoFit/>
            </a:bodyPr>
            <a:lstStyle/>
            <a:p>
              <a:r>
                <a:rPr lang="en-US" dirty="0"/>
                <a:t>f2</a:t>
              </a:r>
            </a:p>
          </p:txBody>
        </p:sp>
        <p:cxnSp>
          <p:nvCxnSpPr>
            <p:cNvPr id="7" name="Connector: Elbow 6">
              <a:extLst>
                <a:ext uri="{FF2B5EF4-FFF2-40B4-BE49-F238E27FC236}">
                  <a16:creationId xmlns:a16="http://schemas.microsoft.com/office/drawing/2014/main" id="{71E09DC4-79E2-4F5F-9529-F2DE8E7D00A2}"/>
                </a:ext>
              </a:extLst>
            </p:cNvPr>
            <p:cNvCxnSpPr>
              <a:cxnSpLocks/>
            </p:cNvCxnSpPr>
            <p:nvPr/>
          </p:nvCxnSpPr>
          <p:spPr>
            <a:xfrm>
              <a:off x="1753296" y="3540154"/>
              <a:ext cx="1342240" cy="998290"/>
            </a:xfrm>
            <a:prstGeom prst="bentConnector3">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 name="Arrow: Right 20">
            <a:extLst>
              <a:ext uri="{FF2B5EF4-FFF2-40B4-BE49-F238E27FC236}">
                <a16:creationId xmlns:a16="http://schemas.microsoft.com/office/drawing/2014/main" id="{937BAF68-33F8-41AB-88FD-BA8203FC5315}"/>
              </a:ext>
            </a:extLst>
          </p:cNvPr>
          <p:cNvSpPr/>
          <p:nvPr/>
        </p:nvSpPr>
        <p:spPr>
          <a:xfrm>
            <a:off x="5578679" y="3254875"/>
            <a:ext cx="679508" cy="57055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26B7F21-301A-4F92-AC34-18B48EF42B4E}"/>
              </a:ext>
            </a:extLst>
          </p:cNvPr>
          <p:cNvSpPr txBox="1"/>
          <p:nvPr/>
        </p:nvSpPr>
        <p:spPr>
          <a:xfrm>
            <a:off x="5718495" y="2432807"/>
            <a:ext cx="766195" cy="369332"/>
          </a:xfrm>
          <a:prstGeom prst="rect">
            <a:avLst/>
          </a:prstGeom>
          <a:noFill/>
        </p:spPr>
        <p:txBody>
          <a:bodyPr wrap="square" rtlCol="0">
            <a:spAutoFit/>
          </a:bodyPr>
          <a:lstStyle/>
          <a:p>
            <a:r>
              <a:rPr lang="en-US" dirty="0"/>
              <a:t>F1+f2</a:t>
            </a:r>
          </a:p>
        </p:txBody>
      </p:sp>
      <p:cxnSp>
        <p:nvCxnSpPr>
          <p:cNvPr id="24" name="Straight Connector 23">
            <a:extLst>
              <a:ext uri="{FF2B5EF4-FFF2-40B4-BE49-F238E27FC236}">
                <a16:creationId xmlns:a16="http://schemas.microsoft.com/office/drawing/2014/main" id="{9DA63899-331E-4F43-BD7D-0B5D236AAC62}"/>
              </a:ext>
            </a:extLst>
          </p:cNvPr>
          <p:cNvCxnSpPr>
            <a:cxnSpLocks/>
          </p:cNvCxnSpPr>
          <p:nvPr/>
        </p:nvCxnSpPr>
        <p:spPr>
          <a:xfrm flipV="1">
            <a:off x="6502872" y="3531765"/>
            <a:ext cx="5250104" cy="978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D6421E39-3227-483B-8C1D-4423F53B7B0F}"/>
              </a:ext>
            </a:extLst>
          </p:cNvPr>
          <p:cNvCxnSpPr>
            <a:cxnSpLocks/>
          </p:cNvCxnSpPr>
          <p:nvPr/>
        </p:nvCxnSpPr>
        <p:spPr>
          <a:xfrm flipV="1">
            <a:off x="6704207" y="2543262"/>
            <a:ext cx="1459685" cy="998290"/>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53BF4B6-86AD-4E58-B418-00660AB4D431}"/>
              </a:ext>
            </a:extLst>
          </p:cNvPr>
          <p:cNvCxnSpPr>
            <a:cxnSpLocks/>
          </p:cNvCxnSpPr>
          <p:nvPr/>
        </p:nvCxnSpPr>
        <p:spPr>
          <a:xfrm>
            <a:off x="6922318" y="2543261"/>
            <a:ext cx="1342240" cy="998290"/>
          </a:xfrm>
          <a:prstGeom prst="bentConnector3">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C6E9D21-C463-4948-A1BE-F46306F213CF}"/>
              </a:ext>
            </a:extLst>
          </p:cNvPr>
          <p:cNvSpPr/>
          <p:nvPr/>
        </p:nvSpPr>
        <p:spPr>
          <a:xfrm>
            <a:off x="6712596" y="2298583"/>
            <a:ext cx="703272" cy="620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0568F3A-C0EF-4F12-BC98-2AC671EF2E50}"/>
              </a:ext>
            </a:extLst>
          </p:cNvPr>
          <p:cNvSpPr/>
          <p:nvPr/>
        </p:nvSpPr>
        <p:spPr>
          <a:xfrm>
            <a:off x="7620006" y="2274814"/>
            <a:ext cx="703272" cy="620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ACE15863-47BD-459E-8032-0E1FC3120CD7}"/>
              </a:ext>
            </a:extLst>
          </p:cNvPr>
          <p:cNvSpPr/>
          <p:nvPr/>
        </p:nvSpPr>
        <p:spPr>
          <a:xfrm>
            <a:off x="6451134" y="1837189"/>
            <a:ext cx="5192785" cy="1686187"/>
          </a:xfrm>
          <a:custGeom>
            <a:avLst/>
            <a:gdLst>
              <a:gd name="connsiteX0" fmla="*/ 0 w 5192785"/>
              <a:gd name="connsiteY0" fmla="*/ 1686187 h 1686187"/>
              <a:gd name="connsiteX1" fmla="*/ 41945 w 5192785"/>
              <a:gd name="connsiteY1" fmla="*/ 1661020 h 1686187"/>
              <a:gd name="connsiteX2" fmla="*/ 67112 w 5192785"/>
              <a:gd name="connsiteY2" fmla="*/ 1644242 h 1686187"/>
              <a:gd name="connsiteX3" fmla="*/ 92279 w 5192785"/>
              <a:gd name="connsiteY3" fmla="*/ 1635853 h 1686187"/>
              <a:gd name="connsiteX4" fmla="*/ 151002 w 5192785"/>
              <a:gd name="connsiteY4" fmla="*/ 1610686 h 1686187"/>
              <a:gd name="connsiteX5" fmla="*/ 209725 w 5192785"/>
              <a:gd name="connsiteY5" fmla="*/ 1577130 h 1686187"/>
              <a:gd name="connsiteX6" fmla="*/ 276837 w 5192785"/>
              <a:gd name="connsiteY6" fmla="*/ 1560352 h 1686187"/>
              <a:gd name="connsiteX7" fmla="*/ 310393 w 5192785"/>
              <a:gd name="connsiteY7" fmla="*/ 1551963 h 1686187"/>
              <a:gd name="connsiteX8" fmla="*/ 327171 w 5192785"/>
              <a:gd name="connsiteY8" fmla="*/ 1526796 h 1686187"/>
              <a:gd name="connsiteX9" fmla="*/ 377504 w 5192785"/>
              <a:gd name="connsiteY9" fmla="*/ 1501629 h 1686187"/>
              <a:gd name="connsiteX10" fmla="*/ 453005 w 5192785"/>
              <a:gd name="connsiteY10" fmla="*/ 1442906 h 1686187"/>
              <a:gd name="connsiteX11" fmla="*/ 478172 w 5192785"/>
              <a:gd name="connsiteY11" fmla="*/ 1426128 h 1686187"/>
              <a:gd name="connsiteX12" fmla="*/ 494950 w 5192785"/>
              <a:gd name="connsiteY12" fmla="*/ 1400961 h 1686187"/>
              <a:gd name="connsiteX13" fmla="*/ 520117 w 5192785"/>
              <a:gd name="connsiteY13" fmla="*/ 1392572 h 1686187"/>
              <a:gd name="connsiteX14" fmla="*/ 570451 w 5192785"/>
              <a:gd name="connsiteY14" fmla="*/ 1317072 h 1686187"/>
              <a:gd name="connsiteX15" fmla="*/ 587229 w 5192785"/>
              <a:gd name="connsiteY15" fmla="*/ 1291905 h 1686187"/>
              <a:gd name="connsiteX16" fmla="*/ 612396 w 5192785"/>
              <a:gd name="connsiteY16" fmla="*/ 1275127 h 1686187"/>
              <a:gd name="connsiteX17" fmla="*/ 620785 w 5192785"/>
              <a:gd name="connsiteY17" fmla="*/ 1249960 h 1686187"/>
              <a:gd name="connsiteX18" fmla="*/ 654341 w 5192785"/>
              <a:gd name="connsiteY18" fmla="*/ 1191237 h 1686187"/>
              <a:gd name="connsiteX19" fmla="*/ 662730 w 5192785"/>
              <a:gd name="connsiteY19" fmla="*/ 1166070 h 1686187"/>
              <a:gd name="connsiteX20" fmla="*/ 679508 w 5192785"/>
              <a:gd name="connsiteY20" fmla="*/ 1140903 h 1686187"/>
              <a:gd name="connsiteX21" fmla="*/ 687897 w 5192785"/>
              <a:gd name="connsiteY21" fmla="*/ 1115736 h 1686187"/>
              <a:gd name="connsiteX22" fmla="*/ 738231 w 5192785"/>
              <a:gd name="connsiteY22" fmla="*/ 1048624 h 1686187"/>
              <a:gd name="connsiteX23" fmla="*/ 746620 w 5192785"/>
              <a:gd name="connsiteY23" fmla="*/ 1023457 h 1686187"/>
              <a:gd name="connsiteX24" fmla="*/ 780176 w 5192785"/>
              <a:gd name="connsiteY24" fmla="*/ 973123 h 1686187"/>
              <a:gd name="connsiteX25" fmla="*/ 813732 w 5192785"/>
              <a:gd name="connsiteY25" fmla="*/ 922789 h 1686187"/>
              <a:gd name="connsiteX26" fmla="*/ 830510 w 5192785"/>
              <a:gd name="connsiteY26" fmla="*/ 872455 h 1686187"/>
              <a:gd name="connsiteX27" fmla="*/ 855677 w 5192785"/>
              <a:gd name="connsiteY27" fmla="*/ 847288 h 1686187"/>
              <a:gd name="connsiteX28" fmla="*/ 872455 w 5192785"/>
              <a:gd name="connsiteY28" fmla="*/ 822121 h 1686187"/>
              <a:gd name="connsiteX29" fmla="*/ 897622 w 5192785"/>
              <a:gd name="connsiteY29" fmla="*/ 805343 h 1686187"/>
              <a:gd name="connsiteX30" fmla="*/ 947956 w 5192785"/>
              <a:gd name="connsiteY30" fmla="*/ 755009 h 1686187"/>
              <a:gd name="connsiteX31" fmla="*/ 973123 w 5192785"/>
              <a:gd name="connsiteY31" fmla="*/ 729842 h 1686187"/>
              <a:gd name="connsiteX32" fmla="*/ 1023457 w 5192785"/>
              <a:gd name="connsiteY32" fmla="*/ 687897 h 1686187"/>
              <a:gd name="connsiteX33" fmla="*/ 1073791 w 5192785"/>
              <a:gd name="connsiteY33" fmla="*/ 671119 h 1686187"/>
              <a:gd name="connsiteX34" fmla="*/ 1098958 w 5192785"/>
              <a:gd name="connsiteY34" fmla="*/ 662730 h 1686187"/>
              <a:gd name="connsiteX35" fmla="*/ 1157681 w 5192785"/>
              <a:gd name="connsiteY35" fmla="*/ 637563 h 1686187"/>
              <a:gd name="connsiteX36" fmla="*/ 1291904 w 5192785"/>
              <a:gd name="connsiteY36" fmla="*/ 629174 h 1686187"/>
              <a:gd name="connsiteX37" fmla="*/ 1359016 w 5192785"/>
              <a:gd name="connsiteY37" fmla="*/ 620785 h 1686187"/>
              <a:gd name="connsiteX38" fmla="*/ 1593908 w 5192785"/>
              <a:gd name="connsiteY38" fmla="*/ 637563 h 1686187"/>
              <a:gd name="connsiteX39" fmla="*/ 1619075 w 5192785"/>
              <a:gd name="connsiteY39" fmla="*/ 645952 h 1686187"/>
              <a:gd name="connsiteX40" fmla="*/ 1677798 w 5192785"/>
              <a:gd name="connsiteY40" fmla="*/ 679508 h 1686187"/>
              <a:gd name="connsiteX41" fmla="*/ 1702965 w 5192785"/>
              <a:gd name="connsiteY41" fmla="*/ 687897 h 1686187"/>
              <a:gd name="connsiteX42" fmla="*/ 1728132 w 5192785"/>
              <a:gd name="connsiteY42" fmla="*/ 704675 h 1686187"/>
              <a:gd name="connsiteX43" fmla="*/ 1761688 w 5192785"/>
              <a:gd name="connsiteY43" fmla="*/ 721453 h 1686187"/>
              <a:gd name="connsiteX44" fmla="*/ 1812022 w 5192785"/>
              <a:gd name="connsiteY44" fmla="*/ 755009 h 1686187"/>
              <a:gd name="connsiteX45" fmla="*/ 1862356 w 5192785"/>
              <a:gd name="connsiteY45" fmla="*/ 788565 h 1686187"/>
              <a:gd name="connsiteX46" fmla="*/ 1887523 w 5192785"/>
              <a:gd name="connsiteY46" fmla="*/ 805343 h 1686187"/>
              <a:gd name="connsiteX47" fmla="*/ 1912690 w 5192785"/>
              <a:gd name="connsiteY47" fmla="*/ 830510 h 1686187"/>
              <a:gd name="connsiteX48" fmla="*/ 1963024 w 5192785"/>
              <a:gd name="connsiteY48" fmla="*/ 847288 h 1686187"/>
              <a:gd name="connsiteX49" fmla="*/ 2055303 w 5192785"/>
              <a:gd name="connsiteY49" fmla="*/ 864066 h 1686187"/>
              <a:gd name="connsiteX50" fmla="*/ 2315361 w 5192785"/>
              <a:gd name="connsiteY50" fmla="*/ 855677 h 1686187"/>
              <a:gd name="connsiteX51" fmla="*/ 2365695 w 5192785"/>
              <a:gd name="connsiteY51" fmla="*/ 822121 h 1686187"/>
              <a:gd name="connsiteX52" fmla="*/ 2390862 w 5192785"/>
              <a:gd name="connsiteY52" fmla="*/ 805343 h 1686187"/>
              <a:gd name="connsiteX53" fmla="*/ 2416029 w 5192785"/>
              <a:gd name="connsiteY53" fmla="*/ 796954 h 1686187"/>
              <a:gd name="connsiteX54" fmla="*/ 2441196 w 5192785"/>
              <a:gd name="connsiteY54" fmla="*/ 780176 h 1686187"/>
              <a:gd name="connsiteX55" fmla="*/ 2491530 w 5192785"/>
              <a:gd name="connsiteY55" fmla="*/ 771787 h 1686187"/>
              <a:gd name="connsiteX56" fmla="*/ 2592198 w 5192785"/>
              <a:gd name="connsiteY56" fmla="*/ 704675 h 1686187"/>
              <a:gd name="connsiteX57" fmla="*/ 2617365 w 5192785"/>
              <a:gd name="connsiteY57" fmla="*/ 687897 h 1686187"/>
              <a:gd name="connsiteX58" fmla="*/ 2642532 w 5192785"/>
              <a:gd name="connsiteY58" fmla="*/ 671119 h 1686187"/>
              <a:gd name="connsiteX59" fmla="*/ 2667699 w 5192785"/>
              <a:gd name="connsiteY59" fmla="*/ 662730 h 1686187"/>
              <a:gd name="connsiteX60" fmla="*/ 2726422 w 5192785"/>
              <a:gd name="connsiteY60" fmla="*/ 637563 h 1686187"/>
              <a:gd name="connsiteX61" fmla="*/ 2894202 w 5192785"/>
              <a:gd name="connsiteY61" fmla="*/ 645952 h 1686187"/>
              <a:gd name="connsiteX62" fmla="*/ 2910980 w 5192785"/>
              <a:gd name="connsiteY62" fmla="*/ 671119 h 1686187"/>
              <a:gd name="connsiteX63" fmla="*/ 2936147 w 5192785"/>
              <a:gd name="connsiteY63" fmla="*/ 687897 h 1686187"/>
              <a:gd name="connsiteX64" fmla="*/ 2944536 w 5192785"/>
              <a:gd name="connsiteY64" fmla="*/ 713064 h 1686187"/>
              <a:gd name="connsiteX65" fmla="*/ 2978092 w 5192785"/>
              <a:gd name="connsiteY65" fmla="*/ 763398 h 1686187"/>
              <a:gd name="connsiteX66" fmla="*/ 2994870 w 5192785"/>
              <a:gd name="connsiteY66" fmla="*/ 788565 h 1686187"/>
              <a:gd name="connsiteX67" fmla="*/ 3011648 w 5192785"/>
              <a:gd name="connsiteY67" fmla="*/ 822121 h 1686187"/>
              <a:gd name="connsiteX68" fmla="*/ 3028426 w 5192785"/>
              <a:gd name="connsiteY68" fmla="*/ 847288 h 1686187"/>
              <a:gd name="connsiteX69" fmla="*/ 3045204 w 5192785"/>
              <a:gd name="connsiteY69" fmla="*/ 897622 h 1686187"/>
              <a:gd name="connsiteX70" fmla="*/ 3053593 w 5192785"/>
              <a:gd name="connsiteY70" fmla="*/ 922789 h 1686187"/>
              <a:gd name="connsiteX71" fmla="*/ 3078760 w 5192785"/>
              <a:gd name="connsiteY71" fmla="*/ 964734 h 1686187"/>
              <a:gd name="connsiteX72" fmla="*/ 3112316 w 5192785"/>
              <a:gd name="connsiteY72" fmla="*/ 1023457 h 1686187"/>
              <a:gd name="connsiteX73" fmla="*/ 3145871 w 5192785"/>
              <a:gd name="connsiteY73" fmla="*/ 1090569 h 1686187"/>
              <a:gd name="connsiteX74" fmla="*/ 3162649 w 5192785"/>
              <a:gd name="connsiteY74" fmla="*/ 1124125 h 1686187"/>
              <a:gd name="connsiteX75" fmla="*/ 3196205 w 5192785"/>
              <a:gd name="connsiteY75" fmla="*/ 1157681 h 1686187"/>
              <a:gd name="connsiteX76" fmla="*/ 3263317 w 5192785"/>
              <a:gd name="connsiteY76" fmla="*/ 1241571 h 1686187"/>
              <a:gd name="connsiteX77" fmla="*/ 3313651 w 5192785"/>
              <a:gd name="connsiteY77" fmla="*/ 1275127 h 1686187"/>
              <a:gd name="connsiteX78" fmla="*/ 3330429 w 5192785"/>
              <a:gd name="connsiteY78" fmla="*/ 1300294 h 1686187"/>
              <a:gd name="connsiteX79" fmla="*/ 3615655 w 5192785"/>
              <a:gd name="connsiteY79" fmla="*/ 1258349 h 1686187"/>
              <a:gd name="connsiteX80" fmla="*/ 3632433 w 5192785"/>
              <a:gd name="connsiteY80" fmla="*/ 1233182 h 1686187"/>
              <a:gd name="connsiteX81" fmla="*/ 3682767 w 5192785"/>
              <a:gd name="connsiteY81" fmla="*/ 1174459 h 1686187"/>
              <a:gd name="connsiteX82" fmla="*/ 3716323 w 5192785"/>
              <a:gd name="connsiteY82" fmla="*/ 1107347 h 1686187"/>
              <a:gd name="connsiteX83" fmla="*/ 3749879 w 5192785"/>
              <a:gd name="connsiteY83" fmla="*/ 973123 h 1686187"/>
              <a:gd name="connsiteX84" fmla="*/ 3758268 w 5192785"/>
              <a:gd name="connsiteY84" fmla="*/ 947956 h 1686187"/>
              <a:gd name="connsiteX85" fmla="*/ 3766657 w 5192785"/>
              <a:gd name="connsiteY85" fmla="*/ 855677 h 1686187"/>
              <a:gd name="connsiteX86" fmla="*/ 3775046 w 5192785"/>
              <a:gd name="connsiteY86" fmla="*/ 813732 h 1686187"/>
              <a:gd name="connsiteX87" fmla="*/ 3783435 w 5192785"/>
              <a:gd name="connsiteY87" fmla="*/ 679508 h 1686187"/>
              <a:gd name="connsiteX88" fmla="*/ 3791824 w 5192785"/>
              <a:gd name="connsiteY88" fmla="*/ 604007 h 1686187"/>
              <a:gd name="connsiteX89" fmla="*/ 3808602 w 5192785"/>
              <a:gd name="connsiteY89" fmla="*/ 394283 h 1686187"/>
              <a:gd name="connsiteX90" fmla="*/ 3816991 w 5192785"/>
              <a:gd name="connsiteY90" fmla="*/ 352338 h 1686187"/>
              <a:gd name="connsiteX91" fmla="*/ 3850547 w 5192785"/>
              <a:gd name="connsiteY91" fmla="*/ 167780 h 1686187"/>
              <a:gd name="connsiteX92" fmla="*/ 3867325 w 5192785"/>
              <a:gd name="connsiteY92" fmla="*/ 134224 h 1686187"/>
              <a:gd name="connsiteX93" fmla="*/ 3884103 w 5192785"/>
              <a:gd name="connsiteY93" fmla="*/ 92279 h 1686187"/>
              <a:gd name="connsiteX94" fmla="*/ 3909270 w 5192785"/>
              <a:gd name="connsiteY94" fmla="*/ 58723 h 1686187"/>
              <a:gd name="connsiteX95" fmla="*/ 3951215 w 5192785"/>
              <a:gd name="connsiteY95" fmla="*/ 0 h 1686187"/>
              <a:gd name="connsiteX96" fmla="*/ 3976382 w 5192785"/>
              <a:gd name="connsiteY96" fmla="*/ 8389 h 1686187"/>
              <a:gd name="connsiteX97" fmla="*/ 4026716 w 5192785"/>
              <a:gd name="connsiteY97" fmla="*/ 92279 h 1686187"/>
              <a:gd name="connsiteX98" fmla="*/ 4043493 w 5192785"/>
              <a:gd name="connsiteY98" fmla="*/ 117446 h 1686187"/>
              <a:gd name="connsiteX99" fmla="*/ 4051882 w 5192785"/>
              <a:gd name="connsiteY99" fmla="*/ 142613 h 1686187"/>
              <a:gd name="connsiteX100" fmla="*/ 4077049 w 5192785"/>
              <a:gd name="connsiteY100" fmla="*/ 192947 h 1686187"/>
              <a:gd name="connsiteX101" fmla="*/ 4102216 w 5192785"/>
              <a:gd name="connsiteY101" fmla="*/ 310393 h 1686187"/>
              <a:gd name="connsiteX102" fmla="*/ 4110605 w 5192785"/>
              <a:gd name="connsiteY102" fmla="*/ 343949 h 1686187"/>
              <a:gd name="connsiteX103" fmla="*/ 4118994 w 5192785"/>
              <a:gd name="connsiteY103" fmla="*/ 394283 h 1686187"/>
              <a:gd name="connsiteX104" fmla="*/ 4144161 w 5192785"/>
              <a:gd name="connsiteY104" fmla="*/ 453005 h 1686187"/>
              <a:gd name="connsiteX105" fmla="*/ 4186106 w 5192785"/>
              <a:gd name="connsiteY105" fmla="*/ 528506 h 1686187"/>
              <a:gd name="connsiteX106" fmla="*/ 4211273 w 5192785"/>
              <a:gd name="connsiteY106" fmla="*/ 562062 h 1686187"/>
              <a:gd name="connsiteX107" fmla="*/ 4278385 w 5192785"/>
              <a:gd name="connsiteY107" fmla="*/ 595618 h 1686187"/>
              <a:gd name="connsiteX108" fmla="*/ 4328719 w 5192785"/>
              <a:gd name="connsiteY108" fmla="*/ 612396 h 1686187"/>
              <a:gd name="connsiteX109" fmla="*/ 4580389 w 5192785"/>
              <a:gd name="connsiteY109" fmla="*/ 562062 h 1686187"/>
              <a:gd name="connsiteX110" fmla="*/ 4597167 w 5192785"/>
              <a:gd name="connsiteY110" fmla="*/ 536895 h 1686187"/>
              <a:gd name="connsiteX111" fmla="*/ 4605556 w 5192785"/>
              <a:gd name="connsiteY111" fmla="*/ 494950 h 1686187"/>
              <a:gd name="connsiteX112" fmla="*/ 4622334 w 5192785"/>
              <a:gd name="connsiteY112" fmla="*/ 453005 h 1686187"/>
              <a:gd name="connsiteX113" fmla="*/ 4630723 w 5192785"/>
              <a:gd name="connsiteY113" fmla="*/ 427839 h 1686187"/>
              <a:gd name="connsiteX114" fmla="*/ 4672668 w 5192785"/>
              <a:gd name="connsiteY114" fmla="*/ 335560 h 1686187"/>
              <a:gd name="connsiteX115" fmla="*/ 4739780 w 5192785"/>
              <a:gd name="connsiteY115" fmla="*/ 302004 h 1686187"/>
              <a:gd name="connsiteX116" fmla="*/ 4874004 w 5192785"/>
              <a:gd name="connsiteY116" fmla="*/ 310393 h 1686187"/>
              <a:gd name="connsiteX117" fmla="*/ 4915949 w 5192785"/>
              <a:gd name="connsiteY117" fmla="*/ 394283 h 1686187"/>
              <a:gd name="connsiteX118" fmla="*/ 4941116 w 5192785"/>
              <a:gd name="connsiteY118" fmla="*/ 503339 h 1686187"/>
              <a:gd name="connsiteX119" fmla="*/ 4957893 w 5192785"/>
              <a:gd name="connsiteY119" fmla="*/ 604007 h 1686187"/>
              <a:gd name="connsiteX120" fmla="*/ 4966282 w 5192785"/>
              <a:gd name="connsiteY120" fmla="*/ 645952 h 1686187"/>
              <a:gd name="connsiteX121" fmla="*/ 4974671 w 5192785"/>
              <a:gd name="connsiteY121" fmla="*/ 830510 h 1686187"/>
              <a:gd name="connsiteX122" fmla="*/ 4999838 w 5192785"/>
              <a:gd name="connsiteY122" fmla="*/ 956345 h 1686187"/>
              <a:gd name="connsiteX123" fmla="*/ 5008227 w 5192785"/>
              <a:gd name="connsiteY123" fmla="*/ 1023457 h 1686187"/>
              <a:gd name="connsiteX124" fmla="*/ 5066950 w 5192785"/>
              <a:gd name="connsiteY124" fmla="*/ 1291905 h 1686187"/>
              <a:gd name="connsiteX125" fmla="*/ 5117284 w 5192785"/>
              <a:gd name="connsiteY125" fmla="*/ 1400961 h 1686187"/>
              <a:gd name="connsiteX126" fmla="*/ 5134062 w 5192785"/>
              <a:gd name="connsiteY126" fmla="*/ 1434517 h 1686187"/>
              <a:gd name="connsiteX127" fmla="*/ 5142451 w 5192785"/>
              <a:gd name="connsiteY127" fmla="*/ 1468073 h 1686187"/>
              <a:gd name="connsiteX128" fmla="*/ 5167618 w 5192785"/>
              <a:gd name="connsiteY128" fmla="*/ 1484851 h 1686187"/>
              <a:gd name="connsiteX129" fmla="*/ 5192785 w 5192785"/>
              <a:gd name="connsiteY129" fmla="*/ 1518407 h 168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Lst>
            <a:rect l="l" t="t" r="r" b="b"/>
            <a:pathLst>
              <a:path w="5192785" h="1686187">
                <a:moveTo>
                  <a:pt x="0" y="1686187"/>
                </a:moveTo>
                <a:cubicBezTo>
                  <a:pt x="13982" y="1677798"/>
                  <a:pt x="28118" y="1669662"/>
                  <a:pt x="41945" y="1661020"/>
                </a:cubicBezTo>
                <a:cubicBezTo>
                  <a:pt x="50495" y="1655676"/>
                  <a:pt x="58094" y="1648751"/>
                  <a:pt x="67112" y="1644242"/>
                </a:cubicBezTo>
                <a:cubicBezTo>
                  <a:pt x="75021" y="1640287"/>
                  <a:pt x="84370" y="1639808"/>
                  <a:pt x="92279" y="1635853"/>
                </a:cubicBezTo>
                <a:cubicBezTo>
                  <a:pt x="150213" y="1606886"/>
                  <a:pt x="81165" y="1628145"/>
                  <a:pt x="151002" y="1610686"/>
                </a:cubicBezTo>
                <a:cubicBezTo>
                  <a:pt x="176277" y="1593836"/>
                  <a:pt x="179923" y="1589902"/>
                  <a:pt x="209725" y="1577130"/>
                </a:cubicBezTo>
                <a:cubicBezTo>
                  <a:pt x="233941" y="1566752"/>
                  <a:pt x="249566" y="1566412"/>
                  <a:pt x="276837" y="1560352"/>
                </a:cubicBezTo>
                <a:cubicBezTo>
                  <a:pt x="288092" y="1557851"/>
                  <a:pt x="299208" y="1554759"/>
                  <a:pt x="310393" y="1551963"/>
                </a:cubicBezTo>
                <a:cubicBezTo>
                  <a:pt x="315986" y="1543574"/>
                  <a:pt x="320042" y="1533925"/>
                  <a:pt x="327171" y="1526796"/>
                </a:cubicBezTo>
                <a:cubicBezTo>
                  <a:pt x="343433" y="1510534"/>
                  <a:pt x="357036" y="1508452"/>
                  <a:pt x="377504" y="1501629"/>
                </a:cubicBezTo>
                <a:cubicBezTo>
                  <a:pt x="416930" y="1462203"/>
                  <a:pt x="392800" y="1483043"/>
                  <a:pt x="453005" y="1442906"/>
                </a:cubicBezTo>
                <a:lnTo>
                  <a:pt x="478172" y="1426128"/>
                </a:lnTo>
                <a:cubicBezTo>
                  <a:pt x="483765" y="1417739"/>
                  <a:pt x="487077" y="1407259"/>
                  <a:pt x="494950" y="1400961"/>
                </a:cubicBezTo>
                <a:cubicBezTo>
                  <a:pt x="501855" y="1395437"/>
                  <a:pt x="513864" y="1398825"/>
                  <a:pt x="520117" y="1392572"/>
                </a:cubicBezTo>
                <a:cubicBezTo>
                  <a:pt x="520119" y="1392570"/>
                  <a:pt x="562061" y="1329657"/>
                  <a:pt x="570451" y="1317072"/>
                </a:cubicBezTo>
                <a:cubicBezTo>
                  <a:pt x="576044" y="1308683"/>
                  <a:pt x="578840" y="1297498"/>
                  <a:pt x="587229" y="1291905"/>
                </a:cubicBezTo>
                <a:lnTo>
                  <a:pt x="612396" y="1275127"/>
                </a:lnTo>
                <a:cubicBezTo>
                  <a:pt x="615192" y="1266738"/>
                  <a:pt x="616830" y="1257869"/>
                  <a:pt x="620785" y="1249960"/>
                </a:cubicBezTo>
                <a:cubicBezTo>
                  <a:pt x="662910" y="1165710"/>
                  <a:pt x="610219" y="1294188"/>
                  <a:pt x="654341" y="1191237"/>
                </a:cubicBezTo>
                <a:cubicBezTo>
                  <a:pt x="657824" y="1183109"/>
                  <a:pt x="658775" y="1173979"/>
                  <a:pt x="662730" y="1166070"/>
                </a:cubicBezTo>
                <a:cubicBezTo>
                  <a:pt x="667239" y="1157052"/>
                  <a:pt x="674999" y="1149921"/>
                  <a:pt x="679508" y="1140903"/>
                </a:cubicBezTo>
                <a:cubicBezTo>
                  <a:pt x="683463" y="1132994"/>
                  <a:pt x="683150" y="1123196"/>
                  <a:pt x="687897" y="1115736"/>
                </a:cubicBezTo>
                <a:cubicBezTo>
                  <a:pt x="702910" y="1092144"/>
                  <a:pt x="738231" y="1048624"/>
                  <a:pt x="738231" y="1048624"/>
                </a:cubicBezTo>
                <a:cubicBezTo>
                  <a:pt x="741027" y="1040235"/>
                  <a:pt x="742326" y="1031187"/>
                  <a:pt x="746620" y="1023457"/>
                </a:cubicBezTo>
                <a:cubicBezTo>
                  <a:pt x="756413" y="1005830"/>
                  <a:pt x="780176" y="973123"/>
                  <a:pt x="780176" y="973123"/>
                </a:cubicBezTo>
                <a:cubicBezTo>
                  <a:pt x="806469" y="867953"/>
                  <a:pt x="765454" y="1000034"/>
                  <a:pt x="813732" y="922789"/>
                </a:cubicBezTo>
                <a:cubicBezTo>
                  <a:pt x="823105" y="907792"/>
                  <a:pt x="818004" y="884961"/>
                  <a:pt x="830510" y="872455"/>
                </a:cubicBezTo>
                <a:cubicBezTo>
                  <a:pt x="838899" y="864066"/>
                  <a:pt x="848082" y="856402"/>
                  <a:pt x="855677" y="847288"/>
                </a:cubicBezTo>
                <a:cubicBezTo>
                  <a:pt x="862132" y="839543"/>
                  <a:pt x="865326" y="829250"/>
                  <a:pt x="872455" y="822121"/>
                </a:cubicBezTo>
                <a:cubicBezTo>
                  <a:pt x="879584" y="814992"/>
                  <a:pt x="890086" y="812041"/>
                  <a:pt x="897622" y="805343"/>
                </a:cubicBezTo>
                <a:cubicBezTo>
                  <a:pt x="915356" y="789579"/>
                  <a:pt x="931178" y="771787"/>
                  <a:pt x="947956" y="755009"/>
                </a:cubicBezTo>
                <a:lnTo>
                  <a:pt x="973123" y="729842"/>
                </a:lnTo>
                <a:cubicBezTo>
                  <a:pt x="988927" y="714038"/>
                  <a:pt x="1002434" y="697241"/>
                  <a:pt x="1023457" y="687897"/>
                </a:cubicBezTo>
                <a:cubicBezTo>
                  <a:pt x="1039618" y="680714"/>
                  <a:pt x="1057013" y="676712"/>
                  <a:pt x="1073791" y="671119"/>
                </a:cubicBezTo>
                <a:cubicBezTo>
                  <a:pt x="1082180" y="668323"/>
                  <a:pt x="1091049" y="666685"/>
                  <a:pt x="1098958" y="662730"/>
                </a:cubicBezTo>
                <a:cubicBezTo>
                  <a:pt x="1110165" y="657126"/>
                  <a:pt x="1142046" y="639209"/>
                  <a:pt x="1157681" y="637563"/>
                </a:cubicBezTo>
                <a:cubicBezTo>
                  <a:pt x="1202263" y="632870"/>
                  <a:pt x="1247231" y="632897"/>
                  <a:pt x="1291904" y="629174"/>
                </a:cubicBezTo>
                <a:cubicBezTo>
                  <a:pt x="1314371" y="627302"/>
                  <a:pt x="1336645" y="623581"/>
                  <a:pt x="1359016" y="620785"/>
                </a:cubicBezTo>
                <a:cubicBezTo>
                  <a:pt x="1487705" y="626147"/>
                  <a:pt x="1509634" y="613485"/>
                  <a:pt x="1593908" y="637563"/>
                </a:cubicBezTo>
                <a:cubicBezTo>
                  <a:pt x="1602411" y="639992"/>
                  <a:pt x="1610947" y="642469"/>
                  <a:pt x="1619075" y="645952"/>
                </a:cubicBezTo>
                <a:cubicBezTo>
                  <a:pt x="1722026" y="690074"/>
                  <a:pt x="1593548" y="637383"/>
                  <a:pt x="1677798" y="679508"/>
                </a:cubicBezTo>
                <a:cubicBezTo>
                  <a:pt x="1685707" y="683463"/>
                  <a:pt x="1695056" y="683942"/>
                  <a:pt x="1702965" y="687897"/>
                </a:cubicBezTo>
                <a:cubicBezTo>
                  <a:pt x="1711983" y="692406"/>
                  <a:pt x="1719378" y="699673"/>
                  <a:pt x="1728132" y="704675"/>
                </a:cubicBezTo>
                <a:cubicBezTo>
                  <a:pt x="1738990" y="710880"/>
                  <a:pt x="1750965" y="715019"/>
                  <a:pt x="1761688" y="721453"/>
                </a:cubicBezTo>
                <a:cubicBezTo>
                  <a:pt x="1778979" y="731828"/>
                  <a:pt x="1795244" y="743824"/>
                  <a:pt x="1812022" y="755009"/>
                </a:cubicBezTo>
                <a:lnTo>
                  <a:pt x="1862356" y="788565"/>
                </a:lnTo>
                <a:cubicBezTo>
                  <a:pt x="1870745" y="794158"/>
                  <a:pt x="1880394" y="798214"/>
                  <a:pt x="1887523" y="805343"/>
                </a:cubicBezTo>
                <a:cubicBezTo>
                  <a:pt x="1895912" y="813732"/>
                  <a:pt x="1902319" y="824748"/>
                  <a:pt x="1912690" y="830510"/>
                </a:cubicBezTo>
                <a:cubicBezTo>
                  <a:pt x="1928150" y="839099"/>
                  <a:pt x="1945866" y="842999"/>
                  <a:pt x="1963024" y="847288"/>
                </a:cubicBezTo>
                <a:cubicBezTo>
                  <a:pt x="2015763" y="860473"/>
                  <a:pt x="1985166" y="854046"/>
                  <a:pt x="2055303" y="864066"/>
                </a:cubicBezTo>
                <a:cubicBezTo>
                  <a:pt x="2141989" y="861270"/>
                  <a:pt x="2228780" y="860770"/>
                  <a:pt x="2315361" y="855677"/>
                </a:cubicBezTo>
                <a:cubicBezTo>
                  <a:pt x="2343913" y="853997"/>
                  <a:pt x="2344833" y="839506"/>
                  <a:pt x="2365695" y="822121"/>
                </a:cubicBezTo>
                <a:cubicBezTo>
                  <a:pt x="2373440" y="815666"/>
                  <a:pt x="2381844" y="809852"/>
                  <a:pt x="2390862" y="805343"/>
                </a:cubicBezTo>
                <a:cubicBezTo>
                  <a:pt x="2398771" y="801388"/>
                  <a:pt x="2408120" y="800909"/>
                  <a:pt x="2416029" y="796954"/>
                </a:cubicBezTo>
                <a:cubicBezTo>
                  <a:pt x="2425047" y="792445"/>
                  <a:pt x="2431631" y="783364"/>
                  <a:pt x="2441196" y="780176"/>
                </a:cubicBezTo>
                <a:cubicBezTo>
                  <a:pt x="2457333" y="774797"/>
                  <a:pt x="2474752" y="774583"/>
                  <a:pt x="2491530" y="771787"/>
                </a:cubicBezTo>
                <a:lnTo>
                  <a:pt x="2592198" y="704675"/>
                </a:lnTo>
                <a:lnTo>
                  <a:pt x="2617365" y="687897"/>
                </a:lnTo>
                <a:cubicBezTo>
                  <a:pt x="2625754" y="682304"/>
                  <a:pt x="2632967" y="674307"/>
                  <a:pt x="2642532" y="671119"/>
                </a:cubicBezTo>
                <a:cubicBezTo>
                  <a:pt x="2650921" y="668323"/>
                  <a:pt x="2659790" y="666685"/>
                  <a:pt x="2667699" y="662730"/>
                </a:cubicBezTo>
                <a:cubicBezTo>
                  <a:pt x="2725633" y="633763"/>
                  <a:pt x="2656585" y="655022"/>
                  <a:pt x="2726422" y="637563"/>
                </a:cubicBezTo>
                <a:cubicBezTo>
                  <a:pt x="2782349" y="640359"/>
                  <a:pt x="2839109" y="635935"/>
                  <a:pt x="2894202" y="645952"/>
                </a:cubicBezTo>
                <a:cubicBezTo>
                  <a:pt x="2904122" y="647756"/>
                  <a:pt x="2903851" y="663990"/>
                  <a:pt x="2910980" y="671119"/>
                </a:cubicBezTo>
                <a:cubicBezTo>
                  <a:pt x="2918109" y="678248"/>
                  <a:pt x="2927758" y="682304"/>
                  <a:pt x="2936147" y="687897"/>
                </a:cubicBezTo>
                <a:cubicBezTo>
                  <a:pt x="2938943" y="696286"/>
                  <a:pt x="2940242" y="705334"/>
                  <a:pt x="2944536" y="713064"/>
                </a:cubicBezTo>
                <a:cubicBezTo>
                  <a:pt x="2954329" y="730691"/>
                  <a:pt x="2966907" y="746620"/>
                  <a:pt x="2978092" y="763398"/>
                </a:cubicBezTo>
                <a:cubicBezTo>
                  <a:pt x="2983685" y="771787"/>
                  <a:pt x="2990361" y="779547"/>
                  <a:pt x="2994870" y="788565"/>
                </a:cubicBezTo>
                <a:cubicBezTo>
                  <a:pt x="3000463" y="799750"/>
                  <a:pt x="3005443" y="811263"/>
                  <a:pt x="3011648" y="822121"/>
                </a:cubicBezTo>
                <a:cubicBezTo>
                  <a:pt x="3016650" y="830875"/>
                  <a:pt x="3024331" y="838075"/>
                  <a:pt x="3028426" y="847288"/>
                </a:cubicBezTo>
                <a:cubicBezTo>
                  <a:pt x="3035609" y="863449"/>
                  <a:pt x="3039611" y="880844"/>
                  <a:pt x="3045204" y="897622"/>
                </a:cubicBezTo>
                <a:cubicBezTo>
                  <a:pt x="3048000" y="906011"/>
                  <a:pt x="3049043" y="915206"/>
                  <a:pt x="3053593" y="922789"/>
                </a:cubicBezTo>
                <a:cubicBezTo>
                  <a:pt x="3061982" y="936771"/>
                  <a:pt x="3070118" y="950907"/>
                  <a:pt x="3078760" y="964734"/>
                </a:cubicBezTo>
                <a:cubicBezTo>
                  <a:pt x="3099521" y="997952"/>
                  <a:pt x="3094693" y="983804"/>
                  <a:pt x="3112316" y="1023457"/>
                </a:cubicBezTo>
                <a:cubicBezTo>
                  <a:pt x="3161865" y="1134945"/>
                  <a:pt x="3101305" y="1012578"/>
                  <a:pt x="3145871" y="1090569"/>
                </a:cubicBezTo>
                <a:cubicBezTo>
                  <a:pt x="3152076" y="1101427"/>
                  <a:pt x="3155146" y="1114121"/>
                  <a:pt x="3162649" y="1124125"/>
                </a:cubicBezTo>
                <a:cubicBezTo>
                  <a:pt x="3172140" y="1136780"/>
                  <a:pt x="3186714" y="1145026"/>
                  <a:pt x="3196205" y="1157681"/>
                </a:cubicBezTo>
                <a:cubicBezTo>
                  <a:pt x="3235389" y="1209927"/>
                  <a:pt x="3181761" y="1187200"/>
                  <a:pt x="3263317" y="1241571"/>
                </a:cubicBezTo>
                <a:lnTo>
                  <a:pt x="3313651" y="1275127"/>
                </a:lnTo>
                <a:cubicBezTo>
                  <a:pt x="3319244" y="1283516"/>
                  <a:pt x="3320372" y="1299576"/>
                  <a:pt x="3330429" y="1300294"/>
                </a:cubicBezTo>
                <a:cubicBezTo>
                  <a:pt x="3526784" y="1314319"/>
                  <a:pt x="3499537" y="1316408"/>
                  <a:pt x="3615655" y="1258349"/>
                </a:cubicBezTo>
                <a:cubicBezTo>
                  <a:pt x="3621248" y="1249960"/>
                  <a:pt x="3625978" y="1240927"/>
                  <a:pt x="3632433" y="1233182"/>
                </a:cubicBezTo>
                <a:cubicBezTo>
                  <a:pt x="3657864" y="1202665"/>
                  <a:pt x="3661822" y="1212160"/>
                  <a:pt x="3682767" y="1174459"/>
                </a:cubicBezTo>
                <a:cubicBezTo>
                  <a:pt x="3751175" y="1051324"/>
                  <a:pt x="3659131" y="1193135"/>
                  <a:pt x="3716323" y="1107347"/>
                </a:cubicBezTo>
                <a:cubicBezTo>
                  <a:pt x="3728464" y="1022362"/>
                  <a:pt x="3718459" y="1067382"/>
                  <a:pt x="3749879" y="973123"/>
                </a:cubicBezTo>
                <a:lnTo>
                  <a:pt x="3758268" y="947956"/>
                </a:lnTo>
                <a:cubicBezTo>
                  <a:pt x="3761064" y="917196"/>
                  <a:pt x="3762826" y="886325"/>
                  <a:pt x="3766657" y="855677"/>
                </a:cubicBezTo>
                <a:cubicBezTo>
                  <a:pt x="3768426" y="841529"/>
                  <a:pt x="3773694" y="827926"/>
                  <a:pt x="3775046" y="813732"/>
                </a:cubicBezTo>
                <a:cubicBezTo>
                  <a:pt x="3779296" y="769105"/>
                  <a:pt x="3779860" y="724194"/>
                  <a:pt x="3783435" y="679508"/>
                </a:cubicBezTo>
                <a:cubicBezTo>
                  <a:pt x="3785454" y="654267"/>
                  <a:pt x="3789598" y="629231"/>
                  <a:pt x="3791824" y="604007"/>
                </a:cubicBezTo>
                <a:cubicBezTo>
                  <a:pt x="3797988" y="534147"/>
                  <a:pt x="3801624" y="464066"/>
                  <a:pt x="3808602" y="394283"/>
                </a:cubicBezTo>
                <a:cubicBezTo>
                  <a:pt x="3810021" y="380095"/>
                  <a:pt x="3814767" y="366422"/>
                  <a:pt x="3816991" y="352338"/>
                </a:cubicBezTo>
                <a:cubicBezTo>
                  <a:pt x="3827471" y="285965"/>
                  <a:pt x="3829752" y="230166"/>
                  <a:pt x="3850547" y="167780"/>
                </a:cubicBezTo>
                <a:cubicBezTo>
                  <a:pt x="3854502" y="155916"/>
                  <a:pt x="3862246" y="145652"/>
                  <a:pt x="3867325" y="134224"/>
                </a:cubicBezTo>
                <a:cubicBezTo>
                  <a:pt x="3873441" y="120463"/>
                  <a:pt x="3876790" y="105443"/>
                  <a:pt x="3884103" y="92279"/>
                </a:cubicBezTo>
                <a:cubicBezTo>
                  <a:pt x="3890893" y="80057"/>
                  <a:pt x="3901143" y="70100"/>
                  <a:pt x="3909270" y="58723"/>
                </a:cubicBezTo>
                <a:cubicBezTo>
                  <a:pt x="3970604" y="-27145"/>
                  <a:pt x="3868966" y="109666"/>
                  <a:pt x="3951215" y="0"/>
                </a:cubicBezTo>
                <a:cubicBezTo>
                  <a:pt x="3959604" y="2796"/>
                  <a:pt x="3970129" y="2136"/>
                  <a:pt x="3976382" y="8389"/>
                </a:cubicBezTo>
                <a:cubicBezTo>
                  <a:pt x="4003743" y="35750"/>
                  <a:pt x="4009064" y="61388"/>
                  <a:pt x="4026716" y="92279"/>
                </a:cubicBezTo>
                <a:cubicBezTo>
                  <a:pt x="4031718" y="101033"/>
                  <a:pt x="4038984" y="108428"/>
                  <a:pt x="4043493" y="117446"/>
                </a:cubicBezTo>
                <a:cubicBezTo>
                  <a:pt x="4047447" y="125355"/>
                  <a:pt x="4048291" y="134532"/>
                  <a:pt x="4051882" y="142613"/>
                </a:cubicBezTo>
                <a:cubicBezTo>
                  <a:pt x="4059500" y="159755"/>
                  <a:pt x="4068660" y="176169"/>
                  <a:pt x="4077049" y="192947"/>
                </a:cubicBezTo>
                <a:cubicBezTo>
                  <a:pt x="4085438" y="232096"/>
                  <a:pt x="4092506" y="271551"/>
                  <a:pt x="4102216" y="310393"/>
                </a:cubicBezTo>
                <a:cubicBezTo>
                  <a:pt x="4105012" y="321578"/>
                  <a:pt x="4108344" y="332643"/>
                  <a:pt x="4110605" y="343949"/>
                </a:cubicBezTo>
                <a:cubicBezTo>
                  <a:pt x="4113941" y="360628"/>
                  <a:pt x="4115304" y="377679"/>
                  <a:pt x="4118994" y="394283"/>
                </a:cubicBezTo>
                <a:cubicBezTo>
                  <a:pt x="4125048" y="421525"/>
                  <a:pt x="4132323" y="425384"/>
                  <a:pt x="4144161" y="453005"/>
                </a:cubicBezTo>
                <a:cubicBezTo>
                  <a:pt x="4165960" y="503869"/>
                  <a:pt x="4131606" y="455839"/>
                  <a:pt x="4186106" y="528506"/>
                </a:cubicBezTo>
                <a:cubicBezTo>
                  <a:pt x="4194495" y="539691"/>
                  <a:pt x="4201386" y="552175"/>
                  <a:pt x="4211273" y="562062"/>
                </a:cubicBezTo>
                <a:cubicBezTo>
                  <a:pt x="4227261" y="578050"/>
                  <a:pt x="4259502" y="588752"/>
                  <a:pt x="4278385" y="595618"/>
                </a:cubicBezTo>
                <a:cubicBezTo>
                  <a:pt x="4295006" y="601662"/>
                  <a:pt x="4328719" y="612396"/>
                  <a:pt x="4328719" y="612396"/>
                </a:cubicBezTo>
                <a:cubicBezTo>
                  <a:pt x="4473947" y="600778"/>
                  <a:pt x="4504704" y="637747"/>
                  <a:pt x="4580389" y="562062"/>
                </a:cubicBezTo>
                <a:cubicBezTo>
                  <a:pt x="4587518" y="554933"/>
                  <a:pt x="4591574" y="545284"/>
                  <a:pt x="4597167" y="536895"/>
                </a:cubicBezTo>
                <a:cubicBezTo>
                  <a:pt x="4599963" y="522913"/>
                  <a:pt x="4601459" y="508607"/>
                  <a:pt x="4605556" y="494950"/>
                </a:cubicBezTo>
                <a:cubicBezTo>
                  <a:pt x="4609883" y="480526"/>
                  <a:pt x="4617046" y="467105"/>
                  <a:pt x="4622334" y="453005"/>
                </a:cubicBezTo>
                <a:cubicBezTo>
                  <a:pt x="4625439" y="444726"/>
                  <a:pt x="4628182" y="436309"/>
                  <a:pt x="4630723" y="427839"/>
                </a:cubicBezTo>
                <a:cubicBezTo>
                  <a:pt x="4645040" y="380118"/>
                  <a:pt x="4639615" y="368613"/>
                  <a:pt x="4672668" y="335560"/>
                </a:cubicBezTo>
                <a:cubicBezTo>
                  <a:pt x="4689422" y="318806"/>
                  <a:pt x="4719753" y="310015"/>
                  <a:pt x="4739780" y="302004"/>
                </a:cubicBezTo>
                <a:cubicBezTo>
                  <a:pt x="4784521" y="304800"/>
                  <a:pt x="4834293" y="289592"/>
                  <a:pt x="4874004" y="310393"/>
                </a:cubicBezTo>
                <a:cubicBezTo>
                  <a:pt x="4901699" y="324900"/>
                  <a:pt x="4908366" y="363953"/>
                  <a:pt x="4915949" y="394283"/>
                </a:cubicBezTo>
                <a:cubicBezTo>
                  <a:pt x="4925417" y="432154"/>
                  <a:pt x="4933406" y="462861"/>
                  <a:pt x="4941116" y="503339"/>
                </a:cubicBezTo>
                <a:cubicBezTo>
                  <a:pt x="4947481" y="536757"/>
                  <a:pt x="4951981" y="570506"/>
                  <a:pt x="4957893" y="604007"/>
                </a:cubicBezTo>
                <a:cubicBezTo>
                  <a:pt x="4960371" y="618049"/>
                  <a:pt x="4963486" y="631970"/>
                  <a:pt x="4966282" y="645952"/>
                </a:cubicBezTo>
                <a:cubicBezTo>
                  <a:pt x="4969078" y="707471"/>
                  <a:pt x="4970283" y="769084"/>
                  <a:pt x="4974671" y="830510"/>
                </a:cubicBezTo>
                <a:cubicBezTo>
                  <a:pt x="4977067" y="864049"/>
                  <a:pt x="4994878" y="928239"/>
                  <a:pt x="4999838" y="956345"/>
                </a:cubicBezTo>
                <a:cubicBezTo>
                  <a:pt x="5003756" y="978547"/>
                  <a:pt x="5004264" y="1001263"/>
                  <a:pt x="5008227" y="1023457"/>
                </a:cubicBezTo>
                <a:cubicBezTo>
                  <a:pt x="5027975" y="1134044"/>
                  <a:pt x="5040438" y="1191160"/>
                  <a:pt x="5066950" y="1291905"/>
                </a:cubicBezTo>
                <a:cubicBezTo>
                  <a:pt x="5089667" y="1378229"/>
                  <a:pt x="5072040" y="1325555"/>
                  <a:pt x="5117284" y="1400961"/>
                </a:cubicBezTo>
                <a:cubicBezTo>
                  <a:pt x="5123718" y="1411684"/>
                  <a:pt x="5129671" y="1422808"/>
                  <a:pt x="5134062" y="1434517"/>
                </a:cubicBezTo>
                <a:cubicBezTo>
                  <a:pt x="5138110" y="1445312"/>
                  <a:pt x="5136056" y="1458480"/>
                  <a:pt x="5142451" y="1468073"/>
                </a:cubicBezTo>
                <a:cubicBezTo>
                  <a:pt x="5148044" y="1476462"/>
                  <a:pt x="5159229" y="1479258"/>
                  <a:pt x="5167618" y="1484851"/>
                </a:cubicBezTo>
                <a:cubicBezTo>
                  <a:pt x="5177984" y="1515950"/>
                  <a:pt x="5168098" y="1506063"/>
                  <a:pt x="5192785" y="15184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0060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ppt_x"/>
                                          </p:val>
                                        </p:tav>
                                        <p:tav tm="100000">
                                          <p:val>
                                            <p:strVal val="#ppt_x"/>
                                          </p:val>
                                        </p:tav>
                                      </p:tavLst>
                                    </p:anim>
                                    <p:anim calcmode="lin" valueType="num">
                                      <p:cBhvr additive="base">
                                        <p:cTn id="3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fill="hold"/>
                                        <p:tgtEl>
                                          <p:spTgt spid="34"/>
                                        </p:tgtEl>
                                        <p:attrNameLst>
                                          <p:attrName>ppt_x</p:attrName>
                                        </p:attrNameLst>
                                      </p:cBhvr>
                                      <p:tavLst>
                                        <p:tav tm="0">
                                          <p:val>
                                            <p:strVal val="#ppt_x"/>
                                          </p:val>
                                        </p:tav>
                                        <p:tav tm="100000">
                                          <p:val>
                                            <p:strVal val="#ppt_x"/>
                                          </p:val>
                                        </p:tav>
                                      </p:tavLst>
                                    </p:anim>
                                    <p:anim calcmode="lin" valueType="num">
                                      <p:cBhvr additive="base">
                                        <p:cTn id="38"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16258-7246-4CA0-8309-68658C284C7B}"/>
              </a:ext>
            </a:extLst>
          </p:cNvPr>
          <p:cNvSpPr>
            <a:spLocks noGrp="1"/>
          </p:cNvSpPr>
          <p:nvPr>
            <p:ph type="title"/>
          </p:nvPr>
        </p:nvSpPr>
        <p:spPr/>
        <p:txBody>
          <a:bodyPr/>
          <a:lstStyle/>
          <a:p>
            <a:r>
              <a:rPr lang="en-US" dirty="0"/>
              <a:t>Perceptron as a Decision Machine</a:t>
            </a:r>
          </a:p>
        </p:txBody>
      </p:sp>
      <p:pic>
        <p:nvPicPr>
          <p:cNvPr id="41986" name="Picture 2" descr="Decision Machine stock illustration. Illustration of computer - 38209360">
            <a:extLst>
              <a:ext uri="{FF2B5EF4-FFF2-40B4-BE49-F238E27FC236}">
                <a16:creationId xmlns:a16="http://schemas.microsoft.com/office/drawing/2014/main" id="{9A359F69-D103-4D71-88C6-10C96AB6F5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0929"/>
          <a:stretch/>
        </p:blipFill>
        <p:spPr bwMode="auto">
          <a:xfrm>
            <a:off x="2610374" y="1899229"/>
            <a:ext cx="6551802" cy="4781074"/>
          </a:xfrm>
          <a:prstGeom prst="rect">
            <a:avLst/>
          </a:prstGeom>
          <a:noFill/>
          <a:extLst>
            <a:ext uri="{909E8E84-426E-40DD-AFC4-6F175D3DCCD1}">
              <a14:hiddenFill xmlns:a14="http://schemas.microsoft.com/office/drawing/2010/main">
                <a:solidFill>
                  <a:srgbClr val="FFFFFF"/>
                </a:solidFill>
              </a14:hiddenFill>
            </a:ext>
          </a:extLst>
        </p:spPr>
      </p:pic>
      <p:pic>
        <p:nvPicPr>
          <p:cNvPr id="41988" name="Picture 4" descr="This or That Decision Making | COMO Magazine">
            <a:extLst>
              <a:ext uri="{FF2B5EF4-FFF2-40B4-BE49-F238E27FC236}">
                <a16:creationId xmlns:a16="http://schemas.microsoft.com/office/drawing/2014/main" id="{F449836A-3FD3-4CBD-A906-CD8EEF18A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8406" y="2033281"/>
            <a:ext cx="2857500" cy="160020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F1030134-F5E4-45CA-A19D-DD62FE6A8D9D}"/>
              </a:ext>
            </a:extLst>
          </p:cNvPr>
          <p:cNvGrpSpPr/>
          <p:nvPr/>
        </p:nvGrpSpPr>
        <p:grpSpPr>
          <a:xfrm>
            <a:off x="485399" y="2181138"/>
            <a:ext cx="2912142" cy="2323751"/>
            <a:chOff x="485399" y="2181138"/>
            <a:chExt cx="2912142" cy="2323751"/>
          </a:xfrm>
        </p:grpSpPr>
        <p:sp>
          <p:nvSpPr>
            <p:cNvPr id="4" name="TextBox 3">
              <a:extLst>
                <a:ext uri="{FF2B5EF4-FFF2-40B4-BE49-F238E27FC236}">
                  <a16:creationId xmlns:a16="http://schemas.microsoft.com/office/drawing/2014/main" id="{B8F176D1-ECB6-40FD-AD1E-B49884FB93BE}"/>
                </a:ext>
              </a:extLst>
            </p:cNvPr>
            <p:cNvSpPr txBox="1"/>
            <p:nvPr/>
          </p:nvSpPr>
          <p:spPr>
            <a:xfrm>
              <a:off x="763398" y="2181138"/>
              <a:ext cx="2634143" cy="646331"/>
            </a:xfrm>
            <a:prstGeom prst="rect">
              <a:avLst/>
            </a:prstGeom>
            <a:noFill/>
          </p:spPr>
          <p:txBody>
            <a:bodyPr wrap="square" rtlCol="0">
              <a:spAutoFit/>
            </a:bodyPr>
            <a:lstStyle/>
            <a:p>
              <a:r>
                <a:rPr lang="en-US" dirty="0"/>
                <a:t>Go to the party or not, this is the question</a:t>
              </a:r>
            </a:p>
          </p:txBody>
        </p:sp>
        <p:pic>
          <p:nvPicPr>
            <p:cNvPr id="5" name="Picture 2" descr="Related image">
              <a:extLst>
                <a:ext uri="{FF2B5EF4-FFF2-40B4-BE49-F238E27FC236}">
                  <a16:creationId xmlns:a16="http://schemas.microsoft.com/office/drawing/2014/main" id="{257412EA-D9B6-4B30-8E4E-F5F1FEF9C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399" y="2894203"/>
              <a:ext cx="2763937" cy="161068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01023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2EDF7-E17D-41AB-917E-AE68896C2956}"/>
              </a:ext>
            </a:extLst>
          </p:cNvPr>
          <p:cNvSpPr>
            <a:spLocks noGrp="1"/>
          </p:cNvSpPr>
          <p:nvPr>
            <p:ph type="title"/>
          </p:nvPr>
        </p:nvSpPr>
        <p:spPr>
          <a:xfrm>
            <a:off x="838200" y="365125"/>
            <a:ext cx="5507736" cy="1325563"/>
          </a:xfrm>
        </p:spPr>
        <p:txBody>
          <a:bodyPr/>
          <a:lstStyle/>
          <a:p>
            <a:r>
              <a:rPr lang="en-US" dirty="0"/>
              <a:t>Perceptron party example</a:t>
            </a:r>
          </a:p>
        </p:txBody>
      </p:sp>
      <p:pic>
        <p:nvPicPr>
          <p:cNvPr id="1026" name="Picture 2" descr="Related image">
            <a:extLst>
              <a:ext uri="{FF2B5EF4-FFF2-40B4-BE49-F238E27FC236}">
                <a16:creationId xmlns:a16="http://schemas.microsoft.com/office/drawing/2014/main" id="{570E9268-A584-432B-BD64-B925584FA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0423" y="0"/>
            <a:ext cx="6521577" cy="380045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4">
            <a:extLst>
              <a:ext uri="{FF2B5EF4-FFF2-40B4-BE49-F238E27FC236}">
                <a16:creationId xmlns:a16="http://schemas.microsoft.com/office/drawing/2014/main" id="{2F2DAAC1-86FB-42D4-86E1-145476CDA702}"/>
              </a:ext>
            </a:extLst>
          </p:cNvPr>
          <p:cNvGraphicFramePr>
            <a:graphicFrameLocks noGrp="1"/>
          </p:cNvGraphicFramePr>
          <p:nvPr/>
        </p:nvGraphicFramePr>
        <p:xfrm>
          <a:off x="239776" y="2154299"/>
          <a:ext cx="4515105" cy="1854200"/>
        </p:xfrm>
        <a:graphic>
          <a:graphicData uri="http://schemas.openxmlformats.org/drawingml/2006/table">
            <a:tbl>
              <a:tblPr firstRow="1" bandRow="1">
                <a:tableStyleId>{5C22544A-7EE6-4342-B048-85BDC9FD1C3A}</a:tableStyleId>
              </a:tblPr>
              <a:tblGrid>
                <a:gridCol w="2867031">
                  <a:extLst>
                    <a:ext uri="{9D8B030D-6E8A-4147-A177-3AD203B41FA5}">
                      <a16:colId xmlns:a16="http://schemas.microsoft.com/office/drawing/2014/main" val="845281567"/>
                    </a:ext>
                  </a:extLst>
                </a:gridCol>
                <a:gridCol w="635402">
                  <a:extLst>
                    <a:ext uri="{9D8B030D-6E8A-4147-A177-3AD203B41FA5}">
                      <a16:colId xmlns:a16="http://schemas.microsoft.com/office/drawing/2014/main" val="4113112387"/>
                    </a:ext>
                  </a:extLst>
                </a:gridCol>
                <a:gridCol w="1012672">
                  <a:extLst>
                    <a:ext uri="{9D8B030D-6E8A-4147-A177-3AD203B41FA5}">
                      <a16:colId xmlns:a16="http://schemas.microsoft.com/office/drawing/2014/main" val="2503218646"/>
                    </a:ext>
                  </a:extLst>
                </a:gridCol>
              </a:tblGrid>
              <a:tr h="370840">
                <a:tc>
                  <a:txBody>
                    <a:bodyPr/>
                    <a:lstStyle/>
                    <a:p>
                      <a:r>
                        <a:rPr lang="en-US" dirty="0"/>
                        <a:t>factors</a:t>
                      </a:r>
                    </a:p>
                  </a:txBody>
                  <a:tcPr/>
                </a:tc>
                <a:tc>
                  <a:txBody>
                    <a:bodyPr/>
                    <a:lstStyle/>
                    <a:p>
                      <a:r>
                        <a:rPr lang="en-US" dirty="0"/>
                        <a:t>var</a:t>
                      </a:r>
                    </a:p>
                  </a:txBody>
                  <a:tcPr/>
                </a:tc>
                <a:tc>
                  <a:txBody>
                    <a:bodyPr/>
                    <a:lstStyle/>
                    <a:p>
                      <a:r>
                        <a:rPr lang="en-US" dirty="0"/>
                        <a:t>Weight</a:t>
                      </a:r>
                    </a:p>
                  </a:txBody>
                  <a:tcPr/>
                </a:tc>
                <a:extLst>
                  <a:ext uri="{0D108BD9-81ED-4DB2-BD59-A6C34878D82A}">
                    <a16:rowId xmlns:a16="http://schemas.microsoft.com/office/drawing/2014/main" val="1377966915"/>
                  </a:ext>
                </a:extLst>
              </a:tr>
              <a:tr h="370840">
                <a:tc>
                  <a:txBody>
                    <a:bodyPr/>
                    <a:lstStyle/>
                    <a:p>
                      <a:r>
                        <a:rPr lang="en-US" dirty="0"/>
                        <a:t>Number of friends (int)</a:t>
                      </a:r>
                    </a:p>
                  </a:txBody>
                  <a:tcPr/>
                </a:tc>
                <a:tc>
                  <a:txBody>
                    <a:bodyPr/>
                    <a:lstStyle/>
                    <a:p>
                      <a:r>
                        <a:rPr lang="en-US" dirty="0"/>
                        <a:t>x1</a:t>
                      </a:r>
                    </a:p>
                  </a:txBody>
                  <a:tcPr/>
                </a:tc>
                <a:tc>
                  <a:txBody>
                    <a:bodyPr/>
                    <a:lstStyle/>
                    <a:p>
                      <a:r>
                        <a:rPr lang="en-US" dirty="0"/>
                        <a:t>1</a:t>
                      </a:r>
                    </a:p>
                  </a:txBody>
                  <a:tcPr/>
                </a:tc>
                <a:extLst>
                  <a:ext uri="{0D108BD9-81ED-4DB2-BD59-A6C34878D82A}">
                    <a16:rowId xmlns:a16="http://schemas.microsoft.com/office/drawing/2014/main" val="3936338889"/>
                  </a:ext>
                </a:extLst>
              </a:tr>
              <a:tr h="370840">
                <a:tc>
                  <a:txBody>
                    <a:bodyPr/>
                    <a:lstStyle/>
                    <a:p>
                      <a:r>
                        <a:rPr lang="en-US" dirty="0"/>
                        <a:t>Cost (in 100NIS) (real)</a:t>
                      </a:r>
                    </a:p>
                  </a:txBody>
                  <a:tcPr/>
                </a:tc>
                <a:tc>
                  <a:txBody>
                    <a:bodyPr/>
                    <a:lstStyle/>
                    <a:p>
                      <a:r>
                        <a:rPr lang="en-US" dirty="0"/>
                        <a:t>x2</a:t>
                      </a:r>
                    </a:p>
                  </a:txBody>
                  <a:tcPr/>
                </a:tc>
                <a:tc>
                  <a:txBody>
                    <a:bodyPr/>
                    <a:lstStyle/>
                    <a:p>
                      <a:r>
                        <a:rPr lang="en-US" dirty="0"/>
                        <a:t>-1</a:t>
                      </a:r>
                    </a:p>
                  </a:txBody>
                  <a:tcPr/>
                </a:tc>
                <a:extLst>
                  <a:ext uri="{0D108BD9-81ED-4DB2-BD59-A6C34878D82A}">
                    <a16:rowId xmlns:a16="http://schemas.microsoft.com/office/drawing/2014/main" val="1755349164"/>
                  </a:ext>
                </a:extLst>
              </a:tr>
              <a:tr h="370840">
                <a:tc>
                  <a:txBody>
                    <a:bodyPr/>
                    <a:lstStyle/>
                    <a:p>
                      <a:r>
                        <a:rPr lang="en-US" dirty="0"/>
                        <a:t>Time to get there (in hours)</a:t>
                      </a:r>
                    </a:p>
                  </a:txBody>
                  <a:tcPr/>
                </a:tc>
                <a:tc>
                  <a:txBody>
                    <a:bodyPr/>
                    <a:lstStyle/>
                    <a:p>
                      <a:r>
                        <a:rPr lang="en-US" dirty="0"/>
                        <a:t>x3</a:t>
                      </a:r>
                    </a:p>
                  </a:txBody>
                  <a:tcPr/>
                </a:tc>
                <a:tc>
                  <a:txBody>
                    <a:bodyPr/>
                    <a:lstStyle/>
                    <a:p>
                      <a:r>
                        <a:rPr lang="en-US" dirty="0"/>
                        <a:t>-0.5</a:t>
                      </a:r>
                    </a:p>
                  </a:txBody>
                  <a:tcPr/>
                </a:tc>
                <a:extLst>
                  <a:ext uri="{0D108BD9-81ED-4DB2-BD59-A6C34878D82A}">
                    <a16:rowId xmlns:a16="http://schemas.microsoft.com/office/drawing/2014/main" val="1341241010"/>
                  </a:ext>
                </a:extLst>
              </a:tr>
              <a:tr h="370840">
                <a:tc>
                  <a:txBody>
                    <a:bodyPr/>
                    <a:lstStyle/>
                    <a:p>
                      <a:r>
                        <a:rPr lang="en-US" dirty="0">
                          <a:solidFill>
                            <a:srgbClr val="C00000"/>
                          </a:solidFill>
                        </a:rPr>
                        <a:t>Total</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95723055"/>
                  </a:ext>
                </a:extLst>
              </a:tr>
            </a:tbl>
          </a:graphicData>
        </a:graphic>
      </p:graphicFrame>
      <p:graphicFrame>
        <p:nvGraphicFramePr>
          <p:cNvPr id="11" name="Table 4">
            <a:extLst>
              <a:ext uri="{FF2B5EF4-FFF2-40B4-BE49-F238E27FC236}">
                <a16:creationId xmlns:a16="http://schemas.microsoft.com/office/drawing/2014/main" id="{7FCBB399-E892-4B39-81FC-7A43885C4034}"/>
              </a:ext>
            </a:extLst>
          </p:cNvPr>
          <p:cNvGraphicFramePr>
            <a:graphicFrameLocks noGrp="1"/>
          </p:cNvGraphicFramePr>
          <p:nvPr>
            <p:extLst>
              <p:ext uri="{D42A27DB-BD31-4B8C-83A1-F6EECF244321}">
                <p14:modId xmlns:p14="http://schemas.microsoft.com/office/powerpoint/2010/main" val="2105768220"/>
              </p:ext>
            </p:extLst>
          </p:nvPr>
        </p:nvGraphicFramePr>
        <p:xfrm>
          <a:off x="239776" y="4245227"/>
          <a:ext cx="6289040" cy="1854200"/>
        </p:xfrm>
        <a:graphic>
          <a:graphicData uri="http://schemas.openxmlformats.org/drawingml/2006/table">
            <a:tbl>
              <a:tblPr firstRow="1" bandRow="1">
                <a:tableStyleId>{5C22544A-7EE6-4342-B048-85BDC9FD1C3A}</a:tableStyleId>
              </a:tblPr>
              <a:tblGrid>
                <a:gridCol w="2860040">
                  <a:extLst>
                    <a:ext uri="{9D8B030D-6E8A-4147-A177-3AD203B41FA5}">
                      <a16:colId xmlns:a16="http://schemas.microsoft.com/office/drawing/2014/main" val="845281567"/>
                    </a:ext>
                  </a:extLst>
                </a:gridCol>
                <a:gridCol w="649224">
                  <a:extLst>
                    <a:ext uri="{9D8B030D-6E8A-4147-A177-3AD203B41FA5}">
                      <a16:colId xmlns:a16="http://schemas.microsoft.com/office/drawing/2014/main" val="4113112387"/>
                    </a:ext>
                  </a:extLst>
                </a:gridCol>
                <a:gridCol w="1005840">
                  <a:extLst>
                    <a:ext uri="{9D8B030D-6E8A-4147-A177-3AD203B41FA5}">
                      <a16:colId xmlns:a16="http://schemas.microsoft.com/office/drawing/2014/main" val="2503218646"/>
                    </a:ext>
                  </a:extLst>
                </a:gridCol>
                <a:gridCol w="841248">
                  <a:extLst>
                    <a:ext uri="{9D8B030D-6E8A-4147-A177-3AD203B41FA5}">
                      <a16:colId xmlns:a16="http://schemas.microsoft.com/office/drawing/2014/main" val="1976522392"/>
                    </a:ext>
                  </a:extLst>
                </a:gridCol>
                <a:gridCol w="932688">
                  <a:extLst>
                    <a:ext uri="{9D8B030D-6E8A-4147-A177-3AD203B41FA5}">
                      <a16:colId xmlns:a16="http://schemas.microsoft.com/office/drawing/2014/main" val="563625618"/>
                    </a:ext>
                  </a:extLst>
                </a:gridCol>
              </a:tblGrid>
              <a:tr h="370840">
                <a:tc>
                  <a:txBody>
                    <a:bodyPr/>
                    <a:lstStyle/>
                    <a:p>
                      <a:r>
                        <a:rPr lang="en-US" dirty="0"/>
                        <a:t>factors</a:t>
                      </a:r>
                    </a:p>
                  </a:txBody>
                  <a:tcPr/>
                </a:tc>
                <a:tc>
                  <a:txBody>
                    <a:bodyPr/>
                    <a:lstStyle/>
                    <a:p>
                      <a:r>
                        <a:rPr lang="en-US" dirty="0"/>
                        <a:t>var</a:t>
                      </a:r>
                    </a:p>
                  </a:txBody>
                  <a:tcPr/>
                </a:tc>
                <a:tc>
                  <a:txBody>
                    <a:bodyPr/>
                    <a:lstStyle/>
                    <a:p>
                      <a:r>
                        <a:rPr lang="en-US" dirty="0"/>
                        <a:t>Weight</a:t>
                      </a:r>
                    </a:p>
                  </a:txBody>
                  <a:tcPr/>
                </a:tc>
                <a:tc>
                  <a:txBody>
                    <a:bodyPr/>
                    <a:lstStyle/>
                    <a:p>
                      <a:r>
                        <a:rPr lang="en-US" dirty="0"/>
                        <a:t>value</a:t>
                      </a:r>
                    </a:p>
                  </a:txBody>
                  <a:tcPr/>
                </a:tc>
                <a:tc>
                  <a:txBody>
                    <a:bodyPr/>
                    <a:lstStyle/>
                    <a:p>
                      <a:r>
                        <a:rPr lang="en-US" dirty="0"/>
                        <a:t>Impact</a:t>
                      </a:r>
                    </a:p>
                  </a:txBody>
                  <a:tcPr/>
                </a:tc>
                <a:extLst>
                  <a:ext uri="{0D108BD9-81ED-4DB2-BD59-A6C34878D82A}">
                    <a16:rowId xmlns:a16="http://schemas.microsoft.com/office/drawing/2014/main" val="1377966915"/>
                  </a:ext>
                </a:extLst>
              </a:tr>
              <a:tr h="370840">
                <a:tc>
                  <a:txBody>
                    <a:bodyPr/>
                    <a:lstStyle/>
                    <a:p>
                      <a:r>
                        <a:rPr lang="en-US" dirty="0"/>
                        <a:t>Number of friends (int)</a:t>
                      </a:r>
                    </a:p>
                  </a:txBody>
                  <a:tcPr/>
                </a:tc>
                <a:tc>
                  <a:txBody>
                    <a:bodyPr/>
                    <a:lstStyle/>
                    <a:p>
                      <a:r>
                        <a:rPr lang="en-US" dirty="0"/>
                        <a:t>x1</a:t>
                      </a:r>
                    </a:p>
                  </a:txBody>
                  <a:tcPr/>
                </a:tc>
                <a:tc>
                  <a:txBody>
                    <a:bodyPr/>
                    <a:lstStyle/>
                    <a:p>
                      <a:r>
                        <a:rPr lang="en-US" dirty="0"/>
                        <a:t>1</a:t>
                      </a:r>
                    </a:p>
                  </a:txBody>
                  <a:tcPr/>
                </a:tc>
                <a:tc>
                  <a:txBody>
                    <a:bodyPr/>
                    <a:lstStyle/>
                    <a:p>
                      <a:r>
                        <a:rPr lang="en-US" dirty="0"/>
                        <a:t>3</a:t>
                      </a:r>
                    </a:p>
                  </a:txBody>
                  <a:tcPr/>
                </a:tc>
                <a:tc>
                  <a:txBody>
                    <a:bodyPr/>
                    <a:lstStyle/>
                    <a:p>
                      <a:r>
                        <a:rPr lang="en-US" dirty="0"/>
                        <a:t>3</a:t>
                      </a:r>
                    </a:p>
                  </a:txBody>
                  <a:tcPr/>
                </a:tc>
                <a:extLst>
                  <a:ext uri="{0D108BD9-81ED-4DB2-BD59-A6C34878D82A}">
                    <a16:rowId xmlns:a16="http://schemas.microsoft.com/office/drawing/2014/main" val="3936338889"/>
                  </a:ext>
                </a:extLst>
              </a:tr>
              <a:tr h="370840">
                <a:tc>
                  <a:txBody>
                    <a:bodyPr/>
                    <a:lstStyle/>
                    <a:p>
                      <a:r>
                        <a:rPr lang="en-US" dirty="0"/>
                        <a:t>Cost (in 100NIS) (real)</a:t>
                      </a:r>
                    </a:p>
                  </a:txBody>
                  <a:tcPr/>
                </a:tc>
                <a:tc>
                  <a:txBody>
                    <a:bodyPr/>
                    <a:lstStyle/>
                    <a:p>
                      <a:r>
                        <a:rPr lang="en-US" dirty="0"/>
                        <a:t>x2</a:t>
                      </a:r>
                    </a:p>
                  </a:txBody>
                  <a:tcPr/>
                </a:tc>
                <a:tc>
                  <a:txBody>
                    <a:bodyPr/>
                    <a:lstStyle/>
                    <a:p>
                      <a:r>
                        <a:rPr lang="en-US" dirty="0"/>
                        <a:t>-1</a:t>
                      </a:r>
                    </a:p>
                  </a:txBody>
                  <a:tcPr/>
                </a:tc>
                <a:tc>
                  <a:txBody>
                    <a:bodyPr/>
                    <a:lstStyle/>
                    <a:p>
                      <a:r>
                        <a:rPr lang="en-US" dirty="0"/>
                        <a:t>200NIS</a:t>
                      </a:r>
                    </a:p>
                  </a:txBody>
                  <a:tcPr/>
                </a:tc>
                <a:tc>
                  <a:txBody>
                    <a:bodyPr/>
                    <a:lstStyle/>
                    <a:p>
                      <a:r>
                        <a:rPr lang="en-US" dirty="0"/>
                        <a:t>-2</a:t>
                      </a:r>
                    </a:p>
                  </a:txBody>
                  <a:tcPr/>
                </a:tc>
                <a:extLst>
                  <a:ext uri="{0D108BD9-81ED-4DB2-BD59-A6C34878D82A}">
                    <a16:rowId xmlns:a16="http://schemas.microsoft.com/office/drawing/2014/main" val="1755349164"/>
                  </a:ext>
                </a:extLst>
              </a:tr>
              <a:tr h="370840">
                <a:tc>
                  <a:txBody>
                    <a:bodyPr/>
                    <a:lstStyle/>
                    <a:p>
                      <a:r>
                        <a:rPr lang="en-US" dirty="0"/>
                        <a:t>Time to get there (in hours)</a:t>
                      </a:r>
                    </a:p>
                  </a:txBody>
                  <a:tcPr/>
                </a:tc>
                <a:tc>
                  <a:txBody>
                    <a:bodyPr/>
                    <a:lstStyle/>
                    <a:p>
                      <a:r>
                        <a:rPr lang="en-US" dirty="0"/>
                        <a:t>x3</a:t>
                      </a:r>
                    </a:p>
                  </a:txBody>
                  <a:tcPr/>
                </a:tc>
                <a:tc>
                  <a:txBody>
                    <a:bodyPr/>
                    <a:lstStyle/>
                    <a:p>
                      <a:r>
                        <a:rPr lang="en-US" dirty="0"/>
                        <a:t>-0.5</a:t>
                      </a:r>
                    </a:p>
                  </a:txBody>
                  <a:tcPr/>
                </a:tc>
                <a:tc>
                  <a:txBody>
                    <a:bodyPr/>
                    <a:lstStyle/>
                    <a:p>
                      <a:r>
                        <a:rPr lang="en-US" dirty="0"/>
                        <a:t>0.5</a:t>
                      </a:r>
                    </a:p>
                  </a:txBody>
                  <a:tcPr/>
                </a:tc>
                <a:tc>
                  <a:txBody>
                    <a:bodyPr/>
                    <a:lstStyle/>
                    <a:p>
                      <a:r>
                        <a:rPr lang="en-US" dirty="0"/>
                        <a:t>-0.25</a:t>
                      </a:r>
                    </a:p>
                  </a:txBody>
                  <a:tcPr/>
                </a:tc>
                <a:extLst>
                  <a:ext uri="{0D108BD9-81ED-4DB2-BD59-A6C34878D82A}">
                    <a16:rowId xmlns:a16="http://schemas.microsoft.com/office/drawing/2014/main" val="1341241010"/>
                  </a:ext>
                </a:extLst>
              </a:tr>
              <a:tr h="370840">
                <a:tc>
                  <a:txBody>
                    <a:bodyPr/>
                    <a:lstStyle/>
                    <a:p>
                      <a:r>
                        <a:rPr lang="en-US" dirty="0">
                          <a:solidFill>
                            <a:srgbClr val="C00000"/>
                          </a:solidFill>
                        </a:rPr>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b="1" dirty="0"/>
                        <a:t>0.75</a:t>
                      </a:r>
                    </a:p>
                  </a:txBody>
                  <a:tcPr/>
                </a:tc>
                <a:extLst>
                  <a:ext uri="{0D108BD9-81ED-4DB2-BD59-A6C34878D82A}">
                    <a16:rowId xmlns:a16="http://schemas.microsoft.com/office/drawing/2014/main" val="1195723055"/>
                  </a:ext>
                </a:extLst>
              </a:tr>
            </a:tbl>
          </a:graphicData>
        </a:graphic>
      </p:graphicFrame>
      <p:sp>
        <p:nvSpPr>
          <p:cNvPr id="10" name="Oval 9">
            <a:extLst>
              <a:ext uri="{FF2B5EF4-FFF2-40B4-BE49-F238E27FC236}">
                <a16:creationId xmlns:a16="http://schemas.microsoft.com/office/drawing/2014/main" id="{3BBC8C1E-8FA3-4F71-936C-454E6B99DD4C}"/>
              </a:ext>
            </a:extLst>
          </p:cNvPr>
          <p:cNvSpPr/>
          <p:nvPr/>
        </p:nvSpPr>
        <p:spPr>
          <a:xfrm>
            <a:off x="8709660" y="1491518"/>
            <a:ext cx="868680" cy="1163548"/>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3" name="Rectangle 2">
            <a:extLst>
              <a:ext uri="{FF2B5EF4-FFF2-40B4-BE49-F238E27FC236}">
                <a16:creationId xmlns:a16="http://schemas.microsoft.com/office/drawing/2014/main" id="{31C3C000-8E97-4B52-A8FF-40B90978311A}"/>
              </a:ext>
            </a:extLst>
          </p:cNvPr>
          <p:cNvSpPr/>
          <p:nvPr/>
        </p:nvSpPr>
        <p:spPr>
          <a:xfrm>
            <a:off x="8132987" y="4830306"/>
            <a:ext cx="2022028"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Danny</a:t>
            </a:r>
          </a:p>
        </p:txBody>
      </p:sp>
      <p:pic>
        <p:nvPicPr>
          <p:cNvPr id="5" name="Picture 4">
            <a:extLst>
              <a:ext uri="{FF2B5EF4-FFF2-40B4-BE49-F238E27FC236}">
                <a16:creationId xmlns:a16="http://schemas.microsoft.com/office/drawing/2014/main" id="{AB819F02-8CCC-421F-BC30-9D1074B918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6998" y="5753636"/>
            <a:ext cx="311818" cy="3035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471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2EDF7-E17D-41AB-917E-AE68896C2956}"/>
              </a:ext>
            </a:extLst>
          </p:cNvPr>
          <p:cNvSpPr>
            <a:spLocks noGrp="1"/>
          </p:cNvSpPr>
          <p:nvPr>
            <p:ph type="title"/>
          </p:nvPr>
        </p:nvSpPr>
        <p:spPr>
          <a:xfrm>
            <a:off x="838200" y="365125"/>
            <a:ext cx="5507736" cy="1325563"/>
          </a:xfrm>
        </p:spPr>
        <p:txBody>
          <a:bodyPr/>
          <a:lstStyle/>
          <a:p>
            <a:r>
              <a:rPr lang="en-US" dirty="0"/>
              <a:t>Perceptron party example</a:t>
            </a:r>
          </a:p>
        </p:txBody>
      </p:sp>
      <p:pic>
        <p:nvPicPr>
          <p:cNvPr id="1026" name="Picture 2" descr="Related image">
            <a:extLst>
              <a:ext uri="{FF2B5EF4-FFF2-40B4-BE49-F238E27FC236}">
                <a16:creationId xmlns:a16="http://schemas.microsoft.com/office/drawing/2014/main" id="{570E9268-A584-432B-BD64-B925584FA4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0423" y="0"/>
            <a:ext cx="6521577" cy="380045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4">
            <a:extLst>
              <a:ext uri="{FF2B5EF4-FFF2-40B4-BE49-F238E27FC236}">
                <a16:creationId xmlns:a16="http://schemas.microsoft.com/office/drawing/2014/main" id="{2F2DAAC1-86FB-42D4-86E1-145476CDA702}"/>
              </a:ext>
            </a:extLst>
          </p:cNvPr>
          <p:cNvGraphicFramePr>
            <a:graphicFrameLocks noGrp="1"/>
          </p:cNvGraphicFramePr>
          <p:nvPr/>
        </p:nvGraphicFramePr>
        <p:xfrm>
          <a:off x="239776" y="2154299"/>
          <a:ext cx="4515105" cy="1854200"/>
        </p:xfrm>
        <a:graphic>
          <a:graphicData uri="http://schemas.openxmlformats.org/drawingml/2006/table">
            <a:tbl>
              <a:tblPr firstRow="1" bandRow="1">
                <a:tableStyleId>{5C22544A-7EE6-4342-B048-85BDC9FD1C3A}</a:tableStyleId>
              </a:tblPr>
              <a:tblGrid>
                <a:gridCol w="2867031">
                  <a:extLst>
                    <a:ext uri="{9D8B030D-6E8A-4147-A177-3AD203B41FA5}">
                      <a16:colId xmlns:a16="http://schemas.microsoft.com/office/drawing/2014/main" val="845281567"/>
                    </a:ext>
                  </a:extLst>
                </a:gridCol>
                <a:gridCol w="635402">
                  <a:extLst>
                    <a:ext uri="{9D8B030D-6E8A-4147-A177-3AD203B41FA5}">
                      <a16:colId xmlns:a16="http://schemas.microsoft.com/office/drawing/2014/main" val="4113112387"/>
                    </a:ext>
                  </a:extLst>
                </a:gridCol>
                <a:gridCol w="1012672">
                  <a:extLst>
                    <a:ext uri="{9D8B030D-6E8A-4147-A177-3AD203B41FA5}">
                      <a16:colId xmlns:a16="http://schemas.microsoft.com/office/drawing/2014/main" val="2503218646"/>
                    </a:ext>
                  </a:extLst>
                </a:gridCol>
              </a:tblGrid>
              <a:tr h="370840">
                <a:tc>
                  <a:txBody>
                    <a:bodyPr/>
                    <a:lstStyle/>
                    <a:p>
                      <a:r>
                        <a:rPr lang="en-US" dirty="0"/>
                        <a:t>factors</a:t>
                      </a:r>
                    </a:p>
                  </a:txBody>
                  <a:tcPr/>
                </a:tc>
                <a:tc>
                  <a:txBody>
                    <a:bodyPr/>
                    <a:lstStyle/>
                    <a:p>
                      <a:r>
                        <a:rPr lang="en-US" dirty="0"/>
                        <a:t>var</a:t>
                      </a:r>
                    </a:p>
                  </a:txBody>
                  <a:tcPr/>
                </a:tc>
                <a:tc>
                  <a:txBody>
                    <a:bodyPr/>
                    <a:lstStyle/>
                    <a:p>
                      <a:r>
                        <a:rPr lang="en-US" dirty="0"/>
                        <a:t>Weight</a:t>
                      </a:r>
                    </a:p>
                  </a:txBody>
                  <a:tcPr/>
                </a:tc>
                <a:extLst>
                  <a:ext uri="{0D108BD9-81ED-4DB2-BD59-A6C34878D82A}">
                    <a16:rowId xmlns:a16="http://schemas.microsoft.com/office/drawing/2014/main" val="1377966915"/>
                  </a:ext>
                </a:extLst>
              </a:tr>
              <a:tr h="370840">
                <a:tc>
                  <a:txBody>
                    <a:bodyPr/>
                    <a:lstStyle/>
                    <a:p>
                      <a:r>
                        <a:rPr lang="en-US" dirty="0"/>
                        <a:t>Number of friends (int)</a:t>
                      </a:r>
                    </a:p>
                  </a:txBody>
                  <a:tcPr/>
                </a:tc>
                <a:tc>
                  <a:txBody>
                    <a:bodyPr/>
                    <a:lstStyle/>
                    <a:p>
                      <a:r>
                        <a:rPr lang="en-US" dirty="0"/>
                        <a:t>x1</a:t>
                      </a:r>
                    </a:p>
                  </a:txBody>
                  <a:tcPr/>
                </a:tc>
                <a:tc>
                  <a:txBody>
                    <a:bodyPr/>
                    <a:lstStyle/>
                    <a:p>
                      <a:r>
                        <a:rPr lang="en-US" dirty="0"/>
                        <a:t>1</a:t>
                      </a:r>
                    </a:p>
                  </a:txBody>
                  <a:tcPr/>
                </a:tc>
                <a:extLst>
                  <a:ext uri="{0D108BD9-81ED-4DB2-BD59-A6C34878D82A}">
                    <a16:rowId xmlns:a16="http://schemas.microsoft.com/office/drawing/2014/main" val="3936338889"/>
                  </a:ext>
                </a:extLst>
              </a:tr>
              <a:tr h="370840">
                <a:tc>
                  <a:txBody>
                    <a:bodyPr/>
                    <a:lstStyle/>
                    <a:p>
                      <a:r>
                        <a:rPr lang="en-US" dirty="0"/>
                        <a:t>Cost (in 100NIS) (real)</a:t>
                      </a:r>
                    </a:p>
                  </a:txBody>
                  <a:tcPr/>
                </a:tc>
                <a:tc>
                  <a:txBody>
                    <a:bodyPr/>
                    <a:lstStyle/>
                    <a:p>
                      <a:r>
                        <a:rPr lang="en-US" dirty="0"/>
                        <a:t>x2</a:t>
                      </a:r>
                    </a:p>
                  </a:txBody>
                  <a:tcPr/>
                </a:tc>
                <a:tc>
                  <a:txBody>
                    <a:bodyPr/>
                    <a:lstStyle/>
                    <a:p>
                      <a:r>
                        <a:rPr lang="en-US" dirty="0"/>
                        <a:t>-1</a:t>
                      </a:r>
                    </a:p>
                  </a:txBody>
                  <a:tcPr/>
                </a:tc>
                <a:extLst>
                  <a:ext uri="{0D108BD9-81ED-4DB2-BD59-A6C34878D82A}">
                    <a16:rowId xmlns:a16="http://schemas.microsoft.com/office/drawing/2014/main" val="1755349164"/>
                  </a:ext>
                </a:extLst>
              </a:tr>
              <a:tr h="370840">
                <a:tc>
                  <a:txBody>
                    <a:bodyPr/>
                    <a:lstStyle/>
                    <a:p>
                      <a:r>
                        <a:rPr lang="en-US" dirty="0"/>
                        <a:t>Time to get there (in hours)</a:t>
                      </a:r>
                    </a:p>
                  </a:txBody>
                  <a:tcPr/>
                </a:tc>
                <a:tc>
                  <a:txBody>
                    <a:bodyPr/>
                    <a:lstStyle/>
                    <a:p>
                      <a:r>
                        <a:rPr lang="en-US" dirty="0"/>
                        <a:t>x3</a:t>
                      </a:r>
                    </a:p>
                  </a:txBody>
                  <a:tcPr/>
                </a:tc>
                <a:tc>
                  <a:txBody>
                    <a:bodyPr/>
                    <a:lstStyle/>
                    <a:p>
                      <a:r>
                        <a:rPr lang="en-US" dirty="0"/>
                        <a:t>-0.5</a:t>
                      </a:r>
                    </a:p>
                  </a:txBody>
                  <a:tcPr/>
                </a:tc>
                <a:extLst>
                  <a:ext uri="{0D108BD9-81ED-4DB2-BD59-A6C34878D82A}">
                    <a16:rowId xmlns:a16="http://schemas.microsoft.com/office/drawing/2014/main" val="1341241010"/>
                  </a:ext>
                </a:extLst>
              </a:tr>
              <a:tr h="370840">
                <a:tc>
                  <a:txBody>
                    <a:bodyPr/>
                    <a:lstStyle/>
                    <a:p>
                      <a:r>
                        <a:rPr lang="en-US" dirty="0">
                          <a:solidFill>
                            <a:srgbClr val="C00000"/>
                          </a:solidFill>
                        </a:rPr>
                        <a:t>Total</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195723055"/>
                  </a:ext>
                </a:extLst>
              </a:tr>
            </a:tbl>
          </a:graphicData>
        </a:graphic>
      </p:graphicFrame>
      <p:graphicFrame>
        <p:nvGraphicFramePr>
          <p:cNvPr id="11" name="Table 4">
            <a:extLst>
              <a:ext uri="{FF2B5EF4-FFF2-40B4-BE49-F238E27FC236}">
                <a16:creationId xmlns:a16="http://schemas.microsoft.com/office/drawing/2014/main" id="{7FCBB399-E892-4B39-81FC-7A43885C4034}"/>
              </a:ext>
            </a:extLst>
          </p:cNvPr>
          <p:cNvGraphicFramePr>
            <a:graphicFrameLocks noGrp="1"/>
          </p:cNvGraphicFramePr>
          <p:nvPr>
            <p:extLst>
              <p:ext uri="{D42A27DB-BD31-4B8C-83A1-F6EECF244321}">
                <p14:modId xmlns:p14="http://schemas.microsoft.com/office/powerpoint/2010/main" val="957616423"/>
              </p:ext>
            </p:extLst>
          </p:nvPr>
        </p:nvGraphicFramePr>
        <p:xfrm>
          <a:off x="239776" y="4245227"/>
          <a:ext cx="6289040" cy="2225040"/>
        </p:xfrm>
        <a:graphic>
          <a:graphicData uri="http://schemas.openxmlformats.org/drawingml/2006/table">
            <a:tbl>
              <a:tblPr firstRow="1" bandRow="1">
                <a:tableStyleId>{5C22544A-7EE6-4342-B048-85BDC9FD1C3A}</a:tableStyleId>
              </a:tblPr>
              <a:tblGrid>
                <a:gridCol w="2860040">
                  <a:extLst>
                    <a:ext uri="{9D8B030D-6E8A-4147-A177-3AD203B41FA5}">
                      <a16:colId xmlns:a16="http://schemas.microsoft.com/office/drawing/2014/main" val="845281567"/>
                    </a:ext>
                  </a:extLst>
                </a:gridCol>
                <a:gridCol w="733953">
                  <a:extLst>
                    <a:ext uri="{9D8B030D-6E8A-4147-A177-3AD203B41FA5}">
                      <a16:colId xmlns:a16="http://schemas.microsoft.com/office/drawing/2014/main" val="4113112387"/>
                    </a:ext>
                  </a:extLst>
                </a:gridCol>
                <a:gridCol w="921111">
                  <a:extLst>
                    <a:ext uri="{9D8B030D-6E8A-4147-A177-3AD203B41FA5}">
                      <a16:colId xmlns:a16="http://schemas.microsoft.com/office/drawing/2014/main" val="2503218646"/>
                    </a:ext>
                  </a:extLst>
                </a:gridCol>
                <a:gridCol w="841248">
                  <a:extLst>
                    <a:ext uri="{9D8B030D-6E8A-4147-A177-3AD203B41FA5}">
                      <a16:colId xmlns:a16="http://schemas.microsoft.com/office/drawing/2014/main" val="1976522392"/>
                    </a:ext>
                  </a:extLst>
                </a:gridCol>
                <a:gridCol w="932688">
                  <a:extLst>
                    <a:ext uri="{9D8B030D-6E8A-4147-A177-3AD203B41FA5}">
                      <a16:colId xmlns:a16="http://schemas.microsoft.com/office/drawing/2014/main" val="563625618"/>
                    </a:ext>
                  </a:extLst>
                </a:gridCol>
              </a:tblGrid>
              <a:tr h="370840">
                <a:tc>
                  <a:txBody>
                    <a:bodyPr/>
                    <a:lstStyle/>
                    <a:p>
                      <a:r>
                        <a:rPr lang="en-US" dirty="0"/>
                        <a:t>factors</a:t>
                      </a:r>
                    </a:p>
                  </a:txBody>
                  <a:tcPr/>
                </a:tc>
                <a:tc>
                  <a:txBody>
                    <a:bodyPr/>
                    <a:lstStyle/>
                    <a:p>
                      <a:r>
                        <a:rPr lang="en-US" dirty="0"/>
                        <a:t>var</a:t>
                      </a:r>
                    </a:p>
                  </a:txBody>
                  <a:tcPr/>
                </a:tc>
                <a:tc>
                  <a:txBody>
                    <a:bodyPr/>
                    <a:lstStyle/>
                    <a:p>
                      <a:r>
                        <a:rPr lang="en-US" dirty="0"/>
                        <a:t>Weight</a:t>
                      </a:r>
                    </a:p>
                  </a:txBody>
                  <a:tcPr/>
                </a:tc>
                <a:tc>
                  <a:txBody>
                    <a:bodyPr/>
                    <a:lstStyle/>
                    <a:p>
                      <a:r>
                        <a:rPr lang="en-US" dirty="0"/>
                        <a:t>value</a:t>
                      </a:r>
                    </a:p>
                  </a:txBody>
                  <a:tcPr/>
                </a:tc>
                <a:tc>
                  <a:txBody>
                    <a:bodyPr/>
                    <a:lstStyle/>
                    <a:p>
                      <a:r>
                        <a:rPr lang="en-US" dirty="0"/>
                        <a:t>Impact</a:t>
                      </a:r>
                    </a:p>
                  </a:txBody>
                  <a:tcPr/>
                </a:tc>
                <a:extLst>
                  <a:ext uri="{0D108BD9-81ED-4DB2-BD59-A6C34878D82A}">
                    <a16:rowId xmlns:a16="http://schemas.microsoft.com/office/drawing/2014/main" val="1377966915"/>
                  </a:ext>
                </a:extLst>
              </a:tr>
              <a:tr h="370840">
                <a:tc>
                  <a:txBody>
                    <a:bodyPr/>
                    <a:lstStyle/>
                    <a:p>
                      <a:r>
                        <a:rPr lang="en-US" b="1" dirty="0"/>
                        <a:t>Bias</a:t>
                      </a:r>
                    </a:p>
                  </a:txBody>
                  <a:tcPr/>
                </a:tc>
                <a:tc>
                  <a:txBody>
                    <a:bodyPr/>
                    <a:lstStyle/>
                    <a:p>
                      <a:r>
                        <a:rPr lang="en-US" b="1" dirty="0"/>
                        <a:t>B (x0)</a:t>
                      </a:r>
                    </a:p>
                  </a:txBody>
                  <a:tcPr/>
                </a:tc>
                <a:tc>
                  <a:txBody>
                    <a:bodyPr/>
                    <a:lstStyle/>
                    <a:p>
                      <a:r>
                        <a:rPr lang="en-US" b="1" dirty="0"/>
                        <a:t>-1</a:t>
                      </a:r>
                    </a:p>
                  </a:txBody>
                  <a:tcPr/>
                </a:tc>
                <a:tc>
                  <a:txBody>
                    <a:bodyPr/>
                    <a:lstStyle/>
                    <a:p>
                      <a:r>
                        <a:rPr lang="en-US" b="1" dirty="0"/>
                        <a:t>1</a:t>
                      </a:r>
                    </a:p>
                  </a:txBody>
                  <a:tcPr/>
                </a:tc>
                <a:tc>
                  <a:txBody>
                    <a:bodyPr/>
                    <a:lstStyle/>
                    <a:p>
                      <a:r>
                        <a:rPr lang="en-US" b="1" dirty="0"/>
                        <a:t>-1</a:t>
                      </a:r>
                    </a:p>
                  </a:txBody>
                  <a:tcPr/>
                </a:tc>
                <a:extLst>
                  <a:ext uri="{0D108BD9-81ED-4DB2-BD59-A6C34878D82A}">
                    <a16:rowId xmlns:a16="http://schemas.microsoft.com/office/drawing/2014/main" val="2519353050"/>
                  </a:ext>
                </a:extLst>
              </a:tr>
              <a:tr h="370840">
                <a:tc>
                  <a:txBody>
                    <a:bodyPr/>
                    <a:lstStyle/>
                    <a:p>
                      <a:r>
                        <a:rPr lang="en-US" dirty="0"/>
                        <a:t>Number of friends (int)</a:t>
                      </a:r>
                    </a:p>
                  </a:txBody>
                  <a:tcPr/>
                </a:tc>
                <a:tc>
                  <a:txBody>
                    <a:bodyPr/>
                    <a:lstStyle/>
                    <a:p>
                      <a:r>
                        <a:rPr lang="en-US" dirty="0"/>
                        <a:t>x1</a:t>
                      </a:r>
                    </a:p>
                  </a:txBody>
                  <a:tcPr/>
                </a:tc>
                <a:tc>
                  <a:txBody>
                    <a:bodyPr/>
                    <a:lstStyle/>
                    <a:p>
                      <a:r>
                        <a:rPr lang="en-US" dirty="0"/>
                        <a:t>1</a:t>
                      </a:r>
                    </a:p>
                  </a:txBody>
                  <a:tcPr/>
                </a:tc>
                <a:tc>
                  <a:txBody>
                    <a:bodyPr/>
                    <a:lstStyle/>
                    <a:p>
                      <a:r>
                        <a:rPr lang="en-US" dirty="0"/>
                        <a:t>3</a:t>
                      </a:r>
                    </a:p>
                  </a:txBody>
                  <a:tcPr/>
                </a:tc>
                <a:tc>
                  <a:txBody>
                    <a:bodyPr/>
                    <a:lstStyle/>
                    <a:p>
                      <a:r>
                        <a:rPr lang="en-US" dirty="0"/>
                        <a:t>3</a:t>
                      </a:r>
                    </a:p>
                  </a:txBody>
                  <a:tcPr/>
                </a:tc>
                <a:extLst>
                  <a:ext uri="{0D108BD9-81ED-4DB2-BD59-A6C34878D82A}">
                    <a16:rowId xmlns:a16="http://schemas.microsoft.com/office/drawing/2014/main" val="3936338889"/>
                  </a:ext>
                </a:extLst>
              </a:tr>
              <a:tr h="370840">
                <a:tc>
                  <a:txBody>
                    <a:bodyPr/>
                    <a:lstStyle/>
                    <a:p>
                      <a:r>
                        <a:rPr lang="en-US" dirty="0"/>
                        <a:t>Cost (in 100NIS) (real)</a:t>
                      </a:r>
                    </a:p>
                  </a:txBody>
                  <a:tcPr/>
                </a:tc>
                <a:tc>
                  <a:txBody>
                    <a:bodyPr/>
                    <a:lstStyle/>
                    <a:p>
                      <a:r>
                        <a:rPr lang="en-US" dirty="0"/>
                        <a:t>x2</a:t>
                      </a:r>
                    </a:p>
                  </a:txBody>
                  <a:tcPr/>
                </a:tc>
                <a:tc>
                  <a:txBody>
                    <a:bodyPr/>
                    <a:lstStyle/>
                    <a:p>
                      <a:r>
                        <a:rPr lang="en-US" dirty="0"/>
                        <a:t>-1</a:t>
                      </a:r>
                    </a:p>
                  </a:txBody>
                  <a:tcPr/>
                </a:tc>
                <a:tc>
                  <a:txBody>
                    <a:bodyPr/>
                    <a:lstStyle/>
                    <a:p>
                      <a:r>
                        <a:rPr lang="en-US" dirty="0"/>
                        <a:t>200NIS</a:t>
                      </a:r>
                    </a:p>
                  </a:txBody>
                  <a:tcPr/>
                </a:tc>
                <a:tc>
                  <a:txBody>
                    <a:bodyPr/>
                    <a:lstStyle/>
                    <a:p>
                      <a:r>
                        <a:rPr lang="en-US" dirty="0"/>
                        <a:t>-2</a:t>
                      </a:r>
                    </a:p>
                  </a:txBody>
                  <a:tcPr/>
                </a:tc>
                <a:extLst>
                  <a:ext uri="{0D108BD9-81ED-4DB2-BD59-A6C34878D82A}">
                    <a16:rowId xmlns:a16="http://schemas.microsoft.com/office/drawing/2014/main" val="1755349164"/>
                  </a:ext>
                </a:extLst>
              </a:tr>
              <a:tr h="370840">
                <a:tc>
                  <a:txBody>
                    <a:bodyPr/>
                    <a:lstStyle/>
                    <a:p>
                      <a:r>
                        <a:rPr lang="en-US" dirty="0"/>
                        <a:t>Time to get there (in hours)</a:t>
                      </a:r>
                    </a:p>
                  </a:txBody>
                  <a:tcPr/>
                </a:tc>
                <a:tc>
                  <a:txBody>
                    <a:bodyPr/>
                    <a:lstStyle/>
                    <a:p>
                      <a:r>
                        <a:rPr lang="en-US" dirty="0"/>
                        <a:t>x3</a:t>
                      </a:r>
                    </a:p>
                  </a:txBody>
                  <a:tcPr/>
                </a:tc>
                <a:tc>
                  <a:txBody>
                    <a:bodyPr/>
                    <a:lstStyle/>
                    <a:p>
                      <a:r>
                        <a:rPr lang="en-US" dirty="0"/>
                        <a:t>-0.5</a:t>
                      </a:r>
                    </a:p>
                  </a:txBody>
                  <a:tcPr/>
                </a:tc>
                <a:tc>
                  <a:txBody>
                    <a:bodyPr/>
                    <a:lstStyle/>
                    <a:p>
                      <a:r>
                        <a:rPr lang="en-US" dirty="0"/>
                        <a:t>0.5</a:t>
                      </a:r>
                    </a:p>
                  </a:txBody>
                  <a:tcPr/>
                </a:tc>
                <a:tc>
                  <a:txBody>
                    <a:bodyPr/>
                    <a:lstStyle/>
                    <a:p>
                      <a:r>
                        <a:rPr lang="en-US" dirty="0"/>
                        <a:t>-0.25</a:t>
                      </a:r>
                    </a:p>
                  </a:txBody>
                  <a:tcPr/>
                </a:tc>
                <a:extLst>
                  <a:ext uri="{0D108BD9-81ED-4DB2-BD59-A6C34878D82A}">
                    <a16:rowId xmlns:a16="http://schemas.microsoft.com/office/drawing/2014/main" val="1341241010"/>
                  </a:ext>
                </a:extLst>
              </a:tr>
              <a:tr h="370840">
                <a:tc>
                  <a:txBody>
                    <a:bodyPr/>
                    <a:lstStyle/>
                    <a:p>
                      <a:r>
                        <a:rPr lang="en-US" dirty="0">
                          <a:solidFill>
                            <a:srgbClr val="C00000"/>
                          </a:solidFill>
                        </a:rPr>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r>
                        <a:rPr lang="en-US" dirty="0"/>
                        <a:t>-0.25</a:t>
                      </a:r>
                    </a:p>
                  </a:txBody>
                  <a:tcPr/>
                </a:tc>
                <a:extLst>
                  <a:ext uri="{0D108BD9-81ED-4DB2-BD59-A6C34878D82A}">
                    <a16:rowId xmlns:a16="http://schemas.microsoft.com/office/drawing/2014/main" val="1195723055"/>
                  </a:ext>
                </a:extLst>
              </a:tr>
            </a:tbl>
          </a:graphicData>
        </a:graphic>
      </p:graphicFrame>
      <p:sp>
        <p:nvSpPr>
          <p:cNvPr id="10" name="Oval 9">
            <a:extLst>
              <a:ext uri="{FF2B5EF4-FFF2-40B4-BE49-F238E27FC236}">
                <a16:creationId xmlns:a16="http://schemas.microsoft.com/office/drawing/2014/main" id="{3BBC8C1E-8FA3-4F71-936C-454E6B99DD4C}"/>
              </a:ext>
            </a:extLst>
          </p:cNvPr>
          <p:cNvSpPr/>
          <p:nvPr/>
        </p:nvSpPr>
        <p:spPr>
          <a:xfrm>
            <a:off x="7795259" y="507999"/>
            <a:ext cx="609831" cy="72298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dirty="0">
              <a:ln w="22225">
                <a:solidFill>
                  <a:schemeClr val="accent2"/>
                </a:solidFill>
                <a:prstDash val="solid"/>
              </a:ln>
              <a:solidFill>
                <a:schemeClr val="accent2">
                  <a:lumMod val="40000"/>
                  <a:lumOff val="60000"/>
                </a:schemeClr>
              </a:solidFill>
            </a:endParaRPr>
          </a:p>
        </p:txBody>
      </p:sp>
      <p:sp>
        <p:nvSpPr>
          <p:cNvPr id="3" name="Rectangle 2">
            <a:extLst>
              <a:ext uri="{FF2B5EF4-FFF2-40B4-BE49-F238E27FC236}">
                <a16:creationId xmlns:a16="http://schemas.microsoft.com/office/drawing/2014/main" id="{983B7CE9-D86C-42B5-AA82-59F808824BBD}"/>
              </a:ext>
            </a:extLst>
          </p:cNvPr>
          <p:cNvSpPr/>
          <p:nvPr/>
        </p:nvSpPr>
        <p:spPr>
          <a:xfrm>
            <a:off x="8181238" y="4830306"/>
            <a:ext cx="1925527"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Sandy</a:t>
            </a:r>
          </a:p>
        </p:txBody>
      </p:sp>
      <p:pic>
        <p:nvPicPr>
          <p:cNvPr id="6" name="Picture 6" descr="X Png Icon #99297 - Free Icons Library">
            <a:extLst>
              <a:ext uri="{FF2B5EF4-FFF2-40B4-BE49-F238E27FC236}">
                <a16:creationId xmlns:a16="http://schemas.microsoft.com/office/drawing/2014/main" id="{C14340F5-64ED-45FB-A5AE-10A929F59C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542" y="6134970"/>
            <a:ext cx="260787" cy="335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559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9D47-8197-4073-B4E7-10D2D2777A2F}"/>
              </a:ext>
            </a:extLst>
          </p:cNvPr>
          <p:cNvSpPr>
            <a:spLocks noGrp="1"/>
          </p:cNvSpPr>
          <p:nvPr>
            <p:ph type="title"/>
          </p:nvPr>
        </p:nvSpPr>
        <p:spPr/>
        <p:txBody>
          <a:bodyPr/>
          <a:lstStyle/>
          <a:p>
            <a:r>
              <a:rPr lang="en-US" dirty="0"/>
              <a:t>Bias – The predisposition </a:t>
            </a:r>
          </a:p>
        </p:txBody>
      </p:sp>
      <p:sp>
        <p:nvSpPr>
          <p:cNvPr id="3" name="Content Placeholder 2">
            <a:extLst>
              <a:ext uri="{FF2B5EF4-FFF2-40B4-BE49-F238E27FC236}">
                <a16:creationId xmlns:a16="http://schemas.microsoft.com/office/drawing/2014/main" id="{8A0B9F7A-146B-4BC6-9BD5-26C0511134E8}"/>
              </a:ext>
            </a:extLst>
          </p:cNvPr>
          <p:cNvSpPr>
            <a:spLocks noGrp="1"/>
          </p:cNvSpPr>
          <p:nvPr>
            <p:ph idx="1"/>
          </p:nvPr>
        </p:nvSpPr>
        <p:spPr/>
        <p:txBody>
          <a:bodyPr/>
          <a:lstStyle/>
          <a:p>
            <a:r>
              <a:rPr lang="en-US" dirty="0"/>
              <a:t>What is the decision threshold when all the inputs are 0?</a:t>
            </a:r>
          </a:p>
        </p:txBody>
      </p:sp>
      <p:pic>
        <p:nvPicPr>
          <p:cNvPr id="4" name="Picture 3">
            <a:extLst>
              <a:ext uri="{FF2B5EF4-FFF2-40B4-BE49-F238E27FC236}">
                <a16:creationId xmlns:a16="http://schemas.microsoft.com/office/drawing/2014/main" id="{8B865FDF-CAB2-4C40-AECC-3E724E2E31B3}"/>
              </a:ext>
            </a:extLst>
          </p:cNvPr>
          <p:cNvPicPr>
            <a:picLocks noChangeAspect="1"/>
          </p:cNvPicPr>
          <p:nvPr/>
        </p:nvPicPr>
        <p:blipFill rotWithShape="1">
          <a:blip r:embed="rId2"/>
          <a:srcRect l="66743" t="21407" r="24175" b="62200"/>
          <a:stretch/>
        </p:blipFill>
        <p:spPr>
          <a:xfrm>
            <a:off x="4597168" y="2659309"/>
            <a:ext cx="2759978" cy="280205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07744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CD79-3B79-41AC-8CD0-AAEC99039F87}"/>
              </a:ext>
            </a:extLst>
          </p:cNvPr>
          <p:cNvSpPr>
            <a:spLocks noGrp="1"/>
          </p:cNvSpPr>
          <p:nvPr>
            <p:ph type="title"/>
          </p:nvPr>
        </p:nvSpPr>
        <p:spPr/>
        <p:txBody>
          <a:bodyPr/>
          <a:lstStyle/>
          <a:p>
            <a:r>
              <a:rPr lang="en-US" dirty="0"/>
              <a:t>Take home message</a:t>
            </a:r>
          </a:p>
        </p:txBody>
      </p:sp>
      <p:sp>
        <p:nvSpPr>
          <p:cNvPr id="3" name="Content Placeholder 2">
            <a:extLst>
              <a:ext uri="{FF2B5EF4-FFF2-40B4-BE49-F238E27FC236}">
                <a16:creationId xmlns:a16="http://schemas.microsoft.com/office/drawing/2014/main" id="{9C0007AA-9543-4600-A497-E05E8E92B42B}"/>
              </a:ext>
            </a:extLst>
          </p:cNvPr>
          <p:cNvSpPr>
            <a:spLocks noGrp="1"/>
          </p:cNvSpPr>
          <p:nvPr>
            <p:ph idx="1"/>
          </p:nvPr>
        </p:nvSpPr>
        <p:spPr/>
        <p:txBody>
          <a:bodyPr>
            <a:normAutofit/>
          </a:bodyPr>
          <a:lstStyle/>
          <a:p>
            <a:r>
              <a:rPr lang="en-US" dirty="0"/>
              <a:t> Basic Perceptrons are decision machines which depend on their input, weights and bias.</a:t>
            </a:r>
          </a:p>
          <a:p>
            <a:r>
              <a:rPr lang="en-US" dirty="0"/>
              <a:t>They sum up the inputs and then use a step function.</a:t>
            </a:r>
          </a:p>
          <a:p>
            <a:r>
              <a:rPr lang="en-US" dirty="0"/>
              <a:t>Networks with enough Perceptrons can provide solutions to every function (universal functions).</a:t>
            </a:r>
          </a:p>
          <a:p>
            <a:pPr marL="0" indent="0">
              <a:buNone/>
            </a:pPr>
            <a:endParaRPr lang="en-US" dirty="0"/>
          </a:p>
        </p:txBody>
      </p:sp>
      <p:pic>
        <p:nvPicPr>
          <p:cNvPr id="3078" name="Picture 6" descr="Take Home Message for Women">
            <a:extLst>
              <a:ext uri="{FF2B5EF4-FFF2-40B4-BE49-F238E27FC236}">
                <a16:creationId xmlns:a16="http://schemas.microsoft.com/office/drawing/2014/main" id="{4CC3BE3B-28B7-4776-923E-64749F822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4392" y="365125"/>
            <a:ext cx="1813683" cy="1666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085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28568</TotalTime>
  <Words>729</Words>
  <Application>Microsoft Office PowerPoint</Application>
  <PresentationFormat>Widescreen</PresentationFormat>
  <Paragraphs>176</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Helvetica</vt:lpstr>
      <vt:lpstr>Linux Libertine</vt:lpstr>
      <vt:lpstr>Office Theme</vt:lpstr>
      <vt:lpstr>PowerPoint Presentation</vt:lpstr>
      <vt:lpstr>Embedding non-linearity</vt:lpstr>
      <vt:lpstr>Neurons and Perceptrons</vt:lpstr>
      <vt:lpstr>Perceptron</vt:lpstr>
      <vt:lpstr>Perceptron Numeric Example</vt:lpstr>
      <vt:lpstr>Class Ex.</vt:lpstr>
      <vt:lpstr>Different schemes presenting the exact same thing</vt:lpstr>
      <vt:lpstr>What can we build with Perceptron?</vt:lpstr>
      <vt:lpstr>Perceptron AND Logic gate</vt:lpstr>
      <vt:lpstr>Perceptron OR Logic gate</vt:lpstr>
      <vt:lpstr>Perceptron NOR Logic gate</vt:lpstr>
      <vt:lpstr>Perceptron NAND Logic gate</vt:lpstr>
      <vt:lpstr>Perceptron XOR Logic gate</vt:lpstr>
      <vt:lpstr>Image Classifier</vt:lpstr>
      <vt:lpstr>Same color classifier solution</vt:lpstr>
      <vt:lpstr>functionally complete </vt:lpstr>
      <vt:lpstr>Perceptron functionally complete - Visual Proof Intuition</vt:lpstr>
      <vt:lpstr>Perceptron as a Decision Machine</vt:lpstr>
      <vt:lpstr>Perceptron party example</vt:lpstr>
      <vt:lpstr>Perceptron party example</vt:lpstr>
      <vt:lpstr>Bias – The predisposition </vt:lpstr>
      <vt:lpstr>Take home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benny bornfeld</dc:creator>
  <cp:lastModifiedBy>benny bornfeld</cp:lastModifiedBy>
  <cp:revision>166</cp:revision>
  <dcterms:created xsi:type="dcterms:W3CDTF">2019-09-19T08:43:48Z</dcterms:created>
  <dcterms:modified xsi:type="dcterms:W3CDTF">2021-10-21T11:27:36Z</dcterms:modified>
</cp:coreProperties>
</file>